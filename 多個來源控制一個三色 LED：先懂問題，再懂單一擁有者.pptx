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</p:sldIdLst>
  <p:notesMasterIdLst>
    <p:notesMasterId r:id="rId50"/>
  </p:notesMasterIdLst>
  <p:sldSz cx="16256000" cy="9144000"/>
  <p:notesSz cx="9144000" cy="16256000"/>
  <p:embeddedFontLst>
    <p:embeddedFont>
      <p:font typeface="Noto Sans TC" charset="-122" pitchFamily="34"/>
      <p:regular r:id="rId55"/>
    </p:embeddedFont>
    <p:embeddedFont>
      <p:font typeface="Roboto Mono" charset="-122" pitchFamily="34"/>
      <p:regular r:id="rId5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notesMaster" Target="notesMasters/notesMaster1.xml"/><Relationship Id="rId51" Type="http://schemas.openxmlformats.org/officeDocument/2006/relationships/presProps" Target="presProps.xml"/><Relationship Id="rId52" Type="http://schemas.openxmlformats.org/officeDocument/2006/relationships/viewProps" Target="viewProps.xml"/><Relationship Id="rId53" Type="http://schemas.openxmlformats.org/officeDocument/2006/relationships/theme" Target="theme/theme1.xml"/><Relationship Id="rId54" Type="http://schemas.openxmlformats.org/officeDocument/2006/relationships/tableStyles" Target="tableStyles.xml"/><Relationship Id="rId55" Type="http://schemas.openxmlformats.org/officeDocument/2006/relationships/font" Target="fonts/font1.fntdata"/><Relationship Id="rId56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-shape-1"/>
          <p:cNvSpPr/>
          <p:nvPr/>
        </p:nvSpPr>
        <p:spPr>
          <a:xfrm>
            <a:off x="0" y="1016000"/>
            <a:ext cx="16256000" cy="5080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3" name="cover-text-2"/>
          <p:cNvSpPr/>
          <p:nvPr/>
        </p:nvSpPr>
        <p:spPr>
          <a:xfrm>
            <a:off x="1016000" y="3048000"/>
            <a:ext cx="14224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720"/>
              </a:lnSpc>
              <a:buNone/>
            </a:pPr>
            <a:r>
              <a:rPr lang="en-US" altLang="en-US" sz="5600" dirty="0">
                <a:solidFill>
                  <a:srgbClr val="FFFFFF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多個來源控制一個三色 LED</a:t>
            </a:r>
            <a:endParaRPr lang="en-US" sz="5600" dirty="0"/>
          </a:p>
        </p:txBody>
      </p:sp>
      <p:sp>
        <p:nvSpPr>
          <p:cNvPr id="4" name="cover-text-3"/>
          <p:cNvSpPr/>
          <p:nvPr/>
        </p:nvSpPr>
        <p:spPr>
          <a:xfrm>
            <a:off x="1016000" y="4826000"/>
            <a:ext cx="1422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2800" dirty="0">
                <a:solidFill>
                  <a:srgbClr val="FF8F00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先懂問題，再懂單一擁有者</a:t>
            </a:r>
            <a:endParaRPr lang="en-US" sz="2800" dirty="0"/>
          </a:p>
        </p:txBody>
      </p:sp>
      <p:sp>
        <p:nvSpPr>
          <p:cNvPr id="5" name="cover-text-4"/>
          <p:cNvSpPr/>
          <p:nvPr/>
        </p:nvSpPr>
        <p:spPr>
          <a:xfrm>
            <a:off x="1016000" y="7620000"/>
            <a:ext cx="1422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2000" dirty="0">
                <a:solidFill>
                  <a:srgbClr val="546E7A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三個來源可以提出要求，但同一個瞬間只能有一個真正的操作者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23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arning_goals-shape-1"/>
          <p:cNvSpPr/>
          <p:nvPr/>
        </p:nvSpPr>
        <p:spPr>
          <a:xfrm>
            <a:off x="0" y="1016000"/>
            <a:ext cx="16256000" cy="5080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3" name="learning_goals-text-2"/>
          <p:cNvSpPr/>
          <p:nvPr/>
        </p:nvSpPr>
        <p:spPr>
          <a:xfrm>
            <a:off x="1016000" y="508000"/>
            <a:ext cx="1422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546E7A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學習路線 01</a:t>
            </a:r>
            <a:endParaRPr lang="en-US" sz="1400" dirty="0"/>
          </a:p>
        </p:txBody>
      </p:sp>
      <p:sp>
        <p:nvSpPr>
          <p:cNvPr id="4" name="learning_goals-text-3"/>
          <p:cNvSpPr/>
          <p:nvPr/>
        </p:nvSpPr>
        <p:spPr>
          <a:xfrm>
            <a:off x="1016000" y="1778000"/>
            <a:ext cx="1422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4000" dirty="0">
                <a:solidFill>
                  <a:srgbClr val="FFFFFF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這份投影片要帶你學會什麼</a:t>
            </a:r>
            <a:endParaRPr lang="en-US" sz="4000" dirty="0"/>
          </a:p>
        </p:txBody>
      </p:sp>
      <p:sp>
        <p:nvSpPr>
          <p:cNvPr id="5" name="learning_goals-shape-4"/>
          <p:cNvSpPr/>
          <p:nvPr/>
        </p:nvSpPr>
        <p:spPr>
          <a:xfrm>
            <a:off x="1016000" y="3048000"/>
            <a:ext cx="4318000" cy="2032000"/>
          </a:xfrm>
          <a:prstGeom prst="roundRect">
            <a:avLst>
              <a:gd name="adj" fmla="val 7500"/>
            </a:avLst>
          </a:prstGeom>
          <a:solidFill>
            <a:srgbClr val="F5F7FA"/>
          </a:solidFill>
          <a:ln/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learning_goals-text-5"/>
          <p:cNvSpPr/>
          <p:nvPr/>
        </p:nvSpPr>
        <p:spPr>
          <a:xfrm>
            <a:off x="1270000" y="3302000"/>
            <a:ext cx="381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b="1" dirty="0">
                <a:solidFill>
                  <a:srgbClr val="1A237E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1. 到底解決什麼問題</a:t>
            </a:r>
            <a:endParaRPr lang="en-US" sz="20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546E7A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舊機制為何會亂？什麼是我們希望永遠成立的規則？</a:t>
            </a:r>
            <a:endParaRPr lang="en-US" sz="2000" dirty="0"/>
          </a:p>
        </p:txBody>
      </p:sp>
      <p:sp>
        <p:nvSpPr>
          <p:cNvPr id="7" name="learning_goals-shape-6"/>
          <p:cNvSpPr/>
          <p:nvPr/>
        </p:nvSpPr>
        <p:spPr>
          <a:xfrm>
            <a:off x="5842000" y="3048000"/>
            <a:ext cx="4318000" cy="2032000"/>
          </a:xfrm>
          <a:prstGeom prst="roundRect">
            <a:avLst>
              <a:gd name="adj" fmla="val 7500"/>
            </a:avLst>
          </a:prstGeom>
          <a:solidFill>
            <a:srgbClr val="F5F7FA"/>
          </a:solidFill>
          <a:ln/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8" name="learning_goals-text-7"/>
          <p:cNvSpPr/>
          <p:nvPr/>
        </p:nvSpPr>
        <p:spPr>
          <a:xfrm>
            <a:off x="6096000" y="3302000"/>
            <a:ext cx="381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b="1" dirty="0">
                <a:solidFill>
                  <a:srgbClr val="1A237E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2. 單一擁有者架構</a:t>
            </a:r>
            <a:endParaRPr lang="en-US" sz="20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546E7A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從第一性原理長出技術樹。誰負責接單？誰負責開燈？</a:t>
            </a:r>
            <a:endParaRPr lang="en-US" sz="2000" dirty="0"/>
          </a:p>
        </p:txBody>
      </p:sp>
      <p:sp>
        <p:nvSpPr>
          <p:cNvPr id="9" name="learning_goals-shape-8"/>
          <p:cNvSpPr/>
          <p:nvPr/>
        </p:nvSpPr>
        <p:spPr>
          <a:xfrm>
            <a:off x="10668000" y="3048000"/>
            <a:ext cx="4318000" cy="2032000"/>
          </a:xfrm>
          <a:prstGeom prst="roundRect">
            <a:avLst>
              <a:gd name="adj" fmla="val 7500"/>
            </a:avLst>
          </a:prstGeom>
          <a:solidFill>
            <a:srgbClr val="F5F7FA"/>
          </a:solidFill>
          <a:ln/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0" name="learning_goals-text-9"/>
          <p:cNvSpPr/>
          <p:nvPr/>
        </p:nvSpPr>
        <p:spPr>
          <a:xfrm>
            <a:off x="10922000" y="3302000"/>
            <a:ext cx="381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b="1" dirty="0">
                <a:solidFill>
                  <a:srgbClr val="1A237E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3. 拆解四個案例</a:t>
            </a:r>
            <a:endParaRPr lang="en-US" sz="20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546E7A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正常換色、低光警示、同時發生競爭、以及警示中按鈕。</a:t>
            </a:r>
            <a:endParaRPr lang="en-US" sz="2000" dirty="0"/>
          </a:p>
        </p:txBody>
      </p:sp>
      <p:sp>
        <p:nvSpPr>
          <p:cNvPr id="11" name="learning_goals-shape-10"/>
          <p:cNvSpPr/>
          <p:nvPr/>
        </p:nvSpPr>
        <p:spPr>
          <a:xfrm>
            <a:off x="1016000" y="5588000"/>
            <a:ext cx="4318000" cy="2032000"/>
          </a:xfrm>
          <a:prstGeom prst="roundRect">
            <a:avLst>
              <a:gd name="adj" fmla="val 7500"/>
            </a:avLst>
          </a:prstGeom>
          <a:solidFill>
            <a:srgbClr val="F5F7FA"/>
          </a:solidFill>
          <a:ln/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2" name="learning_goals-text-11"/>
          <p:cNvSpPr/>
          <p:nvPr/>
        </p:nvSpPr>
        <p:spPr>
          <a:xfrm>
            <a:off x="1270000" y="5842000"/>
            <a:ext cx="381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b="1" dirty="0">
                <a:solidFill>
                  <a:srgbClr val="1A237E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4. Web 的控制提示</a:t>
            </a:r>
            <a:endParaRPr lang="en-US" sz="20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546E7A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為何要分流？怎樣不把一次逾時當成連線中斷？</a:t>
            </a:r>
            <a:endParaRPr lang="en-US" sz="2000" dirty="0"/>
          </a:p>
        </p:txBody>
      </p:sp>
      <p:sp>
        <p:nvSpPr>
          <p:cNvPr id="13" name="learning_goals-shape-12"/>
          <p:cNvSpPr/>
          <p:nvPr/>
        </p:nvSpPr>
        <p:spPr>
          <a:xfrm>
            <a:off x="5842000" y="5588000"/>
            <a:ext cx="4318000" cy="2032000"/>
          </a:xfrm>
          <a:prstGeom prst="roundRect">
            <a:avLst>
              <a:gd name="adj" fmla="val 7500"/>
            </a:avLst>
          </a:prstGeom>
          <a:solidFill>
            <a:srgbClr val="F5F7FA"/>
          </a:solidFill>
          <a:ln/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4" name="learning_goals-text-13"/>
          <p:cNvSpPr/>
          <p:nvPr/>
        </p:nvSpPr>
        <p:spPr>
          <a:xfrm>
            <a:off x="6096000" y="5842000"/>
            <a:ext cx="381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b="1" dirty="0">
                <a:solidFill>
                  <a:srgbClr val="1A237E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5. 擴充與驗收</a:t>
            </a:r>
            <a:endParaRPr lang="en-US" sz="20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546E7A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如果加入第四個需求該改哪裡？如何測試與部署？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lem_in_one_sentence-shape-1"/>
          <p:cNvSpPr/>
          <p:nvPr/>
        </p:nvSpPr>
        <p:spPr>
          <a:xfrm>
            <a:off x="0" y="1016000"/>
            <a:ext cx="16256000" cy="5080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3" name="problem_in_one_sentence-text-2"/>
          <p:cNvSpPr/>
          <p:nvPr/>
        </p:nvSpPr>
        <p:spPr>
          <a:xfrm>
            <a:off x="1016000" y="508000"/>
            <a:ext cx="635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546E7A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0. 先說我們到底解決了什麼問題</a:t>
            </a:r>
            <a:endParaRPr lang="en-US" sz="1400" dirty="0"/>
          </a:p>
        </p:txBody>
      </p:sp>
      <p:sp>
        <p:nvSpPr>
          <p:cNvPr id="4" name="problem_in_one_sentence-text-3"/>
          <p:cNvSpPr/>
          <p:nvPr/>
        </p:nvSpPr>
        <p:spPr>
          <a:xfrm>
            <a:off x="13970000" y="508000"/>
            <a:ext cx="127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546E7A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03</a:t>
            </a:r>
            <a:endParaRPr lang="en-US" sz="1400" dirty="0"/>
          </a:p>
        </p:txBody>
      </p:sp>
      <p:sp>
        <p:nvSpPr>
          <p:cNvPr id="5" name="problem_in_one_sentence-text-4"/>
          <p:cNvSpPr/>
          <p:nvPr/>
        </p:nvSpPr>
        <p:spPr>
          <a:xfrm>
            <a:off x="1016000" y="1778000"/>
            <a:ext cx="1422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1A237E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先把問題說成一句話</a:t>
            </a:r>
            <a:endParaRPr lang="en-US" sz="3200" dirty="0"/>
          </a:p>
        </p:txBody>
      </p:sp>
      <p:sp>
        <p:nvSpPr>
          <p:cNvPr id="6" name="problem_in_one_sentence-shape-5"/>
          <p:cNvSpPr/>
          <p:nvPr/>
        </p:nvSpPr>
        <p:spPr>
          <a:xfrm>
            <a:off x="1778000" y="3810000"/>
            <a:ext cx="12700000" cy="203200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/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7" name="problem_in_one_sentence-text-6"/>
          <p:cNvSpPr/>
          <p:nvPr/>
        </p:nvSpPr>
        <p:spPr>
          <a:xfrm>
            <a:off x="2540000" y="4445000"/>
            <a:ext cx="1117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600"/>
              </a:lnSpc>
              <a:buNone/>
            </a:pPr>
            <a:r>
              <a:rPr lang="en-US" altLang="en-US" sz="4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三個來源可以提出要求，</a:t>
            </a:r>
            <a:endParaRPr lang="en-US" sz="4000" dirty="0"/>
          </a:p>
          <a:p>
            <a:pPr algn="ctr" indent="0" marL="0">
              <a:lnSpc>
                <a:spcPts val="5600"/>
              </a:lnSpc>
              <a:buNone/>
            </a:pPr>
            <a:r>
              <a:rPr lang="en-US" altLang="en-US" sz="4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但一個 LED 同一時間 </a:t>
            </a:r>
            <a:r>
              <a:rPr lang="en-US" altLang="en-US" sz="4000" b="1" dirty="0">
                <a:solidFill>
                  <a:srgbClr val="FF8F00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只能有一個</a:t>
            </a:r>
            <a:r>
              <a:rPr lang="en-US" altLang="en-US" sz="4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 真正的操作者。</a:t>
            </a:r>
            <a:endParaRPr lang="en-US" sz="4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quirements-shape-1"/>
          <p:cNvSpPr/>
          <p:nvPr/>
        </p:nvSpPr>
        <p:spPr>
          <a:xfrm>
            <a:off x="0" y="1016000"/>
            <a:ext cx="16256000" cy="5080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3" name="requirements-text-2"/>
          <p:cNvSpPr/>
          <p:nvPr/>
        </p:nvSpPr>
        <p:spPr>
          <a:xfrm>
            <a:off x="1016000" y="508000"/>
            <a:ext cx="635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546E7A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0. 先說我們到底解決了什麼問題</a:t>
            </a:r>
            <a:endParaRPr lang="en-US" sz="1400" dirty="0"/>
          </a:p>
        </p:txBody>
      </p:sp>
      <p:sp>
        <p:nvSpPr>
          <p:cNvPr id="4" name="requirements-text-3"/>
          <p:cNvSpPr/>
          <p:nvPr/>
        </p:nvSpPr>
        <p:spPr>
          <a:xfrm>
            <a:off x="13970000" y="508000"/>
            <a:ext cx="127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546E7A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04</a:t>
            </a:r>
            <a:endParaRPr lang="en-US" sz="1400" dirty="0"/>
          </a:p>
        </p:txBody>
      </p:sp>
      <p:sp>
        <p:nvSpPr>
          <p:cNvPr id="5" name="requirements-text-4"/>
          <p:cNvSpPr/>
          <p:nvPr/>
        </p:nvSpPr>
        <p:spPr>
          <a:xfrm>
            <a:off x="1016000" y="1778000"/>
            <a:ext cx="1422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1A237E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一盞燈，三種要求</a:t>
            </a:r>
            <a:endParaRPr lang="en-US" sz="3200" dirty="0"/>
          </a:p>
        </p:txBody>
      </p:sp>
      <p:sp>
        <p:nvSpPr>
          <p:cNvPr id="6" name="requirements-text-5"/>
          <p:cNvSpPr/>
          <p:nvPr/>
        </p:nvSpPr>
        <p:spPr>
          <a:xfrm>
            <a:off x="1016000" y="2667000"/>
            <a:ext cx="1422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把 LED 想成教室門口的一盞「任務燈」。它只有三個顏色開關（紅綠藍），硬體在同一個瞬間只能呈現一個輸出。</a:t>
            </a:r>
            <a:endParaRPr lang="en-US" sz="2000" dirty="0"/>
          </a:p>
        </p:txBody>
      </p:sp>
      <p:graphicFrame>
        <p:nvGraphicFramePr>
          <p:cNvPr id="7" name="requirements-table-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16000" y="3810000"/>
          <a:ext cx="14224000" cy="3048000"/>
        </p:xfrm>
        <a:graphic>
          <a:graphicData uri="http://schemas.openxmlformats.org/drawingml/2006/table">
            <a:tbl>
              <a:tblPr/>
              <a:tblGrid>
                <a:gridCol w="3879273"/>
                <a:gridCol w="5172364"/>
                <a:gridCol w="5172364"/>
              </a:tblGrid>
              <a:tr h="762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提出要求的人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FD8D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1A2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他想做什麼？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1A2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這是短動作還是暫時效果？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1A2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b="1" dirty="0">
                          <a:solidFill>
                            <a:srgbClr val="00897B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實體按鈕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FD8D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A2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換到下一個顏色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A2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短動作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1A2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b="1" dirty="0">
                          <a:solidFill>
                            <a:srgbClr val="00897B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網頁按鈕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FD8D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換到下一個顏色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短動作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FD8D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b="1" dirty="0">
                          <a:solidFill>
                            <a:srgbClr val="FF8F00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光照感測器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FD8D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太暗時紅閃五次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暫時效果，結束後要恢復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FD8D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8" name="requirements-text-7"/>
          <p:cNvSpPr/>
          <p:nvPr/>
        </p:nvSpPr>
        <p:spPr>
          <a:xfrm>
            <a:off x="1016000" y="7620000"/>
            <a:ext cx="1422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b="1" dirty="0">
                <a:solidFill>
                  <a:srgbClr val="FF8F00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問題點：</a:t>
            </a:r>
            <a:r>
              <a:rPr lang="en-US" altLang="en-US" sz="2000" dirty="0">
                <a:solidFill>
                  <a:srgbClr val="FF8F00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 這三個要求可能在很接近的時間抵達，但不一定在同一個程式瞬間執行。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ld_chaos-shape-1"/>
          <p:cNvSpPr/>
          <p:nvPr/>
        </p:nvSpPr>
        <p:spPr>
          <a:xfrm>
            <a:off x="0" y="1016000"/>
            <a:ext cx="16256000" cy="5080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3" name="old_chaos-text-2"/>
          <p:cNvSpPr/>
          <p:nvPr/>
        </p:nvSpPr>
        <p:spPr>
          <a:xfrm>
            <a:off x="1016000" y="508000"/>
            <a:ext cx="635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546E7A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0. 先說我們到底解決了什麼問題</a:t>
            </a:r>
            <a:endParaRPr lang="en-US" sz="1400" dirty="0"/>
          </a:p>
        </p:txBody>
      </p:sp>
      <p:sp>
        <p:nvSpPr>
          <p:cNvPr id="4" name="old_chaos-text-3"/>
          <p:cNvSpPr/>
          <p:nvPr/>
        </p:nvSpPr>
        <p:spPr>
          <a:xfrm>
            <a:off x="13970000" y="508000"/>
            <a:ext cx="127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546E7A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05</a:t>
            </a:r>
            <a:endParaRPr lang="en-US" sz="1400" dirty="0"/>
          </a:p>
        </p:txBody>
      </p:sp>
      <p:sp>
        <p:nvSpPr>
          <p:cNvPr id="5" name="old_chaos-text-4"/>
          <p:cNvSpPr/>
          <p:nvPr/>
        </p:nvSpPr>
        <p:spPr>
          <a:xfrm>
            <a:off x="1016000" y="1778000"/>
            <a:ext cx="1422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1A237E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舊機制為什麼會亂？</a:t>
            </a:r>
            <a:endParaRPr lang="en-US" sz="3200" dirty="0"/>
          </a:p>
        </p:txBody>
      </p:sp>
      <p:sp>
        <p:nvSpPr>
          <p:cNvPr id="6" name="old_chaos-text-5"/>
          <p:cNvSpPr/>
          <p:nvPr/>
        </p:nvSpPr>
        <p:spPr>
          <a:xfrm>
            <a:off x="1016000" y="2667000"/>
            <a:ext cx="635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舊機制像是三個孩子都可以直接伸手改同一盞燈。沒有中間的協調者：</a:t>
            </a:r>
            <a:endParaRPr lang="en-US" sz="2000" dirty="0"/>
          </a:p>
        </p:txBody>
      </p:sp>
      <p:sp>
        <p:nvSpPr>
          <p:cNvPr id="7" name="old_chaos-shape-6"/>
          <p:cNvSpPr/>
          <p:nvPr/>
        </p:nvSpPr>
        <p:spPr>
          <a:xfrm>
            <a:off x="1016000" y="3810000"/>
            <a:ext cx="6096000" cy="3810000"/>
          </a:xfrm>
          <a:prstGeom prst="roundRect">
            <a:avLst>
              <a:gd name="adj" fmla="val 2667"/>
            </a:avLst>
          </a:prstGeom>
          <a:solidFill>
            <a:srgbClr val="F5F7FA"/>
          </a:solidFill>
          <a:ln w="12700">
            <a:solidFill>
              <a:srgbClr val="CFD8DC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8" name="old_chaos-text-7"/>
          <p:cNvSpPr/>
          <p:nvPr/>
        </p:nvSpPr>
        <p:spPr>
          <a:xfrm>
            <a:off x="1270000" y="4191000"/>
            <a:ext cx="55880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17500" indent="-317500">
              <a:lnSpc>
                <a:spcPts val="3000"/>
              </a:lnSpc>
              <a:spcBef>
                <a:spcPts val="10"/>
              </a:spcBef>
              <a:buSzPct val="100000"/>
              <a:buChar char="❌"/>
            </a:pP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一個孩子開始紅閃。</a:t>
            </a:r>
            <a:endParaRPr lang="en-US" sz="2000" dirty="0"/>
          </a:p>
          <a:p>
            <a:pPr algn="l" marL="317500" indent="-317500">
              <a:lnSpc>
                <a:spcPts val="3000"/>
              </a:lnSpc>
              <a:spcBef>
                <a:spcPts val="10"/>
              </a:spcBef>
              <a:buSzPct val="100000"/>
              <a:buChar char="❌"/>
            </a:pP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另一個趁黑暗階段把燈改綠色。</a:t>
            </a:r>
            <a:endParaRPr lang="en-US" sz="2000" dirty="0"/>
          </a:p>
          <a:p>
            <a:pPr algn="l" marL="317500" indent="-317500">
              <a:lnSpc>
                <a:spcPts val="3000"/>
              </a:lnSpc>
              <a:spcBef>
                <a:spcPts val="10"/>
              </a:spcBef>
              <a:buSzPct val="100000"/>
              <a:buChar char="❌"/>
            </a:pP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紅閃以為該恢復舊藍色，又蓋掉綠色。</a:t>
            </a:r>
            <a:endParaRPr lang="en-US" sz="2000" dirty="0"/>
          </a:p>
          <a:p>
            <a:pPr algn="l" marL="317500" indent="-317500">
              <a:lnSpc>
                <a:spcPts val="3000"/>
              </a:lnSpc>
              <a:spcBef>
                <a:spcPts val="10"/>
              </a:spcBef>
              <a:buSzPct val="100000"/>
              <a:buChar char="❌"/>
            </a:pP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網頁收到舊回應，又把狀態改回去。</a:t>
            </a:r>
            <a:endParaRPr lang="en-US" sz="2000" dirty="0"/>
          </a:p>
        </p:txBody>
      </p:sp>
      <p:sp>
        <p:nvSpPr>
          <p:cNvPr id="9" name="old_chaos-shape-8"/>
          <p:cNvSpPr/>
          <p:nvPr/>
        </p:nvSpPr>
        <p:spPr>
          <a:xfrm>
            <a:off x="7620000" y="2667000"/>
            <a:ext cx="7620000" cy="5080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25400">
            <a:solidFill>
              <a:srgbClr val="FF8F00"/>
            </a:solidFill>
            <a:prstDash val="solid"/>
          </a:ln>
        </p:spPr>
      </p:sp>
      <p:sp>
        <p:nvSpPr>
          <p:cNvPr id="10" name="old_chaos-text-9"/>
          <p:cNvSpPr/>
          <p:nvPr/>
        </p:nvSpPr>
        <p:spPr>
          <a:xfrm>
            <a:off x="8001000" y="3048000"/>
            <a:ext cx="6858000" cy="431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altLang="en-US" sz="2000" b="1" dirty="0">
                <a:solidFill>
                  <a:srgbClr val="FF8F00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這造成了四個核心衝突：</a:t>
            </a:r>
            <a:endParaRPr lang="en-US" sz="2000" dirty="0"/>
          </a:p>
          <a:p>
            <a:pPr algn="l" indent="0" marL="0">
              <a:lnSpc>
                <a:spcPts val="3000"/>
              </a:lnSpc>
              <a:buNone/>
            </a:pP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 </a:t>
            </a:r>
            <a:endParaRPr lang="en-US" sz="2000" dirty="0"/>
          </a:p>
          <a:p>
            <a:pPr algn="l" marL="317500" indent="-317500">
              <a:lnSpc>
                <a:spcPts val="3000"/>
              </a:lnSpc>
              <a:spcBef>
                <a:spcPts val="10"/>
              </a:spcBef>
              <a:buSzPct val="100000"/>
              <a:buFont typeface="+mj-lt"/>
              <a:buAutoNum type="arabicPeriod" startAt="1"/>
            </a:pPr>
            <a:r>
              <a:rPr lang="en-US" altLang="en-US" sz="2000" b="1" dirty="0">
                <a:solidFill>
                  <a:srgbClr val="1A237E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誰可以碰 LED？</a:t>
            </a: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 （所有權）</a:t>
            </a:r>
            <a:endParaRPr lang="en-US" sz="2000" dirty="0"/>
          </a:p>
          <a:p>
            <a:pPr algn="l" marL="317500" indent="-317500">
              <a:lnSpc>
                <a:spcPts val="3000"/>
              </a:lnSpc>
              <a:spcBef>
                <a:spcPts val="10"/>
              </a:spcBef>
              <a:buSzPct val="100000"/>
              <a:buFont typeface="+mj-lt"/>
              <a:buAutoNum type="arabicPeriod" startAt="2"/>
            </a:pPr>
            <a:r>
              <a:rPr lang="en-US" altLang="en-US" sz="2000" b="1" dirty="0">
                <a:solidFill>
                  <a:srgbClr val="1A237E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同時來的要求怎麼排順序？</a:t>
            </a: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 （仲裁）</a:t>
            </a:r>
            <a:endParaRPr lang="en-US" sz="2000" dirty="0"/>
          </a:p>
          <a:p>
            <a:pPr algn="l" marL="317500" indent="-317500">
              <a:lnSpc>
                <a:spcPts val="3000"/>
              </a:lnSpc>
              <a:spcBef>
                <a:spcPts val="10"/>
              </a:spcBef>
              <a:buSzPct val="100000"/>
              <a:buFont typeface="+mj-lt"/>
              <a:buAutoNum type="arabicPeriod" startAt="3"/>
            </a:pPr>
            <a:r>
              <a:rPr lang="en-US" altLang="en-US" sz="2000" b="1" dirty="0">
                <a:solidFill>
                  <a:srgbClr val="1A237E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紅閃的暫時畫面，如何不破壞平常狀態？</a:t>
            </a: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 （效果恢復）</a:t>
            </a:r>
            <a:endParaRPr lang="en-US" sz="2000" dirty="0"/>
          </a:p>
          <a:p>
            <a:pPr algn="l" marL="317500" indent="-317500">
              <a:lnSpc>
                <a:spcPts val="3000"/>
              </a:lnSpc>
              <a:spcBef>
                <a:spcPts val="10"/>
              </a:spcBef>
              <a:buSzPct val="100000"/>
              <a:buFont typeface="+mj-lt"/>
              <a:buAutoNum type="arabicPeriod" startAt="4"/>
            </a:pPr>
            <a:r>
              <a:rPr lang="en-US" altLang="en-US" sz="2000" b="1" dirty="0">
                <a:solidFill>
                  <a:srgbClr val="1A237E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畫面看到的狀態，如何不冒充真正的控制權？</a:t>
            </a: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 （權威來源）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variants-shape-1"/>
          <p:cNvSpPr/>
          <p:nvPr/>
        </p:nvSpPr>
        <p:spPr>
          <a:xfrm>
            <a:off x="0" y="1016000"/>
            <a:ext cx="16256000" cy="5080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3" name="invariants-text-2"/>
          <p:cNvSpPr/>
          <p:nvPr/>
        </p:nvSpPr>
        <p:spPr>
          <a:xfrm>
            <a:off x="1016000" y="508000"/>
            <a:ext cx="635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546E7A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0. 先說我們到底解決了什麼問題</a:t>
            </a:r>
            <a:endParaRPr lang="en-US" sz="1400" dirty="0"/>
          </a:p>
        </p:txBody>
      </p:sp>
      <p:sp>
        <p:nvSpPr>
          <p:cNvPr id="4" name="invariants-text-3"/>
          <p:cNvSpPr/>
          <p:nvPr/>
        </p:nvSpPr>
        <p:spPr>
          <a:xfrm>
            <a:off x="13970000" y="508000"/>
            <a:ext cx="127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546E7A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06</a:t>
            </a:r>
            <a:endParaRPr lang="en-US" sz="1400" dirty="0"/>
          </a:p>
        </p:txBody>
      </p:sp>
      <p:sp>
        <p:nvSpPr>
          <p:cNvPr id="5" name="invariants-text-4"/>
          <p:cNvSpPr/>
          <p:nvPr/>
        </p:nvSpPr>
        <p:spPr>
          <a:xfrm>
            <a:off x="1016000" y="1778000"/>
            <a:ext cx="1422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1A237E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我們希望永遠成立的規則</a:t>
            </a:r>
            <a:endParaRPr lang="en-US" sz="3200" dirty="0"/>
          </a:p>
        </p:txBody>
      </p:sp>
      <p:sp>
        <p:nvSpPr>
          <p:cNvPr id="6" name="invariants-shape-5"/>
          <p:cNvSpPr/>
          <p:nvPr/>
        </p:nvSpPr>
        <p:spPr>
          <a:xfrm>
            <a:off x="1016000" y="2794000"/>
            <a:ext cx="14224000" cy="5080000"/>
          </a:xfrm>
          <a:prstGeom prst="roundRect">
            <a:avLst>
              <a:gd name="adj" fmla="val 2000"/>
            </a:avLst>
          </a:prstGeom>
          <a:solidFill>
            <a:srgbClr val="F5F7FA"/>
          </a:solidFill>
          <a:ln w="12700">
            <a:solidFill>
              <a:srgbClr val="CFD8DC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7" name="invariants-text-6"/>
          <p:cNvSpPr/>
          <p:nvPr/>
        </p:nvSpPr>
        <p:spPr>
          <a:xfrm>
            <a:off x="1524000" y="3302000"/>
            <a:ext cx="13208000" cy="406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17500" indent="-317500">
              <a:lnSpc>
                <a:spcPts val="3200"/>
              </a:lnSpc>
              <a:spcBef>
                <a:spcPts val="10"/>
              </a:spcBef>
              <a:buSzPct val="100000"/>
              <a:buChar char="✓"/>
            </a:pP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同一時間只允許 </a:t>
            </a:r>
            <a:r>
              <a:rPr lang="en-US" altLang="en-US" sz="2000" b="1" dirty="0">
                <a:solidFill>
                  <a:srgbClr val="1A237E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一個 LED 操作者</a:t>
            </a: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 真正寫入三個 GPIO。</a:t>
            </a:r>
            <a:endParaRPr lang="en-US" sz="2000" dirty="0"/>
          </a:p>
          <a:p>
            <a:pPr algn="l" marL="317500" indent="-317500">
              <a:lnSpc>
                <a:spcPts val="3200"/>
              </a:lnSpc>
              <a:spcBef>
                <a:spcPts val="10"/>
              </a:spcBef>
              <a:buSzPct val="100000"/>
              <a:buChar char="✓"/>
            </a:pP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提出要求 </a:t>
            </a:r>
            <a:r>
              <a:rPr lang="en-US" altLang="en-US" sz="2000" b="1" dirty="0">
                <a:solidFill>
                  <a:srgbClr val="FF8F00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不等於</a:t>
            </a: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 已經完成。</a:t>
            </a:r>
            <a:endParaRPr lang="en-US" sz="2000" dirty="0"/>
          </a:p>
          <a:p>
            <a:pPr algn="l" marL="317500" indent="-317500">
              <a:lnSpc>
                <a:spcPts val="3200"/>
              </a:lnSpc>
              <a:spcBef>
                <a:spcPts val="10"/>
              </a:spcBef>
              <a:buSzPct val="100000"/>
              <a:buChar char="✓"/>
            </a:pP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紅閃是 </a:t>
            </a:r>
            <a:r>
              <a:rPr lang="en-US" altLang="en-US" sz="2000" b="1" dirty="0">
                <a:solidFill>
                  <a:srgbClr val="00897B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暫時表演</a:t>
            </a: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，不是新的平常顏色。</a:t>
            </a:r>
            <a:endParaRPr lang="en-US" sz="2000" dirty="0"/>
          </a:p>
          <a:p>
            <a:pPr algn="l" marL="317500" indent="-317500">
              <a:lnSpc>
                <a:spcPts val="3200"/>
              </a:lnSpc>
              <a:spcBef>
                <a:spcPts val="10"/>
              </a:spcBef>
              <a:buSzPct val="100000"/>
              <a:buChar char="✓"/>
            </a:pP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紅閃一旦被接受，就要從「接受的那一刻」開始 </a:t>
            </a:r>
            <a:r>
              <a:rPr lang="en-US" altLang="en-US" sz="2000" b="1" dirty="0">
                <a:solidFill>
                  <a:srgbClr val="FF8F00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擋住新的換色</a:t>
            </a: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。</a:t>
            </a:r>
            <a:endParaRPr lang="en-US" sz="2000" dirty="0"/>
          </a:p>
          <a:p>
            <a:pPr algn="l" marL="317500" indent="-317500">
              <a:lnSpc>
                <a:spcPts val="3200"/>
              </a:lnSpc>
              <a:spcBef>
                <a:spcPts val="10"/>
              </a:spcBef>
              <a:buSzPct val="100000"/>
              <a:buChar char="✓"/>
            </a:pP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已經做完的換色不能被後來的紅閃假裝沒發生。</a:t>
            </a:r>
            <a:endParaRPr lang="en-US" sz="2000" dirty="0"/>
          </a:p>
          <a:p>
            <a:pPr algn="l" marL="317500" indent="-317500">
              <a:lnSpc>
                <a:spcPts val="3200"/>
              </a:lnSpc>
              <a:spcBef>
                <a:spcPts val="10"/>
              </a:spcBef>
              <a:buSzPct val="100000"/>
              <a:buChar char="✓"/>
            </a:pP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紅閃中按住按鈕，不會在紅閃結束時偷偷補做一次（要放開重按）。</a:t>
            </a:r>
            <a:endParaRPr lang="en-US" sz="2000" dirty="0"/>
          </a:p>
          <a:p>
            <a:pPr algn="l" marL="317500" indent="-317500">
              <a:lnSpc>
                <a:spcPts val="3200"/>
              </a:lnSpc>
              <a:spcBef>
                <a:spcPts val="10"/>
              </a:spcBef>
              <a:buSzPct val="100000"/>
              <a:buChar char="✓"/>
            </a:pP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網頁提示可以延遲，</a:t>
            </a:r>
            <a:r>
              <a:rPr lang="en-US" altLang="en-US" sz="2000" b="1" dirty="0">
                <a:solidFill>
                  <a:srgbClr val="1A237E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後端的 submit 檢查</a:t>
            </a: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 才是最後決定者。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irst_principles_tree-shape-1"/>
          <p:cNvSpPr/>
          <p:nvPr/>
        </p:nvSpPr>
        <p:spPr>
          <a:xfrm>
            <a:off x="0" y="1016000"/>
            <a:ext cx="16256000" cy="5080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3" name="first_principles_tree-text-2"/>
          <p:cNvSpPr/>
          <p:nvPr/>
        </p:nvSpPr>
        <p:spPr>
          <a:xfrm>
            <a:off x="1016000" y="508000"/>
            <a:ext cx="635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546E7A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0. 先說我們到底解決了什麼問題</a:t>
            </a:r>
            <a:endParaRPr lang="en-US" sz="1400" dirty="0"/>
          </a:p>
        </p:txBody>
      </p:sp>
      <p:sp>
        <p:nvSpPr>
          <p:cNvPr id="4" name="first_principles_tree-text-3"/>
          <p:cNvSpPr/>
          <p:nvPr/>
        </p:nvSpPr>
        <p:spPr>
          <a:xfrm>
            <a:off x="13970000" y="508000"/>
            <a:ext cx="127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546E7A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07</a:t>
            </a:r>
            <a:endParaRPr lang="en-US" sz="1400" dirty="0"/>
          </a:p>
        </p:txBody>
      </p:sp>
      <p:sp>
        <p:nvSpPr>
          <p:cNvPr id="5" name="first_principles_tree-text-4"/>
          <p:cNvSpPr/>
          <p:nvPr/>
        </p:nvSpPr>
        <p:spPr>
          <a:xfrm>
            <a:off x="1016000" y="1778000"/>
            <a:ext cx="1422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1A237E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從第一性原理長出技術樹</a:t>
            </a:r>
            <a:endParaRPr lang="en-US" sz="3200" dirty="0"/>
          </a:p>
        </p:txBody>
      </p:sp>
      <p:sp>
        <p:nvSpPr>
          <p:cNvPr id="6" name="first_principles_tree-text-5"/>
          <p:cNvSpPr/>
          <p:nvPr/>
        </p:nvSpPr>
        <p:spPr>
          <a:xfrm>
            <a:off x="1016000" y="2540000"/>
            <a:ext cx="1422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dirty="0">
                <a:solidFill>
                  <a:srgbClr val="546E7A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先問「物理世界和程式世界有什麼不能違反的事實」，再推導出系統元件。</a:t>
            </a:r>
            <a:endParaRPr lang="en-US" sz="2000" dirty="0"/>
          </a:p>
        </p:txBody>
      </p:sp>
      <p:graphicFrame>
        <p:nvGraphicFramePr>
          <p:cNvPr id="8" name="first_principles_tree-table-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16000" y="3302000"/>
          <a:ext cx="14224000" cy="4572000"/>
        </p:xfrm>
        <a:graphic>
          <a:graphicData uri="http://schemas.openxmlformats.org/drawingml/2006/table">
            <a:tbl>
              <a:tblPr/>
              <a:tblGrid>
                <a:gridCol w="5689600"/>
                <a:gridCol w="8534400"/>
              </a:tblGrid>
              <a:tr h="5079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限制與事實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推導出的技術解法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812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b="1" dirty="0">
                          <a:solidFill>
                            <a:srgbClr val="FF8F00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物理限制：</a:t>
                      </a:r>
                      <a:r>
                        <a:rPr lang="en-US" altLang="en-US" sz="2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同一瞬間只有一組 GPIO 輸出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單一 owner、只有 owner 能寫 </a:t>
                      </a:r>
                      <a:r>
                        <a:rPr lang="en-US" altLang="en-US" sz="1800" dirty="0">
                          <a:solidFill>
                            <a:srgbClr val="333333"/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RgbLed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12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b="1" dirty="0">
                          <a:solidFill>
                            <a:srgbClr val="FF8F00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時間限制：</a:t>
                      </a:r>
                      <a:r>
                        <a:rPr lang="en-US" altLang="en-US" sz="2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受理與真正執行在不同時刻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800" dirty="0">
                          <a:solidFill>
                            <a:srgbClr val="333333"/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submit</a:t>
                      </a:r>
                      <a:r>
                        <a:rPr lang="en-US" altLang="en-US" sz="2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 受理窗口、</a:t>
                      </a:r>
                      <a:r>
                        <a:rPr lang="en-US" altLang="en-US" sz="1800" dirty="0">
                          <a:solidFill>
                            <a:srgbClr val="333333"/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receipt</a:t>
                      </a:r>
                      <a:r>
                        <a:rPr lang="en-US" altLang="en-US" sz="2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 狀態、FIFO 佇列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12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b="1" dirty="0">
                          <a:solidFill>
                            <a:srgbClr val="FF8F00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衝突限制：</a:t>
                      </a:r>
                      <a:r>
                        <a:rPr lang="en-US" altLang="en-US" sz="2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紅閃與換色可能接近同時到達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警示受理立即 </a:t>
                      </a:r>
                      <a:r>
                        <a:rPr lang="en-US" altLang="en-US" sz="1800" dirty="0">
                          <a:solidFill>
                            <a:srgbClr val="333333"/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reserved</a:t>
                      </a:r>
                      <a:r>
                        <a:rPr lang="en-US" altLang="en-US" sz="2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、拒絕留下 </a:t>
                      </a:r>
                      <a:r>
                        <a:rPr lang="en-US" altLang="en-US" sz="1800" dirty="0">
                          <a:solidFill>
                            <a:srgbClr val="333333"/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reason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12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b="1" dirty="0">
                          <a:solidFill>
                            <a:srgbClr val="FF8F00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效果限制：</a:t>
                      </a:r>
                      <a:r>
                        <a:rPr lang="en-US" altLang="en-US" sz="2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紅閃持續一段時間並需恢復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保存正常顏色與亮滅狀態、frame 狀態機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12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b="1" dirty="0">
                          <a:solidFill>
                            <a:srgbClr val="FF8F00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輸入與觀察限制：</a:t>
                      </a:r>
                      <a:r>
                        <a:rPr lang="en-US" altLang="en-US" sz="2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按鈕抖動、網路延遲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按鈕去彈跳、RAM 快照、後端控制權威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wner_physical-shape-1"/>
          <p:cNvSpPr/>
          <p:nvPr/>
        </p:nvSpPr>
        <p:spPr>
          <a:xfrm>
            <a:off x="0" y="1016000"/>
            <a:ext cx="16256000" cy="5080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3" name="owner_physical-text-2"/>
          <p:cNvSpPr/>
          <p:nvPr/>
        </p:nvSpPr>
        <p:spPr>
          <a:xfrm>
            <a:off x="1016000" y="508000"/>
            <a:ext cx="635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546E7A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0. 先說我們到底解決了什麼問題</a:t>
            </a:r>
            <a:endParaRPr lang="en-US" sz="1400" dirty="0"/>
          </a:p>
        </p:txBody>
      </p:sp>
      <p:sp>
        <p:nvSpPr>
          <p:cNvPr id="4" name="owner_physical-text-3"/>
          <p:cNvSpPr/>
          <p:nvPr/>
        </p:nvSpPr>
        <p:spPr>
          <a:xfrm>
            <a:off x="13970000" y="508000"/>
            <a:ext cx="127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546E7A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08</a:t>
            </a:r>
            <a:endParaRPr lang="en-US" sz="1400" dirty="0"/>
          </a:p>
        </p:txBody>
      </p:sp>
      <p:sp>
        <p:nvSpPr>
          <p:cNvPr id="5" name="owner_physical-text-4"/>
          <p:cNvSpPr/>
          <p:nvPr/>
        </p:nvSpPr>
        <p:spPr>
          <a:xfrm>
            <a:off x="1016000" y="1778000"/>
            <a:ext cx="1422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1A237E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技術樹 A：物理限制 → 單一 Owner</a:t>
            </a:r>
            <a:endParaRPr lang="en-US" sz="3200" dirty="0"/>
          </a:p>
        </p:txBody>
      </p:sp>
      <p:sp>
        <p:nvSpPr>
          <p:cNvPr id="6" name="owner_physical-shape-5"/>
          <p:cNvSpPr/>
          <p:nvPr/>
        </p:nvSpPr>
        <p:spPr>
          <a:xfrm>
            <a:off x="1016000" y="3048000"/>
            <a:ext cx="5842000" cy="1524000"/>
          </a:xfrm>
          <a:prstGeom prst="roundRect">
            <a:avLst>
              <a:gd name="adj" fmla="val 6667"/>
            </a:avLst>
          </a:prstGeom>
          <a:solidFill>
            <a:srgbClr val="F5F7FA"/>
          </a:solidFill>
          <a:ln/>
        </p:spPr>
      </p:sp>
      <p:sp>
        <p:nvSpPr>
          <p:cNvPr id="7" name="owner_physical-text-6"/>
          <p:cNvSpPr/>
          <p:nvPr/>
        </p:nvSpPr>
        <p:spPr>
          <a:xfrm>
            <a:off x="1270000" y="3302000"/>
            <a:ext cx="5334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b="1" dirty="0">
                <a:solidFill>
                  <a:srgbClr val="1A237E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生活比喻：</a:t>
            </a:r>
            <a:endParaRPr lang="en-US" sz="2000" dirty="0"/>
          </a:p>
          <a:p>
            <a:pPr algn="l" indent="0" marL="0">
              <a:buNone/>
            </a:pP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三個人可以報告問題，但教室只有一支粉筆；不能讓三個人同時寫黑板。</a:t>
            </a:r>
            <a:endParaRPr lang="en-US" sz="2000" dirty="0"/>
          </a:p>
        </p:txBody>
      </p:sp>
      <p:sp>
        <p:nvSpPr>
          <p:cNvPr id="8" name="owner_physical-shape-7"/>
          <p:cNvSpPr/>
          <p:nvPr/>
        </p:nvSpPr>
        <p:spPr>
          <a:xfrm>
            <a:off x="1016000" y="4826000"/>
            <a:ext cx="5842000" cy="2286000"/>
          </a:xfrm>
          <a:prstGeom prst="roundRect">
            <a:avLst>
              <a:gd name="adj" fmla="val 4444"/>
            </a:avLst>
          </a:prstGeom>
          <a:solidFill>
            <a:srgbClr val="F5F7FA"/>
          </a:solidFill>
          <a:ln/>
        </p:spPr>
      </p:sp>
      <p:sp>
        <p:nvSpPr>
          <p:cNvPr id="9" name="owner_physical-text-8"/>
          <p:cNvSpPr/>
          <p:nvPr/>
        </p:nvSpPr>
        <p:spPr>
          <a:xfrm>
            <a:off x="1270000" y="5080000"/>
            <a:ext cx="5334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b="1" dirty="0">
                <a:solidFill>
                  <a:srgbClr val="1A237E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程式實作：</a:t>
            </a:r>
            <a:endParaRPr lang="en-US" sz="2000" dirty="0"/>
          </a:p>
          <a:p>
            <a:pPr algn="l" indent="0" marL="0">
              <a:buNone/>
            </a:pPr>
            <a:r>
              <a:rPr lang="en-US" altLang="en-US" sz="1800" dirty="0">
                <a:solidFill>
                  <a:srgbClr val="26323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LedService.run()</a:t>
            </a: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 是唯一 LED owner。按鈕、光感、Web 只呼叫 </a:t>
            </a:r>
            <a:r>
              <a:rPr lang="en-US" altLang="en-US" sz="1800" dirty="0">
                <a:solidFill>
                  <a:srgbClr val="26323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submit()</a:t>
            </a: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，</a:t>
            </a:r>
            <a:r>
              <a:rPr lang="en-US" altLang="en-US" sz="2000" b="1" dirty="0">
                <a:solidFill>
                  <a:srgbClr val="FF8F00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絕不直接呼叫</a:t>
            </a: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 </a:t>
            </a:r>
            <a:r>
              <a:rPr lang="en-US" altLang="en-US" sz="1800" dirty="0">
                <a:solidFill>
                  <a:srgbClr val="26323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RgbLed.write()</a:t>
            </a: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。</a:t>
            </a:r>
            <a:endParaRPr lang="en-US" sz="2000" dirty="0"/>
          </a:p>
        </p:txBody>
      </p:sp>
      <p:sp>
        <p:nvSpPr>
          <p:cNvPr id="10" name="owner_physical-shape-9"/>
          <p:cNvSpPr/>
          <p:nvPr/>
        </p:nvSpPr>
        <p:spPr>
          <a:xfrm>
            <a:off x="7620000" y="3048000"/>
            <a:ext cx="2032000" cy="635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897B"/>
            </a:solidFill>
            <a:prstDash val="solid"/>
          </a:ln>
        </p:spPr>
      </p:sp>
      <p:sp>
        <p:nvSpPr>
          <p:cNvPr id="11" name="owner_physical-text-10"/>
          <p:cNvSpPr/>
          <p:nvPr/>
        </p:nvSpPr>
        <p:spPr>
          <a:xfrm>
            <a:off x="7620000" y="3175000"/>
            <a:ext cx="203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2000" dirty="0">
                <a:solidFill>
                  <a:srgbClr val="1E293B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實體按鈕</a:t>
            </a:r>
            <a:endParaRPr lang="en-US" sz="2000" dirty="0"/>
          </a:p>
        </p:txBody>
      </p:sp>
      <p:sp>
        <p:nvSpPr>
          <p:cNvPr id="12" name="owner_physical-shape-11"/>
          <p:cNvSpPr/>
          <p:nvPr/>
        </p:nvSpPr>
        <p:spPr>
          <a:xfrm>
            <a:off x="9652000" y="3365500"/>
            <a:ext cx="762000" cy="635000"/>
          </a:xfrm>
          <a:prstGeom prst="line">
            <a:avLst/>
          </a:prstGeom>
          <a:ln w="25400">
            <a:solidFill>
              <a:srgbClr val="CFD8DC"/>
            </a:solidFill>
            <a:prstDash val="solid"/>
            <a:tailEnd type="triangle"/>
          </a:ln>
        </p:spPr>
      </p:sp>
      <p:sp>
        <p:nvSpPr>
          <p:cNvPr id="13" name="owner_physical-shape-12"/>
          <p:cNvSpPr/>
          <p:nvPr/>
        </p:nvSpPr>
        <p:spPr>
          <a:xfrm>
            <a:off x="7620000" y="4064000"/>
            <a:ext cx="2032000" cy="635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897B"/>
            </a:solidFill>
            <a:prstDash val="solid"/>
          </a:ln>
        </p:spPr>
      </p:sp>
      <p:sp>
        <p:nvSpPr>
          <p:cNvPr id="14" name="owner_physical-text-13"/>
          <p:cNvSpPr/>
          <p:nvPr/>
        </p:nvSpPr>
        <p:spPr>
          <a:xfrm>
            <a:off x="7620000" y="4191000"/>
            <a:ext cx="203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2000" dirty="0">
                <a:solidFill>
                  <a:srgbClr val="1E293B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網頁 API</a:t>
            </a:r>
            <a:endParaRPr lang="en-US" sz="2000" dirty="0"/>
          </a:p>
        </p:txBody>
      </p:sp>
      <p:sp>
        <p:nvSpPr>
          <p:cNvPr id="15" name="owner_physical-shape-14"/>
          <p:cNvSpPr/>
          <p:nvPr/>
        </p:nvSpPr>
        <p:spPr>
          <a:xfrm>
            <a:off x="9652000" y="4381500"/>
            <a:ext cx="762000" cy="9144"/>
          </a:xfrm>
          <a:prstGeom prst="line">
            <a:avLst/>
          </a:prstGeom>
          <a:ln w="25400">
            <a:solidFill>
              <a:srgbClr val="CFD8DC"/>
            </a:solidFill>
            <a:prstDash val="solid"/>
            <a:tailEnd type="triangle"/>
          </a:ln>
        </p:spPr>
      </p:sp>
      <p:sp>
        <p:nvSpPr>
          <p:cNvPr id="16" name="owner_physical-shape-15"/>
          <p:cNvSpPr/>
          <p:nvPr/>
        </p:nvSpPr>
        <p:spPr>
          <a:xfrm>
            <a:off x="7620000" y="5080000"/>
            <a:ext cx="2032000" cy="635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897B"/>
            </a:solidFill>
            <a:prstDash val="solid"/>
          </a:ln>
        </p:spPr>
      </p:sp>
      <p:sp>
        <p:nvSpPr>
          <p:cNvPr id="17" name="owner_physical-text-16"/>
          <p:cNvSpPr/>
          <p:nvPr/>
        </p:nvSpPr>
        <p:spPr>
          <a:xfrm>
            <a:off x="7620000" y="5207000"/>
            <a:ext cx="203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2000" dirty="0">
                <a:solidFill>
                  <a:srgbClr val="1E293B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光照感測</a:t>
            </a:r>
            <a:endParaRPr lang="en-US" sz="2000" dirty="0"/>
          </a:p>
        </p:txBody>
      </p:sp>
      <p:sp>
        <p:nvSpPr>
          <p:cNvPr id="18" name="owner_physical-shape-17"/>
          <p:cNvSpPr/>
          <p:nvPr/>
        </p:nvSpPr>
        <p:spPr>
          <a:xfrm flipV="1">
            <a:off x="9652000" y="4762500"/>
            <a:ext cx="762000" cy="635000"/>
          </a:xfrm>
          <a:prstGeom prst="line">
            <a:avLst/>
          </a:prstGeom>
          <a:ln w="25400">
            <a:solidFill>
              <a:srgbClr val="CFD8DC"/>
            </a:solidFill>
            <a:prstDash val="solid"/>
            <a:tailEnd type="triangle"/>
          </a:ln>
        </p:spPr>
      </p:sp>
      <p:sp>
        <p:nvSpPr>
          <p:cNvPr id="19" name="owner_physical-shape-18"/>
          <p:cNvSpPr/>
          <p:nvPr/>
        </p:nvSpPr>
        <p:spPr>
          <a:xfrm>
            <a:off x="10414000" y="3683000"/>
            <a:ext cx="2286000" cy="1397000"/>
          </a:xfrm>
          <a:prstGeom prst="roundRect">
            <a:avLst>
              <a:gd name="adj" fmla="val 7273"/>
            </a:avLst>
          </a:prstGeom>
          <a:solidFill>
            <a:srgbClr val="1A237E"/>
          </a:solidFill>
          <a:ln/>
        </p:spPr>
      </p:sp>
      <p:sp>
        <p:nvSpPr>
          <p:cNvPr id="20" name="owner_physical-text-19"/>
          <p:cNvSpPr/>
          <p:nvPr/>
        </p:nvSpPr>
        <p:spPr>
          <a:xfrm>
            <a:off x="10414000" y="3937000"/>
            <a:ext cx="228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altLang="en-US" sz="2000" dirty="0">
                <a:solidFill>
                  <a:srgbClr val="FFFFFF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唯一 Owner</a:t>
            </a:r>
            <a:endParaRPr lang="en-US" sz="2000" dirty="0"/>
          </a:p>
          <a:p>
            <a:pPr algn="ctr" indent="0" marL="0">
              <a:lnSpc>
                <a:spcPts val="2700"/>
              </a:lnSpc>
              <a:buNone/>
            </a:pPr>
            <a:r>
              <a:rPr lang="en-US" altLang="en-US" sz="180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run()</a:t>
            </a:r>
            <a:endParaRPr lang="en-US" sz="2000" dirty="0"/>
          </a:p>
        </p:txBody>
      </p:sp>
      <p:sp>
        <p:nvSpPr>
          <p:cNvPr id="21" name="owner_physical-shape-20"/>
          <p:cNvSpPr/>
          <p:nvPr/>
        </p:nvSpPr>
        <p:spPr>
          <a:xfrm>
            <a:off x="12700000" y="4381500"/>
            <a:ext cx="762000" cy="9144"/>
          </a:xfrm>
          <a:prstGeom prst="line">
            <a:avLst/>
          </a:prstGeom>
          <a:ln w="50800">
            <a:solidFill>
              <a:srgbClr val="FF8F00"/>
            </a:solidFill>
            <a:prstDash val="solid"/>
            <a:tailEnd type="triangle"/>
          </a:ln>
        </p:spPr>
      </p:sp>
      <p:sp>
        <p:nvSpPr>
          <p:cNvPr id="22" name="owner_physical-shape-21"/>
          <p:cNvSpPr/>
          <p:nvPr/>
        </p:nvSpPr>
        <p:spPr>
          <a:xfrm>
            <a:off x="13462000" y="4064000"/>
            <a:ext cx="1524000" cy="635000"/>
          </a:xfrm>
          <a:prstGeom prst="rect">
            <a:avLst/>
          </a:prstGeom>
          <a:solidFill>
            <a:srgbClr val="FFFFFF"/>
          </a:solidFill>
          <a:ln w="25400">
            <a:solidFill>
              <a:srgbClr val="FF8F00"/>
            </a:solidFill>
            <a:prstDash val="solid"/>
          </a:ln>
        </p:spPr>
      </p:sp>
      <p:sp>
        <p:nvSpPr>
          <p:cNvPr id="23" name="owner_physical-text-22"/>
          <p:cNvSpPr/>
          <p:nvPr/>
        </p:nvSpPr>
        <p:spPr>
          <a:xfrm>
            <a:off x="13462000" y="4191000"/>
            <a:ext cx="152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2000" dirty="0">
                <a:solidFill>
                  <a:srgbClr val="1E293B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RGB LED</a:t>
            </a:r>
            <a:endParaRPr lang="en-US" sz="2000" dirty="0"/>
          </a:p>
        </p:txBody>
      </p:sp>
      <p:sp>
        <p:nvSpPr>
          <p:cNvPr id="24" name="owner_physical-text-23"/>
          <p:cNvSpPr/>
          <p:nvPr/>
        </p:nvSpPr>
        <p:spPr>
          <a:xfrm>
            <a:off x="7620000" y="7366000"/>
            <a:ext cx="762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2000" dirty="0">
                <a:solidFill>
                  <a:srgbClr val="00897B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解決：避免不同任務各自以為自己是最後的操作者，互相覆蓋輸出。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mit_window-shape-1"/>
          <p:cNvSpPr/>
          <p:nvPr/>
        </p:nvSpPr>
        <p:spPr>
          <a:xfrm>
            <a:off x="0" y="1016000"/>
            <a:ext cx="16256000" cy="5080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3" name="submit_window-text-2"/>
          <p:cNvSpPr/>
          <p:nvPr/>
        </p:nvSpPr>
        <p:spPr>
          <a:xfrm>
            <a:off x="1016000" y="508000"/>
            <a:ext cx="635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546E7A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0. 先說我們到底解決了什麼問題</a:t>
            </a:r>
            <a:endParaRPr lang="en-US" sz="1400" dirty="0"/>
          </a:p>
        </p:txBody>
      </p:sp>
      <p:sp>
        <p:nvSpPr>
          <p:cNvPr id="4" name="submit_window-text-3"/>
          <p:cNvSpPr/>
          <p:nvPr/>
        </p:nvSpPr>
        <p:spPr>
          <a:xfrm>
            <a:off x="13970000" y="508000"/>
            <a:ext cx="127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546E7A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09</a:t>
            </a:r>
            <a:endParaRPr lang="en-US" sz="1400" dirty="0"/>
          </a:p>
        </p:txBody>
      </p:sp>
      <p:sp>
        <p:nvSpPr>
          <p:cNvPr id="5" name="submit_window-text-4"/>
          <p:cNvSpPr/>
          <p:nvPr/>
        </p:nvSpPr>
        <p:spPr>
          <a:xfrm>
            <a:off x="1016000" y="1778000"/>
            <a:ext cx="1422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1A237E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技術樹 B：多個要求 → submit 窗口</a:t>
            </a:r>
            <a:endParaRPr lang="en-US" sz="3200" dirty="0"/>
          </a:p>
        </p:txBody>
      </p:sp>
      <p:sp>
        <p:nvSpPr>
          <p:cNvPr id="6" name="submit_window-text-5"/>
          <p:cNvSpPr/>
          <p:nvPr/>
        </p:nvSpPr>
        <p:spPr>
          <a:xfrm>
            <a:off x="1016000" y="2794000"/>
            <a:ext cx="1422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b="1" dirty="0">
                <a:solidFill>
                  <a:srgbClr val="1A237E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生活比喻：</a:t>
            </a: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所有人先到辦公室登記，不可以自己跑進器材室開燈。</a:t>
            </a:r>
            <a:endParaRPr lang="en-US" sz="2000" dirty="0"/>
          </a:p>
          <a:p>
            <a:pPr algn="l" indent="0" marL="0">
              <a:buNone/>
            </a:pPr>
            <a:r>
              <a:rPr lang="en-US" altLang="en-US" sz="2000" b="1" dirty="0">
                <a:solidFill>
                  <a:srgbClr val="1A237E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程式實作：</a:t>
            </a:r>
            <a:r>
              <a:rPr lang="en-US" altLang="en-US" sz="1800" dirty="0">
                <a:solidFill>
                  <a:srgbClr val="26323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submit(kind, source, value)</a:t>
            </a: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 是唯一的同步入口。</a:t>
            </a:r>
            <a:endParaRPr lang="en-US" sz="2000" dirty="0"/>
          </a:p>
        </p:txBody>
      </p:sp>
      <p:sp>
        <p:nvSpPr>
          <p:cNvPr id="7" name="submit_window-shape-6"/>
          <p:cNvSpPr/>
          <p:nvPr/>
        </p:nvSpPr>
        <p:spPr>
          <a:xfrm>
            <a:off x="2032000" y="4318000"/>
            <a:ext cx="2540000" cy="762000"/>
          </a:xfrm>
          <a:prstGeom prst="roundRect">
            <a:avLst>
              <a:gd name="adj" fmla="val 13333"/>
            </a:avLst>
          </a:prstGeom>
          <a:solidFill>
            <a:srgbClr val="F5F7FA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8" name="submit_window-text-7"/>
          <p:cNvSpPr/>
          <p:nvPr/>
        </p:nvSpPr>
        <p:spPr>
          <a:xfrm>
            <a:off x="2032000" y="4508500"/>
            <a:ext cx="254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2000" dirty="0">
                <a:solidFill>
                  <a:srgbClr val="1E293B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按鈕要求 cycle</a:t>
            </a:r>
            <a:endParaRPr lang="en-US" sz="2000" dirty="0"/>
          </a:p>
        </p:txBody>
      </p:sp>
      <p:sp>
        <p:nvSpPr>
          <p:cNvPr id="9" name="submit_window-shape-8"/>
          <p:cNvSpPr/>
          <p:nvPr/>
        </p:nvSpPr>
        <p:spPr>
          <a:xfrm>
            <a:off x="4572000" y="4699000"/>
            <a:ext cx="762000" cy="762000"/>
          </a:xfrm>
          <a:prstGeom prst="line">
            <a:avLst/>
          </a:prstGeom>
          <a:ln w="25400">
            <a:solidFill>
              <a:srgbClr val="00897B"/>
            </a:solidFill>
            <a:prstDash val="solid"/>
            <a:tailEnd type="triangle"/>
          </a:ln>
        </p:spPr>
      </p:sp>
      <p:sp>
        <p:nvSpPr>
          <p:cNvPr id="10" name="submit_window-shape-9"/>
          <p:cNvSpPr/>
          <p:nvPr/>
        </p:nvSpPr>
        <p:spPr>
          <a:xfrm>
            <a:off x="2032000" y="5334000"/>
            <a:ext cx="2540000" cy="762000"/>
          </a:xfrm>
          <a:prstGeom prst="roundRect">
            <a:avLst>
              <a:gd name="adj" fmla="val 13333"/>
            </a:avLst>
          </a:prstGeom>
          <a:solidFill>
            <a:srgbClr val="F5F7FA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11" name="submit_window-text-10"/>
          <p:cNvSpPr/>
          <p:nvPr/>
        </p:nvSpPr>
        <p:spPr>
          <a:xfrm>
            <a:off x="2032000" y="5524500"/>
            <a:ext cx="254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2000" dirty="0">
                <a:solidFill>
                  <a:srgbClr val="1E293B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Web 要求 cycle</a:t>
            </a:r>
            <a:endParaRPr lang="en-US" sz="2000" dirty="0"/>
          </a:p>
        </p:txBody>
      </p:sp>
      <p:sp>
        <p:nvSpPr>
          <p:cNvPr id="12" name="submit_window-shape-11"/>
          <p:cNvSpPr/>
          <p:nvPr/>
        </p:nvSpPr>
        <p:spPr>
          <a:xfrm>
            <a:off x="4572000" y="5715000"/>
            <a:ext cx="762000" cy="9144"/>
          </a:xfrm>
          <a:prstGeom prst="line">
            <a:avLst/>
          </a:prstGeom>
          <a:ln w="25400">
            <a:solidFill>
              <a:srgbClr val="00897B"/>
            </a:solidFill>
            <a:prstDash val="solid"/>
            <a:tailEnd type="triangle"/>
          </a:ln>
        </p:spPr>
      </p:sp>
      <p:sp>
        <p:nvSpPr>
          <p:cNvPr id="13" name="submit_window-shape-12"/>
          <p:cNvSpPr/>
          <p:nvPr/>
        </p:nvSpPr>
        <p:spPr>
          <a:xfrm>
            <a:off x="2032000" y="6350000"/>
            <a:ext cx="2540000" cy="762000"/>
          </a:xfrm>
          <a:prstGeom prst="roundRect">
            <a:avLst>
              <a:gd name="adj" fmla="val 13333"/>
            </a:avLst>
          </a:prstGeom>
          <a:solidFill>
            <a:srgbClr val="F5F7FA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14" name="submit_window-text-13"/>
          <p:cNvSpPr/>
          <p:nvPr/>
        </p:nvSpPr>
        <p:spPr>
          <a:xfrm>
            <a:off x="2032000" y="6540500"/>
            <a:ext cx="254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2000" dirty="0">
                <a:solidFill>
                  <a:srgbClr val="1E293B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光照要求警示</a:t>
            </a:r>
            <a:endParaRPr lang="en-US" sz="2000" dirty="0"/>
          </a:p>
        </p:txBody>
      </p:sp>
      <p:sp>
        <p:nvSpPr>
          <p:cNvPr id="15" name="submit_window-shape-14"/>
          <p:cNvSpPr/>
          <p:nvPr/>
        </p:nvSpPr>
        <p:spPr>
          <a:xfrm flipV="1">
            <a:off x="4572000" y="5969000"/>
            <a:ext cx="762000" cy="762000"/>
          </a:xfrm>
          <a:prstGeom prst="line">
            <a:avLst/>
          </a:prstGeom>
          <a:ln w="25400">
            <a:solidFill>
              <a:srgbClr val="00897B"/>
            </a:solidFill>
            <a:prstDash val="solid"/>
            <a:tailEnd type="triangle"/>
          </a:ln>
        </p:spPr>
      </p:sp>
      <p:sp>
        <p:nvSpPr>
          <p:cNvPr id="16" name="submit_window-shape-15"/>
          <p:cNvSpPr/>
          <p:nvPr/>
        </p:nvSpPr>
        <p:spPr>
          <a:xfrm>
            <a:off x="5334000" y="4572000"/>
            <a:ext cx="3556000" cy="2286000"/>
          </a:xfrm>
          <a:prstGeom prst="roundRect">
            <a:avLst>
              <a:gd name="adj" fmla="val 6667"/>
            </a:avLst>
          </a:prstGeom>
          <a:solidFill>
            <a:srgbClr val="1A237E"/>
          </a:solidFill>
          <a:ln/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7" name="submit_window-text-16"/>
          <p:cNvSpPr/>
          <p:nvPr/>
        </p:nvSpPr>
        <p:spPr>
          <a:xfrm>
            <a:off x="5588000" y="4826000"/>
            <a:ext cx="3048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altLang="en-US" sz="2000" b="1" dirty="0">
                <a:solidFill>
                  <a:srgbClr val="FFFFFF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LedService.submit()</a:t>
            </a:r>
            <a:endParaRPr lang="en-US" sz="2000" dirty="0"/>
          </a:p>
          <a:p>
            <a:pPr algn="ctr" indent="0" marL="0">
              <a:lnSpc>
                <a:spcPts val="2100"/>
              </a:lnSpc>
              <a:buNone/>
            </a:pPr>
            <a:r>
              <a:rPr lang="en-US" altLang="en-US" sz="140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檢查命令種類</a:t>
            </a:r>
            <a:endParaRPr lang="en-US" sz="2000" dirty="0"/>
          </a:p>
          <a:p>
            <a:pPr algn="ctr" indent="0" marL="0">
              <a:lnSpc>
                <a:spcPts val="2100"/>
              </a:lnSpc>
              <a:buNone/>
            </a:pPr>
            <a:r>
              <a:rPr lang="en-US" altLang="en-US" sz="140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檢查 busy 狀態</a:t>
            </a:r>
            <a:endParaRPr lang="en-US" sz="2000" dirty="0"/>
          </a:p>
          <a:p>
            <a:pPr algn="ctr" indent="0" marL="0">
              <a:lnSpc>
                <a:spcPts val="2100"/>
              </a:lnSpc>
              <a:buNone/>
            </a:pPr>
            <a:r>
              <a:rPr lang="en-US" altLang="en-US" sz="140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檢查佇列容量</a:t>
            </a:r>
            <a:endParaRPr lang="en-US" sz="2000" dirty="0"/>
          </a:p>
        </p:txBody>
      </p:sp>
      <p:sp>
        <p:nvSpPr>
          <p:cNvPr id="18" name="submit_window-shape-17"/>
          <p:cNvSpPr/>
          <p:nvPr/>
        </p:nvSpPr>
        <p:spPr>
          <a:xfrm flipV="1">
            <a:off x="8890000" y="4953000"/>
            <a:ext cx="1016000" cy="381000"/>
          </a:xfrm>
          <a:prstGeom prst="line">
            <a:avLst/>
          </a:prstGeom>
          <a:ln w="50800">
            <a:solidFill>
              <a:srgbClr val="00897B"/>
            </a:solidFill>
            <a:prstDash val="solid"/>
            <a:tailEnd type="triangle"/>
          </a:ln>
        </p:spPr>
      </p:sp>
      <p:sp>
        <p:nvSpPr>
          <p:cNvPr id="19" name="submit_window-text-18"/>
          <p:cNvSpPr/>
          <p:nvPr/>
        </p:nvSpPr>
        <p:spPr>
          <a:xfrm>
            <a:off x="10160000" y="4762500"/>
            <a:ext cx="381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dirty="0">
                <a:solidFill>
                  <a:srgbClr val="00897B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受理 (accepted)</a:t>
            </a:r>
            <a:endParaRPr lang="en-US" sz="2000" dirty="0"/>
          </a:p>
        </p:txBody>
      </p:sp>
      <p:sp>
        <p:nvSpPr>
          <p:cNvPr id="20" name="submit_window-shape-19"/>
          <p:cNvSpPr/>
          <p:nvPr/>
        </p:nvSpPr>
        <p:spPr>
          <a:xfrm>
            <a:off x="8890000" y="6096000"/>
            <a:ext cx="1016000" cy="381000"/>
          </a:xfrm>
          <a:prstGeom prst="line">
            <a:avLst/>
          </a:prstGeom>
          <a:ln w="50800">
            <a:solidFill>
              <a:srgbClr val="FF8F00"/>
            </a:solidFill>
            <a:prstDash val="solid"/>
            <a:tailEnd type="triangle"/>
          </a:ln>
        </p:spPr>
      </p:sp>
      <p:sp>
        <p:nvSpPr>
          <p:cNvPr id="21" name="submit_window-text-20"/>
          <p:cNvSpPr/>
          <p:nvPr/>
        </p:nvSpPr>
        <p:spPr>
          <a:xfrm>
            <a:off x="10160000" y="6286500"/>
            <a:ext cx="381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dirty="0">
                <a:solidFill>
                  <a:srgbClr val="FF8F00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拒絕 (rejected / reason)</a:t>
            </a:r>
            <a:endParaRPr lang="en-US" sz="2000" dirty="0"/>
          </a:p>
        </p:txBody>
      </p:sp>
      <p:sp>
        <p:nvSpPr>
          <p:cNvPr id="22" name="submit_window-text-21"/>
          <p:cNvSpPr/>
          <p:nvPr/>
        </p:nvSpPr>
        <p:spPr>
          <a:xfrm>
            <a:off x="1016000" y="7620000"/>
            <a:ext cx="1422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解決：所有來源使用同一套規則，避免各自分散判斷出不同結果。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eipt_lifecycle-shape-1"/>
          <p:cNvSpPr/>
          <p:nvPr/>
        </p:nvSpPr>
        <p:spPr>
          <a:xfrm>
            <a:off x="0" y="1016000"/>
            <a:ext cx="16256000" cy="5080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3" name="receipt_lifecycle-text-2"/>
          <p:cNvSpPr/>
          <p:nvPr/>
        </p:nvSpPr>
        <p:spPr>
          <a:xfrm>
            <a:off x="1016000" y="508000"/>
            <a:ext cx="635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546E7A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0. 先說我們到底解決了什麼問題</a:t>
            </a:r>
            <a:endParaRPr lang="en-US" sz="1400" dirty="0"/>
          </a:p>
        </p:txBody>
      </p:sp>
      <p:sp>
        <p:nvSpPr>
          <p:cNvPr id="4" name="receipt_lifecycle-text-3"/>
          <p:cNvSpPr/>
          <p:nvPr/>
        </p:nvSpPr>
        <p:spPr>
          <a:xfrm>
            <a:off x="13970000" y="508000"/>
            <a:ext cx="127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546E7A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10</a:t>
            </a:r>
            <a:endParaRPr lang="en-US" sz="1400" dirty="0"/>
          </a:p>
        </p:txBody>
      </p:sp>
      <p:sp>
        <p:nvSpPr>
          <p:cNvPr id="5" name="receipt_lifecycle-text-4"/>
          <p:cNvSpPr/>
          <p:nvPr/>
        </p:nvSpPr>
        <p:spPr>
          <a:xfrm>
            <a:off x="1016000" y="1778000"/>
            <a:ext cx="1422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1A237E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技術樹 C：受理與完成不同 → 命令收據</a:t>
            </a:r>
            <a:endParaRPr lang="en-US" sz="3200" dirty="0"/>
          </a:p>
        </p:txBody>
      </p:sp>
      <p:sp>
        <p:nvSpPr>
          <p:cNvPr id="6" name="receipt_lifecycle-text-5"/>
          <p:cNvSpPr/>
          <p:nvPr/>
        </p:nvSpPr>
        <p:spPr>
          <a:xfrm>
            <a:off x="1016000" y="2667000"/>
            <a:ext cx="1422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拿到號碼牌只表示櫃台收件，不表示事情已辦好。HTTP 202 不等於換色完成。</a:t>
            </a:r>
            <a:endParaRPr lang="en-US" sz="2000" dirty="0"/>
          </a:p>
        </p:txBody>
      </p:sp>
      <p:sp>
        <p:nvSpPr>
          <p:cNvPr id="7" name="receipt_lifecycle-shape-6"/>
          <p:cNvSpPr/>
          <p:nvPr/>
        </p:nvSpPr>
        <p:spPr>
          <a:xfrm>
            <a:off x="1524000" y="4064000"/>
            <a:ext cx="2032000" cy="762000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8" name="receipt_lifecycle-text-7"/>
          <p:cNvSpPr/>
          <p:nvPr/>
        </p:nvSpPr>
        <p:spPr>
          <a:xfrm>
            <a:off x="1524000" y="4254500"/>
            <a:ext cx="203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800" dirty="0">
                <a:solidFill>
                  <a:srgbClr val="1E293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accepted</a:t>
            </a:r>
            <a:endParaRPr lang="en-US" sz="1800" dirty="0"/>
          </a:p>
        </p:txBody>
      </p:sp>
      <p:sp>
        <p:nvSpPr>
          <p:cNvPr id="9" name="receipt_lifecycle-shape-8"/>
          <p:cNvSpPr/>
          <p:nvPr/>
        </p:nvSpPr>
        <p:spPr>
          <a:xfrm>
            <a:off x="3556000" y="4445000"/>
            <a:ext cx="1778000" cy="9144"/>
          </a:xfrm>
          <a:prstGeom prst="line">
            <a:avLst/>
          </a:prstGeom>
          <a:ln w="25400">
            <a:solidFill>
              <a:srgbClr val="00897B"/>
            </a:solidFill>
            <a:prstDash val="solid"/>
            <a:tailEnd type="triangle"/>
          </a:ln>
        </p:spPr>
      </p:sp>
      <p:sp>
        <p:nvSpPr>
          <p:cNvPr id="10" name="receipt_lifecycle-shape-9"/>
          <p:cNvSpPr/>
          <p:nvPr/>
        </p:nvSpPr>
        <p:spPr>
          <a:xfrm>
            <a:off x="5334000" y="4064000"/>
            <a:ext cx="2032000" cy="762000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 w="25400">
            <a:solidFill>
              <a:srgbClr val="00897B"/>
            </a:solidFill>
            <a:prstDash val="solid"/>
          </a:ln>
        </p:spPr>
      </p:sp>
      <p:sp>
        <p:nvSpPr>
          <p:cNvPr id="11" name="receipt_lifecycle-text-10"/>
          <p:cNvSpPr/>
          <p:nvPr/>
        </p:nvSpPr>
        <p:spPr>
          <a:xfrm>
            <a:off x="5334000" y="4254500"/>
            <a:ext cx="203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800" dirty="0">
                <a:solidFill>
                  <a:srgbClr val="1E293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executing</a:t>
            </a:r>
            <a:endParaRPr lang="en-US" sz="1800" dirty="0"/>
          </a:p>
        </p:txBody>
      </p:sp>
      <p:sp>
        <p:nvSpPr>
          <p:cNvPr id="12" name="receipt_lifecycle-shape-11"/>
          <p:cNvSpPr/>
          <p:nvPr/>
        </p:nvSpPr>
        <p:spPr>
          <a:xfrm>
            <a:off x="7366000" y="4445000"/>
            <a:ext cx="1778000" cy="9144"/>
          </a:xfrm>
          <a:prstGeom prst="line">
            <a:avLst/>
          </a:prstGeom>
          <a:ln w="25400">
            <a:solidFill>
              <a:srgbClr val="00897B"/>
            </a:solidFill>
            <a:prstDash val="solid"/>
            <a:tailEnd type="triangle"/>
          </a:ln>
        </p:spPr>
      </p:sp>
      <p:sp>
        <p:nvSpPr>
          <p:cNvPr id="13" name="receipt_lifecycle-shape-12"/>
          <p:cNvSpPr/>
          <p:nvPr/>
        </p:nvSpPr>
        <p:spPr>
          <a:xfrm>
            <a:off x="9144000" y="4064000"/>
            <a:ext cx="2032000" cy="762000"/>
          </a:xfrm>
          <a:prstGeom prst="roundRect">
            <a:avLst>
              <a:gd name="adj" fmla="val 50000"/>
            </a:avLst>
          </a:prstGeom>
          <a:solidFill>
            <a:srgbClr val="1A237E"/>
          </a:solidFill>
          <a:ln/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4" name="receipt_lifecycle-text-13"/>
          <p:cNvSpPr/>
          <p:nvPr/>
        </p:nvSpPr>
        <p:spPr>
          <a:xfrm>
            <a:off x="9144000" y="4254500"/>
            <a:ext cx="203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80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executed</a:t>
            </a:r>
            <a:endParaRPr lang="en-US" sz="1800" dirty="0"/>
          </a:p>
        </p:txBody>
      </p:sp>
      <p:sp>
        <p:nvSpPr>
          <p:cNvPr id="15" name="receipt_lifecycle-shape-14"/>
          <p:cNvSpPr/>
          <p:nvPr/>
        </p:nvSpPr>
        <p:spPr>
          <a:xfrm>
            <a:off x="2540000" y="4826000"/>
            <a:ext cx="9144" cy="1016000"/>
          </a:xfrm>
          <a:prstGeom prst="line">
            <a:avLst/>
          </a:prstGeom>
          <a:ln w="25400">
            <a:solidFill>
              <a:srgbClr val="FF8F00"/>
            </a:solidFill>
            <a:prstDash val="solid"/>
            <a:tailEnd type="triangle"/>
          </a:ln>
        </p:spPr>
      </p:sp>
      <p:sp>
        <p:nvSpPr>
          <p:cNvPr id="16" name="receipt_lifecycle-shape-15"/>
          <p:cNvSpPr/>
          <p:nvPr/>
        </p:nvSpPr>
        <p:spPr>
          <a:xfrm>
            <a:off x="1524000" y="5842000"/>
            <a:ext cx="2032000" cy="76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FF8F00"/>
            </a:solidFill>
            <a:prstDash val="solid"/>
          </a:ln>
        </p:spPr>
      </p:sp>
      <p:sp>
        <p:nvSpPr>
          <p:cNvPr id="17" name="receipt_lifecycle-text-16"/>
          <p:cNvSpPr/>
          <p:nvPr/>
        </p:nvSpPr>
        <p:spPr>
          <a:xfrm>
            <a:off x="1524000" y="6032500"/>
            <a:ext cx="203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800" dirty="0">
                <a:solidFill>
                  <a:srgbClr val="1E293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rejected</a:t>
            </a:r>
            <a:endParaRPr lang="en-US" sz="1800" dirty="0"/>
          </a:p>
        </p:txBody>
      </p:sp>
      <p:sp>
        <p:nvSpPr>
          <p:cNvPr id="18" name="receipt_lifecycle-text-17"/>
          <p:cNvSpPr/>
          <p:nvPr/>
        </p:nvSpPr>
        <p:spPr>
          <a:xfrm>
            <a:off x="1016000" y="6731000"/>
            <a:ext cx="304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altLang="en-US" sz="1400" dirty="0">
                <a:solidFill>
                  <a:srgbClr val="FF8F00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剛受理就被警示擋掉</a:t>
            </a:r>
            <a:endParaRPr lang="en-US" sz="1400" dirty="0"/>
          </a:p>
          <a:p>
            <a:pPr algn="ctr" indent="0" marL="0">
              <a:lnSpc>
                <a:spcPts val="2100"/>
              </a:lnSpc>
              <a:buNone/>
            </a:pPr>
            <a:r>
              <a:rPr lang="en-US" altLang="en-US" sz="1400" dirty="0">
                <a:solidFill>
                  <a:srgbClr val="FF8F00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或佇列已滿</a:t>
            </a:r>
            <a:endParaRPr lang="en-US" sz="1400" dirty="0"/>
          </a:p>
        </p:txBody>
      </p:sp>
      <p:sp>
        <p:nvSpPr>
          <p:cNvPr id="19" name="receipt_lifecycle-shape-18"/>
          <p:cNvSpPr/>
          <p:nvPr/>
        </p:nvSpPr>
        <p:spPr>
          <a:xfrm>
            <a:off x="6350000" y="4826000"/>
            <a:ext cx="9144" cy="1016000"/>
          </a:xfrm>
          <a:prstGeom prst="line">
            <a:avLst/>
          </a:prstGeom>
          <a:ln w="25400">
            <a:solidFill>
              <a:srgbClr val="FF8F00"/>
            </a:solidFill>
            <a:prstDash val="solid"/>
            <a:tailEnd type="triangle"/>
          </a:ln>
        </p:spPr>
      </p:sp>
      <p:sp>
        <p:nvSpPr>
          <p:cNvPr id="20" name="receipt_lifecycle-shape-19"/>
          <p:cNvSpPr/>
          <p:nvPr/>
        </p:nvSpPr>
        <p:spPr>
          <a:xfrm>
            <a:off x="5334000" y="5842000"/>
            <a:ext cx="2032000" cy="76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FF8F00"/>
            </a:solidFill>
            <a:prstDash val="solid"/>
          </a:ln>
        </p:spPr>
      </p:sp>
      <p:sp>
        <p:nvSpPr>
          <p:cNvPr id="21" name="receipt_lifecycle-text-20"/>
          <p:cNvSpPr/>
          <p:nvPr/>
        </p:nvSpPr>
        <p:spPr>
          <a:xfrm>
            <a:off x="5334000" y="6032500"/>
            <a:ext cx="203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800" dirty="0">
                <a:solidFill>
                  <a:srgbClr val="1E293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failed</a:t>
            </a:r>
            <a:endParaRPr lang="en-US" sz="1800" dirty="0"/>
          </a:p>
        </p:txBody>
      </p:sp>
      <p:sp>
        <p:nvSpPr>
          <p:cNvPr id="22" name="receipt_lifecycle-text-21"/>
          <p:cNvSpPr/>
          <p:nvPr/>
        </p:nvSpPr>
        <p:spPr>
          <a:xfrm>
            <a:off x="4826000" y="6731000"/>
            <a:ext cx="304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400" dirty="0">
                <a:solidFill>
                  <a:srgbClr val="FF8F00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寫入 GPIO 發生錯誤</a:t>
            </a:r>
            <a:endParaRPr lang="en-US" sz="1400" dirty="0"/>
          </a:p>
        </p:txBody>
      </p:sp>
      <p:sp>
        <p:nvSpPr>
          <p:cNvPr id="23" name="receipt_lifecycle-text-22"/>
          <p:cNvSpPr/>
          <p:nvPr/>
        </p:nvSpPr>
        <p:spPr>
          <a:xfrm>
            <a:off x="1016000" y="7620000"/>
            <a:ext cx="1422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2000" dirty="0">
                <a:solidFill>
                  <a:srgbClr val="1A237E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解決：來源可用命令 ID 查詢真正結果，而非把接收時間當作執行時間。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unded_fifo-shape-1"/>
          <p:cNvSpPr/>
          <p:nvPr/>
        </p:nvSpPr>
        <p:spPr>
          <a:xfrm>
            <a:off x="0" y="1016000"/>
            <a:ext cx="16256000" cy="5080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3" name="bounded_fifo-text-2"/>
          <p:cNvSpPr/>
          <p:nvPr/>
        </p:nvSpPr>
        <p:spPr>
          <a:xfrm>
            <a:off x="1016000" y="508000"/>
            <a:ext cx="635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546E7A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0. 先說我們到底解決了什麼問題</a:t>
            </a:r>
            <a:endParaRPr lang="en-US" sz="1400" dirty="0"/>
          </a:p>
        </p:txBody>
      </p:sp>
      <p:sp>
        <p:nvSpPr>
          <p:cNvPr id="4" name="bounded_fifo-text-3"/>
          <p:cNvSpPr/>
          <p:nvPr/>
        </p:nvSpPr>
        <p:spPr>
          <a:xfrm>
            <a:off x="13970000" y="508000"/>
            <a:ext cx="127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546E7A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11</a:t>
            </a:r>
            <a:endParaRPr lang="en-US" sz="1400" dirty="0"/>
          </a:p>
        </p:txBody>
      </p:sp>
      <p:sp>
        <p:nvSpPr>
          <p:cNvPr id="5" name="bounded_fifo-text-4"/>
          <p:cNvSpPr/>
          <p:nvPr/>
        </p:nvSpPr>
        <p:spPr>
          <a:xfrm>
            <a:off x="1016000" y="1778000"/>
            <a:ext cx="1422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1A237E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技術樹 D：要求有先後 → 有界 FIFO 佇列</a:t>
            </a:r>
            <a:endParaRPr lang="en-US" sz="3200" dirty="0"/>
          </a:p>
        </p:txBody>
      </p:sp>
      <p:sp>
        <p:nvSpPr>
          <p:cNvPr id="6" name="bounded_fifo-text-5"/>
          <p:cNvSpPr/>
          <p:nvPr/>
        </p:nvSpPr>
        <p:spPr>
          <a:xfrm>
            <a:off x="1016000" y="2667000"/>
            <a:ext cx="1422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普通要求排進一條固定長度的隊伍，隊伍滿了就明確回覆 </a:t>
            </a:r>
            <a:r>
              <a:rPr lang="en-US" altLang="en-US" sz="2000" b="1" dirty="0">
                <a:solidFill>
                  <a:srgbClr val="FF8F00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queue_full</a:t>
            </a: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，不靜默遺失。</a:t>
            </a:r>
            <a:endParaRPr lang="en-US" sz="2000" dirty="0"/>
          </a:p>
        </p:txBody>
      </p:sp>
      <p:sp>
        <p:nvSpPr>
          <p:cNvPr id="7" name="bounded_fifo-shape-6"/>
          <p:cNvSpPr/>
          <p:nvPr/>
        </p:nvSpPr>
        <p:spPr>
          <a:xfrm>
            <a:off x="1524000" y="4064000"/>
            <a:ext cx="13208000" cy="203200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8" name="bounded_fifo-text-7"/>
          <p:cNvSpPr/>
          <p:nvPr/>
        </p:nvSpPr>
        <p:spPr>
          <a:xfrm>
            <a:off x="1778000" y="4318000"/>
            <a:ext cx="152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546E7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_queue</a:t>
            </a:r>
            <a:endParaRPr lang="en-US" sz="1800" dirty="0"/>
          </a:p>
        </p:txBody>
      </p:sp>
      <p:sp>
        <p:nvSpPr>
          <p:cNvPr id="9" name="bounded_fifo-shape-8"/>
          <p:cNvSpPr/>
          <p:nvPr/>
        </p:nvSpPr>
        <p:spPr>
          <a:xfrm>
            <a:off x="2032000" y="4826000"/>
            <a:ext cx="1524000" cy="101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897B"/>
            </a:solidFill>
            <a:prstDash val="solid"/>
          </a:ln>
        </p:spPr>
      </p:sp>
      <p:sp>
        <p:nvSpPr>
          <p:cNvPr id="10" name="bounded_fifo-text-9"/>
          <p:cNvSpPr/>
          <p:nvPr/>
        </p:nvSpPr>
        <p:spPr>
          <a:xfrm>
            <a:off x="2032000" y="5143500"/>
            <a:ext cx="152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800" dirty="0">
                <a:solidFill>
                  <a:srgbClr val="1E293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ID 10</a:t>
            </a:r>
            <a:endParaRPr lang="en-US" sz="1800" dirty="0"/>
          </a:p>
        </p:txBody>
      </p:sp>
      <p:sp>
        <p:nvSpPr>
          <p:cNvPr id="11" name="bounded_fifo-shape-10"/>
          <p:cNvSpPr/>
          <p:nvPr/>
        </p:nvSpPr>
        <p:spPr>
          <a:xfrm>
            <a:off x="3683000" y="4826000"/>
            <a:ext cx="1524000" cy="101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897B"/>
            </a:solidFill>
            <a:prstDash val="solid"/>
          </a:ln>
        </p:spPr>
      </p:sp>
      <p:sp>
        <p:nvSpPr>
          <p:cNvPr id="12" name="bounded_fifo-text-11"/>
          <p:cNvSpPr/>
          <p:nvPr/>
        </p:nvSpPr>
        <p:spPr>
          <a:xfrm>
            <a:off x="3683000" y="5143500"/>
            <a:ext cx="152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800" dirty="0">
                <a:solidFill>
                  <a:srgbClr val="1E293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ID 11</a:t>
            </a:r>
            <a:endParaRPr lang="en-US" sz="1800" dirty="0"/>
          </a:p>
        </p:txBody>
      </p:sp>
      <p:sp>
        <p:nvSpPr>
          <p:cNvPr id="13" name="bounded_fifo-shape-12"/>
          <p:cNvSpPr/>
          <p:nvPr/>
        </p:nvSpPr>
        <p:spPr>
          <a:xfrm>
            <a:off x="5334000" y="4826000"/>
            <a:ext cx="1524000" cy="101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897B"/>
            </a:solidFill>
            <a:prstDash val="solid"/>
          </a:ln>
        </p:spPr>
      </p:sp>
      <p:sp>
        <p:nvSpPr>
          <p:cNvPr id="14" name="bounded_fifo-text-13"/>
          <p:cNvSpPr/>
          <p:nvPr/>
        </p:nvSpPr>
        <p:spPr>
          <a:xfrm>
            <a:off x="5334000" y="5143500"/>
            <a:ext cx="152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800" dirty="0">
                <a:solidFill>
                  <a:srgbClr val="1E293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ID 12</a:t>
            </a:r>
            <a:endParaRPr lang="en-US" sz="1800" dirty="0"/>
          </a:p>
        </p:txBody>
      </p:sp>
      <p:sp>
        <p:nvSpPr>
          <p:cNvPr id="15" name="bounded_fifo-text-14"/>
          <p:cNvSpPr/>
          <p:nvPr/>
        </p:nvSpPr>
        <p:spPr>
          <a:xfrm>
            <a:off x="7112000" y="5143500"/>
            <a:ext cx="76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2000" dirty="0">
                <a:solidFill>
                  <a:srgbClr val="546E7A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...</a:t>
            </a:r>
            <a:endParaRPr lang="en-US" sz="2000" dirty="0"/>
          </a:p>
        </p:txBody>
      </p:sp>
      <p:sp>
        <p:nvSpPr>
          <p:cNvPr id="16" name="bounded_fifo-shape-15"/>
          <p:cNvSpPr/>
          <p:nvPr/>
        </p:nvSpPr>
        <p:spPr>
          <a:xfrm>
            <a:off x="8128000" y="4826000"/>
            <a:ext cx="1524000" cy="101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97B"/>
            </a:solidFill>
            <a:prstDash val="dash"/>
          </a:ln>
        </p:spPr>
      </p:sp>
      <p:sp>
        <p:nvSpPr>
          <p:cNvPr id="17" name="bounded_fifo-text-16"/>
          <p:cNvSpPr/>
          <p:nvPr/>
        </p:nvSpPr>
        <p:spPr>
          <a:xfrm>
            <a:off x="8128000" y="5143500"/>
            <a:ext cx="152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800" dirty="0">
                <a:solidFill>
                  <a:srgbClr val="546E7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最多 8 筆</a:t>
            </a:r>
            <a:endParaRPr lang="en-US" sz="1800" dirty="0"/>
          </a:p>
        </p:txBody>
      </p:sp>
      <p:sp>
        <p:nvSpPr>
          <p:cNvPr id="18" name="bounded_fifo-shape-17"/>
          <p:cNvSpPr/>
          <p:nvPr/>
        </p:nvSpPr>
        <p:spPr>
          <a:xfrm>
            <a:off x="11430000" y="4572000"/>
            <a:ext cx="2794000" cy="127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FF8F00"/>
            </a:solidFill>
            <a:prstDash val="solid"/>
          </a:ln>
        </p:spPr>
      </p:sp>
      <p:sp>
        <p:nvSpPr>
          <p:cNvPr id="19" name="bounded_fifo-text-18"/>
          <p:cNvSpPr/>
          <p:nvPr/>
        </p:nvSpPr>
        <p:spPr>
          <a:xfrm>
            <a:off x="11684000" y="4826000"/>
            <a:ext cx="228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新要求</a:t>
            </a:r>
            <a:endParaRPr lang="en-US" sz="2000" dirty="0"/>
          </a:p>
          <a:p>
            <a:pPr algn="ctr" indent="0" marL="0">
              <a:buNone/>
            </a:pPr>
            <a:r>
              <a:rPr lang="en-US" altLang="en-US" sz="1400" dirty="0">
                <a:solidFill>
                  <a:srgbClr val="FF8F00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rejected: queue_full</a:t>
            </a:r>
            <a:endParaRPr lang="en-US" sz="2000" dirty="0"/>
          </a:p>
        </p:txBody>
      </p:sp>
      <p:sp>
        <p:nvSpPr>
          <p:cNvPr id="20" name="bounded_fifo-shape-19"/>
          <p:cNvSpPr/>
          <p:nvPr/>
        </p:nvSpPr>
        <p:spPr>
          <a:xfrm>
            <a:off x="10160000" y="5334000"/>
            <a:ext cx="1016000" cy="9144"/>
          </a:xfrm>
          <a:prstGeom prst="line">
            <a:avLst/>
          </a:prstGeom>
          <a:ln w="38100">
            <a:solidFill>
              <a:srgbClr val="FF8F00"/>
            </a:solidFill>
            <a:prstDash val="solid"/>
          </a:ln>
        </p:spPr>
      </p:sp>
      <p:sp>
        <p:nvSpPr>
          <p:cNvPr id="21" name="bounded_fifo-shape-20"/>
          <p:cNvSpPr/>
          <p:nvPr/>
        </p:nvSpPr>
        <p:spPr>
          <a:xfrm>
            <a:off x="10795000" y="4953000"/>
            <a:ext cx="381000" cy="762000"/>
          </a:xfrm>
          <a:prstGeom prst="line">
            <a:avLst/>
          </a:prstGeom>
          <a:ln w="38100">
            <a:solidFill>
              <a:srgbClr val="FF8F00"/>
            </a:solidFill>
            <a:prstDash val="solid"/>
          </a:ln>
        </p:spPr>
      </p:sp>
      <p:sp>
        <p:nvSpPr>
          <p:cNvPr id="22" name="bounded_fifo-shape-21"/>
          <p:cNvSpPr/>
          <p:nvPr/>
        </p:nvSpPr>
        <p:spPr>
          <a:xfrm flipV="1">
            <a:off x="10795000" y="4953000"/>
            <a:ext cx="381000" cy="762000"/>
          </a:xfrm>
          <a:prstGeom prst="line">
            <a:avLst/>
          </a:prstGeom>
          <a:ln w="38100">
            <a:solidFill>
              <a:srgbClr val="FF8F00"/>
            </a:solidFill>
            <a:prstDash val="solid"/>
          </a:ln>
        </p:spPr>
      </p:sp>
      <p:sp>
        <p:nvSpPr>
          <p:cNvPr id="23" name="bounded_fifo-text-22"/>
          <p:cNvSpPr/>
          <p:nvPr/>
        </p:nvSpPr>
        <p:spPr>
          <a:xfrm>
            <a:off x="1016000" y="7366000"/>
            <a:ext cx="1422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2000" dirty="0">
                <a:solidFill>
                  <a:srgbClr val="1A237E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另外，歷史結果 </a:t>
            </a:r>
            <a:r>
              <a:rPr lang="en-US" altLang="en-US" sz="1800" dirty="0">
                <a:solidFill>
                  <a:srgbClr val="1A237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_results</a:t>
            </a:r>
            <a:r>
              <a:rPr lang="en-US" altLang="en-US" sz="2000" dirty="0">
                <a:solidFill>
                  <a:srgbClr val="1A237E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 最多保存 16 筆，查詢過舊的 ID 會回傳未知。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lert_reservation-shape-1"/>
          <p:cNvSpPr/>
          <p:nvPr/>
        </p:nvSpPr>
        <p:spPr>
          <a:xfrm>
            <a:off x="0" y="1016000"/>
            <a:ext cx="16256000" cy="5080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3" name="alert_reservation-text-2"/>
          <p:cNvSpPr/>
          <p:nvPr/>
        </p:nvSpPr>
        <p:spPr>
          <a:xfrm>
            <a:off x="1016000" y="508000"/>
            <a:ext cx="635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546E7A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0. 先說我們到底解決了什麼問題</a:t>
            </a:r>
            <a:endParaRPr lang="en-US" sz="1400" dirty="0"/>
          </a:p>
        </p:txBody>
      </p:sp>
      <p:sp>
        <p:nvSpPr>
          <p:cNvPr id="4" name="alert_reservation-text-3"/>
          <p:cNvSpPr/>
          <p:nvPr/>
        </p:nvSpPr>
        <p:spPr>
          <a:xfrm>
            <a:off x="13970000" y="508000"/>
            <a:ext cx="127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546E7A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12</a:t>
            </a:r>
            <a:endParaRPr lang="en-US" sz="1400" dirty="0"/>
          </a:p>
        </p:txBody>
      </p:sp>
      <p:sp>
        <p:nvSpPr>
          <p:cNvPr id="5" name="alert_reservation-text-4"/>
          <p:cNvSpPr/>
          <p:nvPr/>
        </p:nvSpPr>
        <p:spPr>
          <a:xfrm>
            <a:off x="1016000" y="1778000"/>
            <a:ext cx="1422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1A237E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技術樹 E：紅閃是特別事件</a:t>
            </a:r>
            <a:endParaRPr lang="en-US" sz="3200" dirty="0"/>
          </a:p>
        </p:txBody>
      </p:sp>
      <p:sp>
        <p:nvSpPr>
          <p:cNvPr id="6" name="alert_reservation-text-5"/>
          <p:cNvSpPr/>
          <p:nvPr/>
        </p:nvSpPr>
        <p:spPr>
          <a:xfrm>
            <a:off x="1016000" y="2667000"/>
            <a:ext cx="1422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火警演習一開始，必須馬上拒絕新的換燈要求，並清空還沒做的普通排隊。</a:t>
            </a:r>
            <a:endParaRPr lang="en-US" sz="2000" dirty="0"/>
          </a:p>
        </p:txBody>
      </p:sp>
      <p:sp>
        <p:nvSpPr>
          <p:cNvPr id="7" name="alert_reservation-shape-6"/>
          <p:cNvSpPr/>
          <p:nvPr/>
        </p:nvSpPr>
        <p:spPr>
          <a:xfrm>
            <a:off x="1016000" y="3556000"/>
            <a:ext cx="6096000" cy="3810000"/>
          </a:xfrm>
          <a:prstGeom prst="roundRect">
            <a:avLst>
              <a:gd name="adj" fmla="val 2667"/>
            </a:avLst>
          </a:prstGeom>
          <a:solidFill>
            <a:srgbClr val="F5F7FA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8" name="alert_reservation-text-7"/>
          <p:cNvSpPr/>
          <p:nvPr/>
        </p:nvSpPr>
        <p:spPr>
          <a:xfrm>
            <a:off x="1524000" y="3937000"/>
            <a:ext cx="50800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altLang="en-US" sz="2000" b="1" dirty="0">
                <a:solidFill>
                  <a:srgbClr val="1A237E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預約與拒絕政策：</a:t>
            </a:r>
            <a:endParaRPr lang="en-US" sz="2000" dirty="0"/>
          </a:p>
          <a:p>
            <a:pPr algn="l" marL="317500" indent="-317500">
              <a:lnSpc>
                <a:spcPts val="2700"/>
              </a:lnSpc>
              <a:spcBef>
                <a:spcPts val="10"/>
              </a:spcBef>
              <a:buSzPct val="100000"/>
              <a:buChar char="✓"/>
            </a:pPr>
            <a:r>
              <a:rPr lang="en-US" altLang="en-US" sz="1800" dirty="0">
                <a:solidFill>
                  <a:srgbClr val="26323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low_light_alert</a:t>
            </a: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 被受理當下，立即設定 </a:t>
            </a:r>
            <a:r>
              <a:rPr lang="en-US" altLang="en-US" sz="1800" dirty="0">
                <a:solidFill>
                  <a:srgbClr val="26323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_reserved = True</a:t>
            </a: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。</a:t>
            </a:r>
            <a:endParaRPr lang="en-US" sz="2000" dirty="0"/>
          </a:p>
          <a:p>
            <a:pPr algn="l" marL="317500" indent="-317500">
              <a:lnSpc>
                <a:spcPts val="3000"/>
              </a:lnSpc>
              <a:spcBef>
                <a:spcPts val="10"/>
              </a:spcBef>
              <a:buSzPct val="100000"/>
              <a:buChar char="✓"/>
            </a:pP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清空 </a:t>
            </a:r>
            <a:r>
              <a:rPr lang="en-US" altLang="en-US" sz="1800" dirty="0">
                <a:solidFill>
                  <a:srgbClr val="26323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queue</a:t>
            </a: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 裡尚未執行的普通換色。</a:t>
            </a:r>
            <a:endParaRPr lang="en-US" sz="2000" dirty="0"/>
          </a:p>
          <a:p>
            <a:pPr algn="l" marL="317500" indent="-317500">
              <a:lnSpc>
                <a:spcPts val="3000"/>
              </a:lnSpc>
              <a:spcBef>
                <a:spcPts val="10"/>
              </a:spcBef>
              <a:buSzPct val="100000"/>
              <a:buChar char="✓"/>
            </a:pP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把它們標記為 </a:t>
            </a:r>
            <a:r>
              <a:rPr lang="en-US" altLang="en-US" sz="1800" dirty="0">
                <a:solidFill>
                  <a:srgbClr val="26323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rejected / alert_started</a:t>
            </a: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。</a:t>
            </a:r>
            <a:endParaRPr lang="en-US" sz="2000" dirty="0"/>
          </a:p>
        </p:txBody>
      </p:sp>
      <p:sp>
        <p:nvSpPr>
          <p:cNvPr id="9" name="alert_reservation-shape-8"/>
          <p:cNvSpPr/>
          <p:nvPr/>
        </p:nvSpPr>
        <p:spPr>
          <a:xfrm>
            <a:off x="7874000" y="3556000"/>
            <a:ext cx="7366000" cy="3810000"/>
          </a:xfrm>
          <a:prstGeom prst="roundRect">
            <a:avLst>
              <a:gd name="adj" fmla="val 2667"/>
            </a:avLst>
          </a:prstGeom>
          <a:solidFill>
            <a:srgbClr val="1A237E"/>
          </a:solidFill>
          <a:ln/>
        </p:spPr>
      </p:sp>
      <p:sp>
        <p:nvSpPr>
          <p:cNvPr id="10" name="alert_reservation-text-9"/>
          <p:cNvSpPr/>
          <p:nvPr/>
        </p:nvSpPr>
        <p:spPr>
          <a:xfrm>
            <a:off x="8382000" y="3937000"/>
            <a:ext cx="63500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altLang="en-US" sz="2000" dirty="0">
                <a:solidFill>
                  <a:srgbClr val="FFFFFF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關閉「紅閃已被接受但 owner 還沒開始」的</a:t>
            </a:r>
            <a:r>
              <a:rPr lang="en-US" altLang="en-US" sz="2000" b="1" dirty="0">
                <a:solidFill>
                  <a:srgbClr val="FF8F00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時間縫隙</a:t>
            </a:r>
            <a:r>
              <a:rPr lang="en-US" altLang="en-US" sz="2000" dirty="0">
                <a:solidFill>
                  <a:srgbClr val="FFFFFF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。</a:t>
            </a:r>
            <a:endParaRPr lang="en-US" sz="2000" dirty="0"/>
          </a:p>
          <a:p>
            <a:pPr algn="l" indent="0" marL="0">
              <a:lnSpc>
                <a:spcPts val="3200"/>
              </a:lnSpc>
              <a:buNone/>
            </a:pPr>
            <a:r>
              <a:rPr lang="en-US" altLang="en-US" sz="2000" dirty="0">
                <a:solidFill>
                  <a:srgbClr val="FFFFFF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 </a:t>
            </a:r>
            <a:endParaRPr lang="en-US" sz="2000" dirty="0"/>
          </a:p>
          <a:p>
            <a:pPr algn="l" indent="0" marL="0">
              <a:lnSpc>
                <a:spcPts val="3200"/>
              </a:lnSpc>
              <a:buNone/>
            </a:pPr>
            <a:r>
              <a:rPr lang="en-US" altLang="en-US" sz="2000" dirty="0">
                <a:solidFill>
                  <a:srgbClr val="FFFFFF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如果不預約：</a:t>
            </a:r>
            <a:endParaRPr lang="en-US" sz="2000" dirty="0"/>
          </a:p>
          <a:p>
            <a:pPr algn="l" indent="0" marL="0">
              <a:lnSpc>
                <a:spcPts val="3200"/>
              </a:lnSpc>
              <a:buNone/>
            </a:pPr>
            <a:r>
              <a:rPr lang="en-US" altLang="en-US" sz="2000" dirty="0">
                <a:solidFill>
                  <a:srgbClr val="FFFFFF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1. 受理紅閃 → 2. 受理換色 → 3. 換色執行 → 4. 紅閃開始（結果保存到錯的顏色）。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rmal_effect_output-shape-1"/>
          <p:cNvSpPr/>
          <p:nvPr/>
        </p:nvSpPr>
        <p:spPr>
          <a:xfrm>
            <a:off x="0" y="1016000"/>
            <a:ext cx="16256000" cy="5080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3" name="normal_effect_output-text-2"/>
          <p:cNvSpPr/>
          <p:nvPr/>
        </p:nvSpPr>
        <p:spPr>
          <a:xfrm>
            <a:off x="1016000" y="508000"/>
            <a:ext cx="635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546E7A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0. 先說我們到底解決了什麼問題</a:t>
            </a:r>
            <a:endParaRPr lang="en-US" sz="1400" dirty="0"/>
          </a:p>
        </p:txBody>
      </p:sp>
      <p:sp>
        <p:nvSpPr>
          <p:cNvPr id="4" name="normal_effect_output-text-3"/>
          <p:cNvSpPr/>
          <p:nvPr/>
        </p:nvSpPr>
        <p:spPr>
          <a:xfrm>
            <a:off x="13970000" y="508000"/>
            <a:ext cx="127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546E7A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13</a:t>
            </a:r>
            <a:endParaRPr lang="en-US" sz="1400" dirty="0"/>
          </a:p>
        </p:txBody>
      </p:sp>
      <p:sp>
        <p:nvSpPr>
          <p:cNvPr id="5" name="normal_effect_output-text-4"/>
          <p:cNvSpPr/>
          <p:nvPr/>
        </p:nvSpPr>
        <p:spPr>
          <a:xfrm>
            <a:off x="1016000" y="1778000"/>
            <a:ext cx="1422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1A237E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技術樹 F：正常、暫時與輸出的三層模型</a:t>
            </a:r>
            <a:endParaRPr lang="en-US" sz="3200" dirty="0"/>
          </a:p>
        </p:txBody>
      </p:sp>
      <p:sp>
        <p:nvSpPr>
          <p:cNvPr id="6" name="normal_effect_output-text-5"/>
          <p:cNvSpPr/>
          <p:nvPr/>
        </p:nvSpPr>
        <p:spPr>
          <a:xfrm>
            <a:off x="1016000" y="2667000"/>
            <a:ext cx="1422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平常使用藍色桌牌；火警時拿出紅色警示牌，結束後放回藍色桌牌。</a:t>
            </a:r>
            <a:endParaRPr lang="en-US" sz="2000" dirty="0"/>
          </a:p>
        </p:txBody>
      </p:sp>
      <p:sp>
        <p:nvSpPr>
          <p:cNvPr id="7" name="normal_effect_output-shape-6"/>
          <p:cNvSpPr/>
          <p:nvPr/>
        </p:nvSpPr>
        <p:spPr>
          <a:xfrm>
            <a:off x="2032000" y="3556000"/>
            <a:ext cx="12192000" cy="1016000"/>
          </a:xfrm>
          <a:prstGeom prst="roundRect">
            <a:avLst>
              <a:gd name="adj" fmla="val 10000"/>
            </a:avLst>
          </a:prstGeom>
          <a:solidFill>
            <a:srgbClr val="00897B"/>
          </a:solidFill>
          <a:ln/>
        </p:spPr>
      </p:sp>
      <p:sp>
        <p:nvSpPr>
          <p:cNvPr id="8" name="normal_effect_output-text-7"/>
          <p:cNvSpPr/>
          <p:nvPr/>
        </p:nvSpPr>
        <p:spPr>
          <a:xfrm>
            <a:off x="2540000" y="3873500"/>
            <a:ext cx="254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dirty="0">
                <a:solidFill>
                  <a:srgbClr val="FFFFFF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1. 正常狀態</a:t>
            </a:r>
            <a:endParaRPr lang="en-US" sz="2000" dirty="0"/>
          </a:p>
        </p:txBody>
      </p:sp>
      <p:sp>
        <p:nvSpPr>
          <p:cNvPr id="9" name="normal_effect_output-text-8"/>
          <p:cNvSpPr/>
          <p:nvPr/>
        </p:nvSpPr>
        <p:spPr>
          <a:xfrm>
            <a:off x="5080000" y="3873500"/>
            <a:ext cx="863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_desired_color = 1, _desired_on = true (藍亮)</a:t>
            </a:r>
            <a:endParaRPr lang="en-US" sz="1800" dirty="0"/>
          </a:p>
        </p:txBody>
      </p:sp>
      <p:sp>
        <p:nvSpPr>
          <p:cNvPr id="10" name="normal_effect_output-shape-9"/>
          <p:cNvSpPr/>
          <p:nvPr/>
        </p:nvSpPr>
        <p:spPr>
          <a:xfrm>
            <a:off x="2032000" y="4953000"/>
            <a:ext cx="12192000" cy="1016000"/>
          </a:xfrm>
          <a:prstGeom prst="roundRect">
            <a:avLst>
              <a:gd name="adj" fmla="val 10000"/>
            </a:avLst>
          </a:prstGeom>
          <a:solidFill>
            <a:srgbClr val="FF8F00"/>
          </a:solidFill>
          <a:ln/>
        </p:spPr>
      </p:sp>
      <p:sp>
        <p:nvSpPr>
          <p:cNvPr id="11" name="normal_effect_output-text-10"/>
          <p:cNvSpPr/>
          <p:nvPr/>
        </p:nvSpPr>
        <p:spPr>
          <a:xfrm>
            <a:off x="2540000" y="5270500"/>
            <a:ext cx="254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dirty="0">
                <a:solidFill>
                  <a:srgbClr val="FFFFFF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2. 暫時效果</a:t>
            </a:r>
            <a:endParaRPr lang="en-US" sz="2000" dirty="0"/>
          </a:p>
        </p:txBody>
      </p:sp>
      <p:sp>
        <p:nvSpPr>
          <p:cNvPr id="12" name="normal_effect_output-text-11"/>
          <p:cNvSpPr/>
          <p:nvPr/>
        </p:nvSpPr>
        <p:spPr>
          <a:xfrm>
            <a:off x="5080000" y="5270500"/>
            <a:ext cx="863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_effect = { saved: (1, true), phase: 'on', color: 4 }</a:t>
            </a:r>
            <a:endParaRPr lang="en-US" sz="1800" dirty="0"/>
          </a:p>
        </p:txBody>
      </p:sp>
      <p:sp>
        <p:nvSpPr>
          <p:cNvPr id="13" name="normal_effect_output-shape-12"/>
          <p:cNvSpPr/>
          <p:nvPr/>
        </p:nvSpPr>
        <p:spPr>
          <a:xfrm>
            <a:off x="2032000" y="6350000"/>
            <a:ext cx="12192000" cy="1016000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 w="25400">
            <a:solidFill>
              <a:srgbClr val="1A237E"/>
            </a:solidFill>
            <a:prstDash val="solid"/>
          </a:ln>
        </p:spPr>
      </p:sp>
      <p:sp>
        <p:nvSpPr>
          <p:cNvPr id="14" name="normal_effect_output-text-13"/>
          <p:cNvSpPr/>
          <p:nvPr/>
        </p:nvSpPr>
        <p:spPr>
          <a:xfrm>
            <a:off x="2540000" y="6667500"/>
            <a:ext cx="254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dirty="0">
                <a:solidFill>
                  <a:srgbClr val="1A237E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3. 實際輸出</a:t>
            </a:r>
            <a:endParaRPr lang="en-US" sz="2000" dirty="0"/>
          </a:p>
        </p:txBody>
      </p:sp>
      <p:sp>
        <p:nvSpPr>
          <p:cNvPr id="15" name="normal_effect_output-text-14"/>
          <p:cNvSpPr/>
          <p:nvPr/>
        </p:nvSpPr>
        <p:spPr>
          <a:xfrm>
            <a:off x="5080000" y="6667500"/>
            <a:ext cx="863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1A237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RgbLed.write(4) -&gt; R=1, G=0, B=0 (當下 GPIO 是紅)</a:t>
            </a:r>
            <a:endParaRPr lang="en-US" sz="1800" dirty="0"/>
          </a:p>
        </p:txBody>
      </p:sp>
      <p:sp>
        <p:nvSpPr>
          <p:cNvPr id="16" name="normal_effect_output-text-15"/>
          <p:cNvSpPr/>
          <p:nvPr/>
        </p:nvSpPr>
        <p:spPr>
          <a:xfrm>
            <a:off x="1016000" y="7874000"/>
            <a:ext cx="1422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這確保紅色 4 只是紅閃期間的展示，</a:t>
            </a:r>
            <a:r>
              <a:rPr lang="en-US" altLang="en-US" sz="2000" b="1" dirty="0">
                <a:solidFill>
                  <a:srgbClr val="1A237E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不會改寫原本的藍色狀態</a:t>
            </a: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。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_state_machine-shape-1"/>
          <p:cNvSpPr/>
          <p:nvPr/>
        </p:nvSpPr>
        <p:spPr>
          <a:xfrm>
            <a:off x="0" y="1016000"/>
            <a:ext cx="16256000" cy="5080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3" name="frame_state_machine-text-2"/>
          <p:cNvSpPr/>
          <p:nvPr/>
        </p:nvSpPr>
        <p:spPr>
          <a:xfrm>
            <a:off x="1016000" y="508000"/>
            <a:ext cx="635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546E7A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0. 先說我們到底解決了什麼問題</a:t>
            </a:r>
            <a:endParaRPr lang="en-US" sz="1400" dirty="0"/>
          </a:p>
        </p:txBody>
      </p:sp>
      <p:sp>
        <p:nvSpPr>
          <p:cNvPr id="4" name="frame_state_machine-text-3"/>
          <p:cNvSpPr/>
          <p:nvPr/>
        </p:nvSpPr>
        <p:spPr>
          <a:xfrm>
            <a:off x="13970000" y="508000"/>
            <a:ext cx="127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546E7A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14</a:t>
            </a:r>
            <a:endParaRPr lang="en-US" sz="1400" dirty="0"/>
          </a:p>
        </p:txBody>
      </p:sp>
      <p:sp>
        <p:nvSpPr>
          <p:cNvPr id="5" name="frame_state_machine-text-4"/>
          <p:cNvSpPr/>
          <p:nvPr/>
        </p:nvSpPr>
        <p:spPr>
          <a:xfrm>
            <a:off x="1016000" y="1778000"/>
            <a:ext cx="1422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1A237E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技術樹 G：紅閃需要時間 → Frame 狀態機</a:t>
            </a:r>
            <a:endParaRPr lang="en-US" sz="3200" dirty="0"/>
          </a:p>
        </p:txBody>
      </p:sp>
      <p:sp>
        <p:nvSpPr>
          <p:cNvPr id="6" name="frame_state_machine-text-5"/>
          <p:cNvSpPr/>
          <p:nvPr/>
        </p:nvSpPr>
        <p:spPr>
          <a:xfrm>
            <a:off x="1016000" y="2667000"/>
            <a:ext cx="1422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每 20ms 回來看一次手錶，不代表每次看手錶就切換燈光；300ms 時間到了才切。</a:t>
            </a:r>
            <a:endParaRPr lang="en-US" sz="2000" dirty="0"/>
          </a:p>
        </p:txBody>
      </p:sp>
      <p:sp>
        <p:nvSpPr>
          <p:cNvPr id="7" name="frame_state_machine-shape-6"/>
          <p:cNvSpPr/>
          <p:nvPr/>
        </p:nvSpPr>
        <p:spPr>
          <a:xfrm>
            <a:off x="1524000" y="4826000"/>
            <a:ext cx="12700000" cy="9144"/>
          </a:xfrm>
          <a:prstGeom prst="line">
            <a:avLst/>
          </a:prstGeom>
          <a:ln w="50800">
            <a:solidFill>
              <a:srgbClr val="CFD8DC"/>
            </a:solidFill>
            <a:prstDash val="solid"/>
            <a:tailEnd type="triangle"/>
          </a:ln>
        </p:spPr>
      </p:sp>
      <p:sp>
        <p:nvSpPr>
          <p:cNvPr id="8" name="frame_state_machine-shape-7"/>
          <p:cNvSpPr/>
          <p:nvPr/>
        </p:nvSpPr>
        <p:spPr>
          <a:xfrm>
            <a:off x="2540000" y="4699000"/>
            <a:ext cx="9144" cy="254000"/>
          </a:xfrm>
          <a:prstGeom prst="line">
            <a:avLst/>
          </a:prstGeom>
          <a:ln w="25400">
            <a:solidFill>
              <a:srgbClr val="00897B"/>
            </a:solidFill>
            <a:prstDash val="solid"/>
          </a:ln>
        </p:spPr>
      </p:sp>
      <p:sp>
        <p:nvSpPr>
          <p:cNvPr id="9" name="frame_state_machine-text-8"/>
          <p:cNvSpPr/>
          <p:nvPr/>
        </p:nvSpPr>
        <p:spPr>
          <a:xfrm>
            <a:off x="2286000" y="4318000"/>
            <a:ext cx="76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400" dirty="0">
                <a:solidFill>
                  <a:srgbClr val="1E293B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t=0</a:t>
            </a:r>
            <a:endParaRPr lang="en-US" sz="1400" dirty="0"/>
          </a:p>
        </p:txBody>
      </p:sp>
      <p:sp>
        <p:nvSpPr>
          <p:cNvPr id="10" name="frame_state_machine-text-9"/>
          <p:cNvSpPr/>
          <p:nvPr/>
        </p:nvSpPr>
        <p:spPr>
          <a:xfrm>
            <a:off x="2286000" y="5207000"/>
            <a:ext cx="76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400" dirty="0">
                <a:solidFill>
                  <a:srgbClr val="FF8F00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紅亮開始</a:t>
            </a:r>
            <a:endParaRPr lang="en-US" sz="1400" dirty="0"/>
          </a:p>
        </p:txBody>
      </p:sp>
      <p:sp>
        <p:nvSpPr>
          <p:cNvPr id="11" name="frame_state_machine-shape-10"/>
          <p:cNvSpPr/>
          <p:nvPr/>
        </p:nvSpPr>
        <p:spPr>
          <a:xfrm>
            <a:off x="3556000" y="4699000"/>
            <a:ext cx="9144" cy="254000"/>
          </a:xfrm>
          <a:prstGeom prst="line">
            <a:avLst/>
          </a:prstGeom>
          <a:ln w="12700">
            <a:solidFill>
              <a:srgbClr val="546E7A"/>
            </a:solidFill>
            <a:prstDash val="solid"/>
          </a:ln>
        </p:spPr>
      </p:sp>
      <p:sp>
        <p:nvSpPr>
          <p:cNvPr id="12" name="frame_state_machine-text-11"/>
          <p:cNvSpPr/>
          <p:nvPr/>
        </p:nvSpPr>
        <p:spPr>
          <a:xfrm>
            <a:off x="3302000" y="4318000"/>
            <a:ext cx="76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400" dirty="0">
                <a:solidFill>
                  <a:srgbClr val="1E293B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t=20</a:t>
            </a:r>
            <a:endParaRPr lang="en-US" sz="1400" dirty="0"/>
          </a:p>
        </p:txBody>
      </p:sp>
      <p:sp>
        <p:nvSpPr>
          <p:cNvPr id="13" name="frame_state_machine-shape-12"/>
          <p:cNvSpPr/>
          <p:nvPr/>
        </p:nvSpPr>
        <p:spPr>
          <a:xfrm>
            <a:off x="4572000" y="4699000"/>
            <a:ext cx="9144" cy="254000"/>
          </a:xfrm>
          <a:prstGeom prst="line">
            <a:avLst/>
          </a:prstGeom>
          <a:ln w="12700">
            <a:solidFill>
              <a:srgbClr val="546E7A"/>
            </a:solidFill>
            <a:prstDash val="solid"/>
          </a:ln>
        </p:spPr>
      </p:sp>
      <p:sp>
        <p:nvSpPr>
          <p:cNvPr id="14" name="frame_state_machine-text-13"/>
          <p:cNvSpPr/>
          <p:nvPr/>
        </p:nvSpPr>
        <p:spPr>
          <a:xfrm>
            <a:off x="4318000" y="4318000"/>
            <a:ext cx="76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400" dirty="0">
                <a:solidFill>
                  <a:srgbClr val="1E293B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t=40</a:t>
            </a:r>
            <a:endParaRPr lang="en-US" sz="1400" dirty="0"/>
          </a:p>
        </p:txBody>
      </p:sp>
      <p:sp>
        <p:nvSpPr>
          <p:cNvPr id="15" name="frame_state_machine-text-14"/>
          <p:cNvSpPr/>
          <p:nvPr/>
        </p:nvSpPr>
        <p:spPr>
          <a:xfrm>
            <a:off x="5588000" y="4699000"/>
            <a:ext cx="76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400" dirty="0">
                <a:solidFill>
                  <a:srgbClr val="1E293B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...</a:t>
            </a:r>
            <a:endParaRPr lang="en-US" sz="1400" dirty="0"/>
          </a:p>
        </p:txBody>
      </p:sp>
      <p:sp>
        <p:nvSpPr>
          <p:cNvPr id="16" name="frame_state_machine-shape-15"/>
          <p:cNvSpPr/>
          <p:nvPr/>
        </p:nvSpPr>
        <p:spPr>
          <a:xfrm>
            <a:off x="7620000" y="4699000"/>
            <a:ext cx="9144" cy="254000"/>
          </a:xfrm>
          <a:prstGeom prst="line">
            <a:avLst/>
          </a:prstGeom>
          <a:ln w="25400">
            <a:solidFill>
              <a:srgbClr val="00897B"/>
            </a:solidFill>
            <a:prstDash val="solid"/>
          </a:ln>
        </p:spPr>
      </p:sp>
      <p:sp>
        <p:nvSpPr>
          <p:cNvPr id="17" name="frame_state_machine-text-16"/>
          <p:cNvSpPr/>
          <p:nvPr/>
        </p:nvSpPr>
        <p:spPr>
          <a:xfrm>
            <a:off x="7366000" y="4318000"/>
            <a:ext cx="76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400" dirty="0">
                <a:solidFill>
                  <a:srgbClr val="1E293B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t=300</a:t>
            </a:r>
            <a:endParaRPr lang="en-US" sz="1400" dirty="0"/>
          </a:p>
        </p:txBody>
      </p:sp>
      <p:sp>
        <p:nvSpPr>
          <p:cNvPr id="18" name="frame_state_machine-text-17"/>
          <p:cNvSpPr/>
          <p:nvPr/>
        </p:nvSpPr>
        <p:spPr>
          <a:xfrm>
            <a:off x="7366000" y="5207000"/>
            <a:ext cx="76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400" dirty="0">
                <a:solidFill>
                  <a:srgbClr val="FF8F00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切換全滅</a:t>
            </a:r>
            <a:endParaRPr lang="en-US" sz="1400" dirty="0"/>
          </a:p>
        </p:txBody>
      </p:sp>
      <p:sp>
        <p:nvSpPr>
          <p:cNvPr id="19" name="frame_state_machine-shape-18"/>
          <p:cNvSpPr/>
          <p:nvPr/>
        </p:nvSpPr>
        <p:spPr>
          <a:xfrm>
            <a:off x="8636000" y="4699000"/>
            <a:ext cx="9144" cy="254000"/>
          </a:xfrm>
          <a:prstGeom prst="line">
            <a:avLst/>
          </a:prstGeom>
          <a:ln w="12700">
            <a:solidFill>
              <a:srgbClr val="546E7A"/>
            </a:solidFill>
            <a:prstDash val="solid"/>
          </a:ln>
        </p:spPr>
      </p:sp>
      <p:sp>
        <p:nvSpPr>
          <p:cNvPr id="20" name="frame_state_machine-text-19"/>
          <p:cNvSpPr/>
          <p:nvPr/>
        </p:nvSpPr>
        <p:spPr>
          <a:xfrm>
            <a:off x="8382000" y="4318000"/>
            <a:ext cx="76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400" dirty="0">
                <a:solidFill>
                  <a:srgbClr val="1E293B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t=320</a:t>
            </a:r>
            <a:endParaRPr lang="en-US" sz="1400" dirty="0"/>
          </a:p>
        </p:txBody>
      </p:sp>
      <p:sp>
        <p:nvSpPr>
          <p:cNvPr id="21" name="frame_state_machine-shape-20"/>
          <p:cNvSpPr/>
          <p:nvPr/>
        </p:nvSpPr>
        <p:spPr>
          <a:xfrm>
            <a:off x="12700000" y="4699000"/>
            <a:ext cx="9144" cy="254000"/>
          </a:xfrm>
          <a:prstGeom prst="line">
            <a:avLst/>
          </a:prstGeom>
          <a:ln w="25400">
            <a:solidFill>
              <a:srgbClr val="00897B"/>
            </a:solidFill>
            <a:prstDash val="solid"/>
          </a:ln>
        </p:spPr>
      </p:sp>
      <p:sp>
        <p:nvSpPr>
          <p:cNvPr id="22" name="frame_state_machine-text-21"/>
          <p:cNvSpPr/>
          <p:nvPr/>
        </p:nvSpPr>
        <p:spPr>
          <a:xfrm>
            <a:off x="12446000" y="4318000"/>
            <a:ext cx="76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400" dirty="0">
                <a:solidFill>
                  <a:srgbClr val="1E293B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t=600</a:t>
            </a:r>
            <a:endParaRPr lang="en-US" sz="1400" dirty="0"/>
          </a:p>
        </p:txBody>
      </p:sp>
      <p:sp>
        <p:nvSpPr>
          <p:cNvPr id="23" name="frame_state_machine-text-22"/>
          <p:cNvSpPr/>
          <p:nvPr/>
        </p:nvSpPr>
        <p:spPr>
          <a:xfrm>
            <a:off x="12446000" y="5207000"/>
            <a:ext cx="76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400" dirty="0">
                <a:solidFill>
                  <a:srgbClr val="FF8F00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第二次紅亮</a:t>
            </a:r>
            <a:endParaRPr lang="en-US" sz="1400" dirty="0"/>
          </a:p>
        </p:txBody>
      </p:sp>
      <p:sp>
        <p:nvSpPr>
          <p:cNvPr id="24" name="frame_state_machine-shape-23"/>
          <p:cNvSpPr/>
          <p:nvPr/>
        </p:nvSpPr>
        <p:spPr>
          <a:xfrm>
            <a:off x="1016000" y="6096000"/>
            <a:ext cx="14224000" cy="1524000"/>
          </a:xfrm>
          <a:prstGeom prst="roundRect">
            <a:avLst>
              <a:gd name="adj" fmla="val 6667"/>
            </a:avLst>
          </a:prstGeom>
          <a:solidFill>
            <a:srgbClr val="F5F7FA"/>
          </a:solidFill>
          <a:ln/>
        </p:spPr>
      </p:sp>
      <p:sp>
        <p:nvSpPr>
          <p:cNvPr id="25" name="frame_state_machine-text-24"/>
          <p:cNvSpPr/>
          <p:nvPr/>
        </p:nvSpPr>
        <p:spPr>
          <a:xfrm>
            <a:off x="1270000" y="6350000"/>
            <a:ext cx="1371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owner 每 20ms 執行一次 </a:t>
            </a:r>
            <a:r>
              <a:rPr lang="en-US" altLang="en-US" sz="1800" dirty="0">
                <a:solidFill>
                  <a:srgbClr val="26323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_step()</a:t>
            </a: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。用 </a:t>
            </a:r>
            <a:r>
              <a:rPr lang="en-US" altLang="en-US" sz="1800" dirty="0">
                <a:solidFill>
                  <a:srgbClr val="26323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ticks_diff()</a:t>
            </a: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 判斷現在這個階段（亮或滅）是否滿 300ms。未滿就保持輸出。這確保 owner </a:t>
            </a:r>
            <a:r>
              <a:rPr lang="en-US" altLang="en-US" sz="2000" b="1" dirty="0">
                <a:solidFill>
                  <a:srgbClr val="1A237E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不使用阻塞等待 (sleep 300ms)</a:t>
            </a: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，也不會因為排程卡頓而把紅閃快速跳掉。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napshot_authority-shape-1"/>
          <p:cNvSpPr/>
          <p:nvPr/>
        </p:nvSpPr>
        <p:spPr>
          <a:xfrm>
            <a:off x="0" y="1016000"/>
            <a:ext cx="16256000" cy="5080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3" name="snapshot_authority-text-2"/>
          <p:cNvSpPr/>
          <p:nvPr/>
        </p:nvSpPr>
        <p:spPr>
          <a:xfrm>
            <a:off x="1016000" y="508000"/>
            <a:ext cx="635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546E7A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0. 先說我們到底解決了什麼問題</a:t>
            </a:r>
            <a:endParaRPr lang="en-US" sz="1400" dirty="0"/>
          </a:p>
        </p:txBody>
      </p:sp>
      <p:sp>
        <p:nvSpPr>
          <p:cNvPr id="4" name="snapshot_authority-text-3"/>
          <p:cNvSpPr/>
          <p:nvPr/>
        </p:nvSpPr>
        <p:spPr>
          <a:xfrm>
            <a:off x="13970000" y="508000"/>
            <a:ext cx="127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546E7A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15</a:t>
            </a:r>
            <a:endParaRPr lang="en-US" sz="1400" dirty="0"/>
          </a:p>
        </p:txBody>
      </p:sp>
      <p:sp>
        <p:nvSpPr>
          <p:cNvPr id="5" name="snapshot_authority-text-4"/>
          <p:cNvSpPr/>
          <p:nvPr/>
        </p:nvSpPr>
        <p:spPr>
          <a:xfrm>
            <a:off x="1016000" y="1778000"/>
            <a:ext cx="1422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1A237E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技術樹 H：網頁看到的不是控制權</a:t>
            </a:r>
            <a:endParaRPr lang="en-US" sz="3200" dirty="0"/>
          </a:p>
        </p:txBody>
      </p:sp>
      <p:sp>
        <p:nvSpPr>
          <p:cNvPr id="6" name="snapshot_authority-text-5"/>
          <p:cNvSpPr/>
          <p:nvPr/>
        </p:nvSpPr>
        <p:spPr>
          <a:xfrm>
            <a:off x="1016000" y="2667000"/>
            <a:ext cx="1422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走廊公告可能比較晚更新，能不能使用器材，仍由器材室管理員判斷。</a:t>
            </a:r>
            <a:endParaRPr lang="en-US" sz="2000" dirty="0"/>
          </a:p>
        </p:txBody>
      </p:sp>
      <p:graphicFrame>
        <p:nvGraphicFramePr>
          <p:cNvPr id="16" name="snapshot_authority-table-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16000" y="3556000"/>
          <a:ext cx="14224000" cy="3048000"/>
        </p:xfrm>
        <a:graphic>
          <a:graphicData uri="http://schemas.openxmlformats.org/drawingml/2006/table">
            <a:tbl>
              <a:tblPr/>
              <a:tblGrid>
                <a:gridCol w="7112000"/>
                <a:gridCol w="7112000"/>
              </a:tblGrid>
              <a:tr h="6349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網頁畫面 (前端提示)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FD8D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1A2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後端 API (控制權威)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1A2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80433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定時取得 </a:t>
                      </a:r>
                      <a:r>
                        <a:rPr lang="en-US" altLang="en-US" sz="1800" dirty="0">
                          <a:solidFill>
                            <a:srgbClr val="333333"/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/api/led/status</a:t>
                      </a:r>
                      <a:r>
                        <a:rPr lang="en-US" altLang="en-US" sz="2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 更新畫面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FD8D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A2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讀取 Owner 當下的 RAM snapshot 副本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1A2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433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可能因為網路延遲而顯示舊狀態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FD8D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800" dirty="0">
                          <a:solidFill>
                            <a:srgbClr val="333333"/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submit()</a:t>
                      </a:r>
                      <a:r>
                        <a:rPr lang="en-US" altLang="en-US" sz="2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 的 busy 檢查不受網頁影響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FD8D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433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單次請求失敗，可暫時保留快照；過期才停用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FD8D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即使畫面可按，只要後端 busy，必定回 </a:t>
                      </a:r>
                      <a:r>
                        <a:rPr lang="en-US" altLang="en-US" sz="2000" b="1" dirty="0">
                          <a:solidFill>
                            <a:srgbClr val="FF8F00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409</a:t>
                      </a:r>
                      <a:r>
                        <a:rPr lang="en-US" altLang="en-US" sz="2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 拒絕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FD8D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8" name="snapshot_authority-text-7"/>
          <p:cNvSpPr/>
          <p:nvPr/>
        </p:nvSpPr>
        <p:spPr>
          <a:xfrm>
            <a:off x="1016000" y="7366000"/>
            <a:ext cx="1422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2000" dirty="0">
                <a:solidFill>
                  <a:srgbClr val="1A237E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解決：避免慢感測回應或網頁錯誤顯示冒充真正的 LED 控制許可。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utton_lifecycle-shape-1"/>
          <p:cNvSpPr/>
          <p:nvPr/>
        </p:nvSpPr>
        <p:spPr>
          <a:xfrm>
            <a:off x="0" y="1016000"/>
            <a:ext cx="16256000" cy="5080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3" name="button_lifecycle-text-2"/>
          <p:cNvSpPr/>
          <p:nvPr/>
        </p:nvSpPr>
        <p:spPr>
          <a:xfrm>
            <a:off x="1016000" y="508000"/>
            <a:ext cx="635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546E7A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0. 先說我們到底解決了什麼問題</a:t>
            </a:r>
            <a:endParaRPr lang="en-US" sz="1400" dirty="0"/>
          </a:p>
        </p:txBody>
      </p:sp>
      <p:sp>
        <p:nvSpPr>
          <p:cNvPr id="4" name="button_lifecycle-text-3"/>
          <p:cNvSpPr/>
          <p:nvPr/>
        </p:nvSpPr>
        <p:spPr>
          <a:xfrm>
            <a:off x="13970000" y="508000"/>
            <a:ext cx="127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546E7A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16</a:t>
            </a:r>
            <a:endParaRPr lang="en-US" sz="1400" dirty="0"/>
          </a:p>
        </p:txBody>
      </p:sp>
      <p:sp>
        <p:nvSpPr>
          <p:cNvPr id="5" name="button_lifecycle-text-4"/>
          <p:cNvSpPr/>
          <p:nvPr/>
        </p:nvSpPr>
        <p:spPr>
          <a:xfrm>
            <a:off x="1016000" y="1778000"/>
            <a:ext cx="1422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1A237E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技術樹 I：按鈕不是一個瞬間</a:t>
            </a:r>
            <a:endParaRPr lang="en-US" sz="3200" dirty="0"/>
          </a:p>
        </p:txBody>
      </p:sp>
      <p:sp>
        <p:nvSpPr>
          <p:cNvPr id="6" name="button_lifecycle-text-5"/>
          <p:cNvSpPr/>
          <p:nvPr/>
        </p:nvSpPr>
        <p:spPr>
          <a:xfrm>
            <a:off x="1016000" y="2667000"/>
            <a:ext cx="1422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門鈴被按住，不代表每一毫秒都按一次。紅閃中按住也不能在結束後偷偷變新要求。</a:t>
            </a:r>
            <a:endParaRPr lang="en-US" sz="2000" dirty="0"/>
          </a:p>
        </p:txBody>
      </p:sp>
      <p:sp>
        <p:nvSpPr>
          <p:cNvPr id="7" name="button_lifecycle-shape-6"/>
          <p:cNvSpPr/>
          <p:nvPr/>
        </p:nvSpPr>
        <p:spPr>
          <a:xfrm>
            <a:off x="1016000" y="3556000"/>
            <a:ext cx="14224000" cy="3048000"/>
          </a:xfrm>
          <a:prstGeom prst="roundRect">
            <a:avLst>
              <a:gd name="adj" fmla="val 3333"/>
            </a:avLst>
          </a:prstGeom>
          <a:solidFill>
            <a:srgbClr val="F5F7FA"/>
          </a:solidFill>
          <a:ln w="12700">
            <a:solidFill>
              <a:srgbClr val="CFD8DC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8" name="button_lifecycle-shape-7"/>
          <p:cNvSpPr/>
          <p:nvPr/>
        </p:nvSpPr>
        <p:spPr>
          <a:xfrm>
            <a:off x="1524000" y="4064000"/>
            <a:ext cx="13208000" cy="9144"/>
          </a:xfrm>
          <a:prstGeom prst="line">
            <a:avLst/>
          </a:prstGeom>
          <a:ln w="25400">
            <a:solidFill>
              <a:srgbClr val="CFD8DC"/>
            </a:solidFill>
            <a:prstDash val="solid"/>
          </a:ln>
        </p:spPr>
      </p:sp>
      <p:sp>
        <p:nvSpPr>
          <p:cNvPr id="9" name="button_lifecycle-text-8"/>
          <p:cNvSpPr/>
          <p:nvPr/>
        </p:nvSpPr>
        <p:spPr>
          <a:xfrm>
            <a:off x="1778000" y="3810000"/>
            <a:ext cx="127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1E293B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GPIO 電位</a:t>
            </a:r>
            <a:endParaRPr lang="en-US" sz="1400" dirty="0"/>
          </a:p>
        </p:txBody>
      </p:sp>
      <p:sp>
        <p:nvSpPr>
          <p:cNvPr id="10" name="button_lifecycle-shape-9"/>
          <p:cNvSpPr/>
          <p:nvPr/>
        </p:nvSpPr>
        <p:spPr>
          <a:xfrm>
            <a:off x="3048000" y="4064000"/>
            <a:ext cx="1270000" cy="9144"/>
          </a:xfrm>
          <a:prstGeom prst="line">
            <a:avLst/>
          </a:prstGeom>
          <a:ln w="38100">
            <a:solidFill>
              <a:srgbClr val="00897B"/>
            </a:solidFill>
            <a:prstDash val="solid"/>
          </a:ln>
        </p:spPr>
      </p:sp>
      <p:sp>
        <p:nvSpPr>
          <p:cNvPr id="11" name="button_lifecycle-shape-10"/>
          <p:cNvSpPr/>
          <p:nvPr/>
        </p:nvSpPr>
        <p:spPr>
          <a:xfrm>
            <a:off x="4318000" y="4064000"/>
            <a:ext cx="9144" cy="1016000"/>
          </a:xfrm>
          <a:prstGeom prst="line">
            <a:avLst/>
          </a:prstGeom>
          <a:ln w="38100">
            <a:solidFill>
              <a:srgbClr val="00897B"/>
            </a:solidFill>
            <a:prstDash val="solid"/>
          </a:ln>
        </p:spPr>
      </p:sp>
      <p:sp>
        <p:nvSpPr>
          <p:cNvPr id="12" name="button_lifecycle-shape-11"/>
          <p:cNvSpPr/>
          <p:nvPr/>
        </p:nvSpPr>
        <p:spPr>
          <a:xfrm>
            <a:off x="4318000" y="5080000"/>
            <a:ext cx="5080000" cy="9144"/>
          </a:xfrm>
          <a:prstGeom prst="line">
            <a:avLst/>
          </a:prstGeom>
          <a:ln w="38100">
            <a:solidFill>
              <a:srgbClr val="00897B"/>
            </a:solidFill>
            <a:prstDash val="solid"/>
          </a:ln>
        </p:spPr>
      </p:sp>
      <p:sp>
        <p:nvSpPr>
          <p:cNvPr id="13" name="button_lifecycle-shape-12"/>
          <p:cNvSpPr/>
          <p:nvPr/>
        </p:nvSpPr>
        <p:spPr>
          <a:xfrm flipV="1">
            <a:off x="9398000" y="4064000"/>
            <a:ext cx="9144" cy="1016000"/>
          </a:xfrm>
          <a:prstGeom prst="line">
            <a:avLst/>
          </a:prstGeom>
          <a:ln w="38100">
            <a:solidFill>
              <a:srgbClr val="00897B"/>
            </a:solidFill>
            <a:prstDash val="solid"/>
          </a:ln>
        </p:spPr>
      </p:sp>
      <p:sp>
        <p:nvSpPr>
          <p:cNvPr id="14" name="button_lifecycle-shape-13"/>
          <p:cNvSpPr/>
          <p:nvPr/>
        </p:nvSpPr>
        <p:spPr>
          <a:xfrm>
            <a:off x="9398000" y="4064000"/>
            <a:ext cx="2540000" cy="9144"/>
          </a:xfrm>
          <a:prstGeom prst="line">
            <a:avLst/>
          </a:prstGeom>
          <a:ln w="38100">
            <a:solidFill>
              <a:srgbClr val="00897B"/>
            </a:solidFill>
            <a:prstDash val="solid"/>
          </a:ln>
        </p:spPr>
      </p:sp>
      <p:sp>
        <p:nvSpPr>
          <p:cNvPr id="15" name="button_lifecycle-text-14"/>
          <p:cNvSpPr/>
          <p:nvPr/>
        </p:nvSpPr>
        <p:spPr>
          <a:xfrm>
            <a:off x="4318000" y="5334000"/>
            <a:ext cx="508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400" dirty="0">
                <a:solidFill>
                  <a:srgbClr val="1A237E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wait_press &amp; 去彈跳</a:t>
            </a:r>
            <a:endParaRPr lang="en-US" sz="1400" dirty="0"/>
          </a:p>
        </p:txBody>
      </p:sp>
      <p:sp>
        <p:nvSpPr>
          <p:cNvPr id="16" name="button_lifecycle-text-15"/>
          <p:cNvSpPr/>
          <p:nvPr/>
        </p:nvSpPr>
        <p:spPr>
          <a:xfrm>
            <a:off x="9398000" y="5334000"/>
            <a:ext cx="254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400" dirty="0">
                <a:solidFill>
                  <a:srgbClr val="546E7A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wait_release</a:t>
            </a:r>
            <a:endParaRPr lang="en-US" sz="1400" dirty="0"/>
          </a:p>
        </p:txBody>
      </p:sp>
      <p:sp>
        <p:nvSpPr>
          <p:cNvPr id="17" name="button_lifecycle-shape-16"/>
          <p:cNvSpPr/>
          <p:nvPr/>
        </p:nvSpPr>
        <p:spPr>
          <a:xfrm>
            <a:off x="4318000" y="5842000"/>
            <a:ext cx="5080000" cy="50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FF8F00"/>
            </a:solidFill>
            <a:prstDash val="solid"/>
          </a:ln>
        </p:spPr>
      </p:sp>
      <p:sp>
        <p:nvSpPr>
          <p:cNvPr id="18" name="button_lifecycle-text-17"/>
          <p:cNvSpPr/>
          <p:nvPr/>
        </p:nvSpPr>
        <p:spPr>
          <a:xfrm>
            <a:off x="4572000" y="5969000"/>
            <a:ext cx="457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2000" dirty="0">
                <a:solidFill>
                  <a:srgbClr val="FF8F00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檢查 busy：若 true，記住 press_rejected</a:t>
            </a:r>
            <a:endParaRPr lang="en-US" sz="2000" dirty="0"/>
          </a:p>
        </p:txBody>
      </p:sp>
      <p:sp>
        <p:nvSpPr>
          <p:cNvPr id="19" name="button_lifecycle-text-18"/>
          <p:cNvSpPr/>
          <p:nvPr/>
        </p:nvSpPr>
        <p:spPr>
          <a:xfrm>
            <a:off x="1016000" y="7112000"/>
            <a:ext cx="1422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解決：防止按鈕抖動，並利用 </a:t>
            </a:r>
            <a:r>
              <a:rPr lang="en-US" altLang="en-US" sz="1800" dirty="0">
                <a:solidFill>
                  <a:srgbClr val="26323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press_rejected</a:t>
            </a: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 在放開前擋住送出命令。</a:t>
            </a:r>
            <a:endParaRPr lang="en-US" sz="2000" dirty="0"/>
          </a:p>
          <a:p>
            <a:pPr algn="ctr" indent="0" marL="0">
              <a:lnSpc>
                <a:spcPts val="3000"/>
              </a:lnSpc>
              <a:buNone/>
            </a:pP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必須 </a:t>
            </a:r>
            <a:r>
              <a:rPr lang="en-US" altLang="en-US" sz="2000" b="1" dirty="0">
                <a:solidFill>
                  <a:srgbClr val="1A237E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放開後重新按下</a:t>
            </a: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 才有下一次機會。</a:t>
            </a:r>
            <a:endParaRPr 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ght_hysteresis-shape-1"/>
          <p:cNvSpPr/>
          <p:nvPr/>
        </p:nvSpPr>
        <p:spPr>
          <a:xfrm>
            <a:off x="0" y="1016000"/>
            <a:ext cx="16256000" cy="5080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3" name="light_hysteresis-text-2"/>
          <p:cNvSpPr/>
          <p:nvPr/>
        </p:nvSpPr>
        <p:spPr>
          <a:xfrm>
            <a:off x="1016000" y="508000"/>
            <a:ext cx="635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546E7A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0. 先說我們到底解決了什麼問題</a:t>
            </a:r>
            <a:endParaRPr lang="en-US" sz="1400" dirty="0"/>
          </a:p>
        </p:txBody>
      </p:sp>
      <p:sp>
        <p:nvSpPr>
          <p:cNvPr id="4" name="light_hysteresis-text-3"/>
          <p:cNvSpPr/>
          <p:nvPr/>
        </p:nvSpPr>
        <p:spPr>
          <a:xfrm>
            <a:off x="13970000" y="508000"/>
            <a:ext cx="127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546E7A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17</a:t>
            </a:r>
            <a:endParaRPr lang="en-US" sz="1400" dirty="0"/>
          </a:p>
        </p:txBody>
      </p:sp>
      <p:sp>
        <p:nvSpPr>
          <p:cNvPr id="5" name="light_hysteresis-text-4"/>
          <p:cNvSpPr/>
          <p:nvPr/>
        </p:nvSpPr>
        <p:spPr>
          <a:xfrm>
            <a:off x="1016000" y="1778000"/>
            <a:ext cx="1422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1A237E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技術樹 J：光線不是開關 → 雙門檻與 armed</a:t>
            </a:r>
            <a:endParaRPr lang="en-US" sz="3200" dirty="0"/>
          </a:p>
        </p:txBody>
      </p:sp>
      <p:sp>
        <p:nvSpPr>
          <p:cNvPr id="6" name="light_hysteresis-text-5"/>
          <p:cNvSpPr/>
          <p:nvPr/>
        </p:nvSpPr>
        <p:spPr>
          <a:xfrm>
            <a:off x="1016000" y="2667000"/>
            <a:ext cx="1422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不要在 1000 附近一下說黑、一下說亮；進入黑暗與離開黑暗使用不同門檻。</a:t>
            </a:r>
            <a:endParaRPr lang="en-US" sz="2000" dirty="0"/>
          </a:p>
        </p:txBody>
      </p:sp>
      <p:sp>
        <p:nvSpPr>
          <p:cNvPr id="7" name="light_hysteresis-shape-6"/>
          <p:cNvSpPr/>
          <p:nvPr/>
        </p:nvSpPr>
        <p:spPr>
          <a:xfrm>
            <a:off x="1524000" y="3810000"/>
            <a:ext cx="13208000" cy="3302000"/>
          </a:xfrm>
          <a:prstGeom prst="roundRect">
            <a:avLst>
              <a:gd name="adj" fmla="val 3077"/>
            </a:avLst>
          </a:prstGeom>
          <a:solidFill>
            <a:srgbClr val="F5F7FA"/>
          </a:solidFill>
          <a:ln w="12700">
            <a:solidFill>
              <a:srgbClr val="CFD8DC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8" name="light_hysteresis-shape-7"/>
          <p:cNvSpPr/>
          <p:nvPr/>
        </p:nvSpPr>
        <p:spPr>
          <a:xfrm>
            <a:off x="2032000" y="4318000"/>
            <a:ext cx="12192000" cy="9144"/>
          </a:xfrm>
          <a:prstGeom prst="line">
            <a:avLst/>
          </a:prstGeom>
          <a:ln w="25400">
            <a:solidFill>
              <a:srgbClr val="00897B"/>
            </a:solidFill>
            <a:prstDash val="dash"/>
          </a:ln>
        </p:spPr>
      </p:sp>
      <p:sp>
        <p:nvSpPr>
          <p:cNvPr id="9" name="light_hysteresis-text-8"/>
          <p:cNvSpPr/>
          <p:nvPr/>
        </p:nvSpPr>
        <p:spPr>
          <a:xfrm>
            <a:off x="2032000" y="3937000"/>
            <a:ext cx="254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dirty="0">
                <a:solidFill>
                  <a:srgbClr val="00897B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重新武裝 (1100)</a:t>
            </a:r>
            <a:endParaRPr lang="en-US" sz="2000" dirty="0"/>
          </a:p>
        </p:txBody>
      </p:sp>
      <p:sp>
        <p:nvSpPr>
          <p:cNvPr id="10" name="light_hysteresis-shape-9"/>
          <p:cNvSpPr/>
          <p:nvPr/>
        </p:nvSpPr>
        <p:spPr>
          <a:xfrm>
            <a:off x="2032000" y="5842000"/>
            <a:ext cx="12192000" cy="9144"/>
          </a:xfrm>
          <a:prstGeom prst="line">
            <a:avLst/>
          </a:prstGeom>
          <a:ln w="25400">
            <a:solidFill>
              <a:srgbClr val="FF8F00"/>
            </a:solidFill>
            <a:prstDash val="dash"/>
          </a:ln>
        </p:spPr>
      </p:sp>
      <p:sp>
        <p:nvSpPr>
          <p:cNvPr id="11" name="light_hysteresis-text-10"/>
          <p:cNvSpPr/>
          <p:nvPr/>
        </p:nvSpPr>
        <p:spPr>
          <a:xfrm>
            <a:off x="2032000" y="5461000"/>
            <a:ext cx="254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dirty="0">
                <a:solidFill>
                  <a:srgbClr val="FF8F00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觸發警示 (1000)</a:t>
            </a:r>
            <a:endParaRPr lang="en-US" sz="2000" dirty="0"/>
          </a:p>
        </p:txBody>
      </p:sp>
      <p:sp>
        <p:nvSpPr>
          <p:cNvPr id="12" name="light_hysteresis-shape-11"/>
          <p:cNvSpPr/>
          <p:nvPr/>
        </p:nvSpPr>
        <p:spPr>
          <a:xfrm>
            <a:off x="3048000" y="4064000"/>
            <a:ext cx="1270000" cy="9144"/>
          </a:xfrm>
          <a:prstGeom prst="line">
            <a:avLst/>
          </a:prstGeom>
          <a:ln w="50800">
            <a:solidFill>
              <a:srgbClr val="263238"/>
            </a:solidFill>
            <a:prstDash val="solid"/>
          </a:ln>
        </p:spPr>
      </p:sp>
      <p:sp>
        <p:nvSpPr>
          <p:cNvPr id="13" name="light_hysteresis-shape-12"/>
          <p:cNvSpPr/>
          <p:nvPr/>
        </p:nvSpPr>
        <p:spPr>
          <a:xfrm>
            <a:off x="4318000" y="4064000"/>
            <a:ext cx="1524000" cy="2286000"/>
          </a:xfrm>
          <a:prstGeom prst="line">
            <a:avLst/>
          </a:prstGeom>
          <a:ln w="50800">
            <a:solidFill>
              <a:srgbClr val="263238"/>
            </a:solidFill>
            <a:prstDash val="solid"/>
          </a:ln>
        </p:spPr>
      </p:sp>
      <p:sp>
        <p:nvSpPr>
          <p:cNvPr id="14" name="light_hysteresis-shape-13"/>
          <p:cNvSpPr/>
          <p:nvPr/>
        </p:nvSpPr>
        <p:spPr>
          <a:xfrm>
            <a:off x="5842000" y="6350000"/>
            <a:ext cx="1524000" cy="9144"/>
          </a:xfrm>
          <a:prstGeom prst="line">
            <a:avLst/>
          </a:prstGeom>
          <a:ln w="50800">
            <a:solidFill>
              <a:srgbClr val="263238"/>
            </a:solidFill>
            <a:prstDash val="solid"/>
          </a:ln>
        </p:spPr>
      </p:sp>
      <p:sp>
        <p:nvSpPr>
          <p:cNvPr id="15" name="light_hysteresis-shape-14"/>
          <p:cNvSpPr/>
          <p:nvPr/>
        </p:nvSpPr>
        <p:spPr>
          <a:xfrm flipV="1">
            <a:off x="7366000" y="4064000"/>
            <a:ext cx="2540000" cy="2286000"/>
          </a:xfrm>
          <a:prstGeom prst="line">
            <a:avLst/>
          </a:prstGeom>
          <a:ln w="50800">
            <a:solidFill>
              <a:srgbClr val="263238"/>
            </a:solidFill>
            <a:prstDash val="solid"/>
          </a:ln>
        </p:spPr>
      </p:sp>
      <p:sp>
        <p:nvSpPr>
          <p:cNvPr id="16" name="light_hysteresis-shape-15"/>
          <p:cNvSpPr/>
          <p:nvPr/>
        </p:nvSpPr>
        <p:spPr>
          <a:xfrm>
            <a:off x="9906000" y="4064000"/>
            <a:ext cx="2540000" cy="9144"/>
          </a:xfrm>
          <a:prstGeom prst="line">
            <a:avLst/>
          </a:prstGeom>
          <a:ln w="50800">
            <a:solidFill>
              <a:srgbClr val="263238"/>
            </a:solidFill>
            <a:prstDash val="solid"/>
          </a:ln>
        </p:spPr>
      </p:sp>
      <p:sp>
        <p:nvSpPr>
          <p:cNvPr id="17" name="light_hysteresis-shape-16"/>
          <p:cNvSpPr/>
          <p:nvPr/>
        </p:nvSpPr>
        <p:spPr>
          <a:xfrm>
            <a:off x="5334000" y="5588000"/>
            <a:ext cx="1524000" cy="508000"/>
          </a:xfrm>
          <a:prstGeom prst="roundRect">
            <a:avLst>
              <a:gd name="adj" fmla="val 50000"/>
            </a:avLst>
          </a:prstGeom>
          <a:solidFill>
            <a:srgbClr val="FF8F00"/>
          </a:solidFill>
          <a:ln/>
        </p:spPr>
      </p:sp>
      <p:sp>
        <p:nvSpPr>
          <p:cNvPr id="18" name="light_hysteresis-text-17"/>
          <p:cNvSpPr/>
          <p:nvPr/>
        </p:nvSpPr>
        <p:spPr>
          <a:xfrm>
            <a:off x="5334000" y="5715000"/>
            <a:ext cx="152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400" dirty="0">
                <a:solidFill>
                  <a:srgbClr val="FFFFFF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觸發且 armed=false</a:t>
            </a:r>
            <a:endParaRPr lang="en-US" sz="1400" dirty="0"/>
          </a:p>
        </p:txBody>
      </p:sp>
      <p:sp>
        <p:nvSpPr>
          <p:cNvPr id="19" name="light_hysteresis-shape-18"/>
          <p:cNvSpPr/>
          <p:nvPr/>
        </p:nvSpPr>
        <p:spPr>
          <a:xfrm>
            <a:off x="9144000" y="3810000"/>
            <a:ext cx="1524000" cy="508000"/>
          </a:xfrm>
          <a:prstGeom prst="roundRect">
            <a:avLst>
              <a:gd name="adj" fmla="val 50000"/>
            </a:avLst>
          </a:prstGeom>
          <a:solidFill>
            <a:srgbClr val="00897B"/>
          </a:solidFill>
          <a:ln/>
        </p:spPr>
      </p:sp>
      <p:sp>
        <p:nvSpPr>
          <p:cNvPr id="20" name="light_hysteresis-text-19"/>
          <p:cNvSpPr/>
          <p:nvPr/>
        </p:nvSpPr>
        <p:spPr>
          <a:xfrm>
            <a:off x="9144000" y="3937000"/>
            <a:ext cx="152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400" dirty="0">
                <a:solidFill>
                  <a:srgbClr val="FFFFFF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重回 1100, armed=true</a:t>
            </a:r>
            <a:endParaRPr lang="en-US" sz="1400" dirty="0"/>
          </a:p>
        </p:txBody>
      </p:sp>
      <p:sp>
        <p:nvSpPr>
          <p:cNvPr id="21" name="light_hysteresis-text-20"/>
          <p:cNvSpPr/>
          <p:nvPr/>
        </p:nvSpPr>
        <p:spPr>
          <a:xfrm>
            <a:off x="1016000" y="7620000"/>
            <a:ext cx="1422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2000" dirty="0">
                <a:solidFill>
                  <a:srgbClr val="1A237E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解決：避免光線在門檻附近晃動時連發警示，也不把「LED 閒置」誤當「光線允許觸發」。</a:t>
            </a:r>
            <a:endParaRPr 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ive_roles-shape-1"/>
          <p:cNvSpPr/>
          <p:nvPr/>
        </p:nvSpPr>
        <p:spPr>
          <a:xfrm>
            <a:off x="0" y="1016000"/>
            <a:ext cx="16256000" cy="5080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3" name="five_roles-text-2"/>
          <p:cNvSpPr/>
          <p:nvPr/>
        </p:nvSpPr>
        <p:spPr>
          <a:xfrm>
            <a:off x="1016000" y="508000"/>
            <a:ext cx="635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546E7A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1. 先認識五個角色</a:t>
            </a:r>
            <a:endParaRPr lang="en-US" sz="1400" dirty="0"/>
          </a:p>
        </p:txBody>
      </p:sp>
      <p:sp>
        <p:nvSpPr>
          <p:cNvPr id="4" name="five_roles-text-3"/>
          <p:cNvSpPr/>
          <p:nvPr/>
        </p:nvSpPr>
        <p:spPr>
          <a:xfrm>
            <a:off x="13970000" y="508000"/>
            <a:ext cx="127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546E7A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18</a:t>
            </a:r>
            <a:endParaRPr lang="en-US" sz="1400" dirty="0"/>
          </a:p>
        </p:txBody>
      </p:sp>
      <p:sp>
        <p:nvSpPr>
          <p:cNvPr id="5" name="five_roles-text-4"/>
          <p:cNvSpPr/>
          <p:nvPr/>
        </p:nvSpPr>
        <p:spPr>
          <a:xfrm>
            <a:off x="1016000" y="1778000"/>
            <a:ext cx="1422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1A237E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把系統想成「多人提要求，一人操作燈」</a:t>
            </a:r>
            <a:endParaRPr lang="en-US" sz="3200" dirty="0"/>
          </a:p>
        </p:txBody>
      </p:sp>
      <p:graphicFrame>
        <p:nvGraphicFramePr>
          <p:cNvPr id="19" name="five_roles-table-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16000" y="3048000"/>
          <a:ext cx="14224000" cy="5080000"/>
        </p:xfrm>
        <a:graphic>
          <a:graphicData uri="http://schemas.openxmlformats.org/drawingml/2006/table">
            <a:tbl>
              <a:tblPr/>
              <a:tblGrid>
                <a:gridCol w="2370671"/>
                <a:gridCol w="3556000"/>
                <a:gridCol w="4741329"/>
                <a:gridCol w="3556000"/>
              </a:tblGrid>
              <a:tr h="762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生活角色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1A2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程式對應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1A2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負責什麼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1A2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b="1" dirty="0">
                          <a:solidFill>
                            <a:srgbClr val="FF8F00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不負責</a:t>
                      </a:r>
                      <a:r>
                        <a:rPr lang="en-US" altLang="en-US" sz="2000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什麼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1A2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863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提出要求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A2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按鈕 / 光照 / Web tasks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A2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偵測輸入、提交命令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A2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b="1" dirty="0">
                          <a:solidFill>
                            <a:srgbClr val="FF8F00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不推進色碼或寫 GPIO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1A2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3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受理窗口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800" dirty="0">
                          <a:solidFill>
                            <a:srgbClr val="333333"/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LedService.submit</a:t>
                      </a:r>
                      <a:endParaRPr lang="en-US" sz="1800" dirty="0">
                        <a:latin typeface="Roboto Mono" charset="0"/>
                        <a:ea typeface="Roboto Mono" charset="0"/>
                        <a:cs typeface="Roboto Mono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判斷接單、給 ID、預約警示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b="1" dirty="0">
                          <a:solidFill>
                            <a:srgbClr val="FF8F00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不執行閃燈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3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待辦清單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800" dirty="0">
                          <a:solidFill>
                            <a:srgbClr val="333333"/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LedService._queue</a:t>
                      </a:r>
                      <a:endParaRPr lang="en-US" sz="1800" dirty="0">
                        <a:latin typeface="Roboto Mono" charset="0"/>
                        <a:ea typeface="Roboto Mono" charset="0"/>
                        <a:cs typeface="Roboto Mono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保留待執行命令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b="1" dirty="0">
                          <a:solidFill>
                            <a:srgbClr val="FF8F00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不自己執行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3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唯一工作者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800" dirty="0">
                          <a:solidFill>
                            <a:srgbClr val="333333"/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LedService.run → _apply</a:t>
                      </a:r>
                      <a:endParaRPr lang="en-US" sz="1800" dirty="0">
                        <a:latin typeface="Roboto Mono" charset="0"/>
                        <a:ea typeface="Roboto Mono" charset="0"/>
                        <a:cs typeface="Roboto Mono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改正常狀態、推進警示、渲染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b="1" dirty="0">
                          <a:solidFill>
                            <a:srgbClr val="FF8F00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不讀按鈕或 ADC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3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操作工具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800" dirty="0">
                          <a:solidFill>
                            <a:srgbClr val="333333"/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RgbLed.write</a:t>
                      </a:r>
                      <a:endParaRPr lang="en-US" sz="1800" dirty="0">
                        <a:latin typeface="Roboto Mono" charset="0"/>
                        <a:ea typeface="Roboto Mono" charset="0"/>
                        <a:cs typeface="Roboto Mono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色碼轉三個 Pin.value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b="1" dirty="0">
                          <a:solidFill>
                            <a:srgbClr val="FF8F00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不仲裁或保存狀態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ne_service_object-shape-1"/>
          <p:cNvSpPr/>
          <p:nvPr/>
        </p:nvSpPr>
        <p:spPr>
          <a:xfrm>
            <a:off x="0" y="1016000"/>
            <a:ext cx="16256000" cy="5080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3" name="one_service_object-text-2"/>
          <p:cNvSpPr/>
          <p:nvPr/>
        </p:nvSpPr>
        <p:spPr>
          <a:xfrm>
            <a:off x="1016000" y="508000"/>
            <a:ext cx="635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546E7A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1. 先認識五個角色</a:t>
            </a:r>
            <a:endParaRPr lang="en-US" sz="1400" dirty="0"/>
          </a:p>
        </p:txBody>
      </p:sp>
      <p:sp>
        <p:nvSpPr>
          <p:cNvPr id="4" name="one_service_object-text-3"/>
          <p:cNvSpPr/>
          <p:nvPr/>
        </p:nvSpPr>
        <p:spPr>
          <a:xfrm>
            <a:off x="13970000" y="508000"/>
            <a:ext cx="127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546E7A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19</a:t>
            </a:r>
            <a:endParaRPr lang="en-US" sz="1400" dirty="0"/>
          </a:p>
        </p:txBody>
      </p:sp>
      <p:sp>
        <p:nvSpPr>
          <p:cNvPr id="5" name="one_service_object-text-4"/>
          <p:cNvSpPr/>
          <p:nvPr/>
        </p:nvSpPr>
        <p:spPr>
          <a:xfrm>
            <a:off x="1016000" y="1778000"/>
            <a:ext cx="1422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1A237E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submit 與 owner 是同一個 LedService</a:t>
            </a:r>
            <a:endParaRPr lang="en-US" sz="3200" dirty="0"/>
          </a:p>
        </p:txBody>
      </p:sp>
      <p:sp>
        <p:nvSpPr>
          <p:cNvPr id="6" name="one_service_object-text-5"/>
          <p:cNvSpPr/>
          <p:nvPr/>
        </p:nvSpPr>
        <p:spPr>
          <a:xfrm>
            <a:off x="1016000" y="2667000"/>
            <a:ext cx="1422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main 只建立「一個」物件，把受理方法與執行狀態包在一起。</a:t>
            </a:r>
            <a:endParaRPr lang="en-US" sz="2000" dirty="0"/>
          </a:p>
        </p:txBody>
      </p:sp>
      <p:sp>
        <p:nvSpPr>
          <p:cNvPr id="7" name="one_service_object-shape-6"/>
          <p:cNvSpPr/>
          <p:nvPr/>
        </p:nvSpPr>
        <p:spPr>
          <a:xfrm>
            <a:off x="4318000" y="3556000"/>
            <a:ext cx="7620000" cy="3556000"/>
          </a:xfrm>
          <a:prstGeom prst="roundRect">
            <a:avLst>
              <a:gd name="adj" fmla="val 4286"/>
            </a:avLst>
          </a:prstGeom>
          <a:solidFill>
            <a:srgbClr val="F5F7FA"/>
          </a:solidFill>
          <a:ln w="38100">
            <a:solidFill>
              <a:srgbClr val="1A237E"/>
            </a:solidFill>
            <a:prstDash val="solid"/>
          </a:ln>
        </p:spPr>
      </p:sp>
      <p:sp>
        <p:nvSpPr>
          <p:cNvPr id="8" name="one_service_object-text-7"/>
          <p:cNvSpPr/>
          <p:nvPr/>
        </p:nvSpPr>
        <p:spPr>
          <a:xfrm>
            <a:off x="4572000" y="3810000"/>
            <a:ext cx="711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3200" dirty="0">
                <a:solidFill>
                  <a:srgbClr val="1A237E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一個 LedService 物件</a:t>
            </a:r>
            <a:endParaRPr lang="en-US" sz="3200" dirty="0"/>
          </a:p>
        </p:txBody>
      </p:sp>
      <p:sp>
        <p:nvSpPr>
          <p:cNvPr id="9" name="one_service_object-shape-8"/>
          <p:cNvSpPr/>
          <p:nvPr/>
        </p:nvSpPr>
        <p:spPr>
          <a:xfrm>
            <a:off x="4826000" y="4572000"/>
            <a:ext cx="3048000" cy="203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0" name="one_service_object-text-9"/>
          <p:cNvSpPr/>
          <p:nvPr/>
        </p:nvSpPr>
        <p:spPr>
          <a:xfrm>
            <a:off x="4953000" y="4826000"/>
            <a:ext cx="2794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altLang="en-US" sz="2000" b="1" dirty="0">
                <a:solidFill>
                  <a:srgbClr val="00897B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submit() 受理</a:t>
            </a:r>
            <a:endParaRPr lang="en-US" sz="2000" dirty="0"/>
          </a:p>
          <a:p>
            <a:pPr algn="ctr" indent="0" marL="0">
              <a:lnSpc>
                <a:spcPts val="2100"/>
              </a:lnSpc>
              <a:buNone/>
            </a:pPr>
            <a:r>
              <a:rPr lang="en-US" altLang="en-US" sz="1400" dirty="0">
                <a:solidFill>
                  <a:srgbClr val="1E293B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同步方法</a:t>
            </a:r>
            <a:endParaRPr lang="en-US" sz="2000" dirty="0"/>
          </a:p>
          <a:p>
            <a:pPr algn="ctr" indent="0" marL="0">
              <a:lnSpc>
                <a:spcPts val="2100"/>
              </a:lnSpc>
              <a:buNone/>
            </a:pPr>
            <a:r>
              <a:rPr lang="en-US" altLang="en-US" sz="1400" dirty="0">
                <a:solidFill>
                  <a:srgbClr val="1E293B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管理 queue 與 receipt</a:t>
            </a:r>
            <a:endParaRPr lang="en-US" sz="2000" dirty="0"/>
          </a:p>
        </p:txBody>
      </p:sp>
      <p:sp>
        <p:nvSpPr>
          <p:cNvPr id="11" name="one_service_object-shape-10"/>
          <p:cNvSpPr/>
          <p:nvPr/>
        </p:nvSpPr>
        <p:spPr>
          <a:xfrm>
            <a:off x="8382000" y="4572000"/>
            <a:ext cx="3048000" cy="203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2" name="one_service_object-text-11"/>
          <p:cNvSpPr/>
          <p:nvPr/>
        </p:nvSpPr>
        <p:spPr>
          <a:xfrm>
            <a:off x="8509000" y="4826000"/>
            <a:ext cx="2794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altLang="en-US" sz="2000" b="1" dirty="0">
                <a:solidFill>
                  <a:srgbClr val="00897B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run() 工作者</a:t>
            </a:r>
            <a:endParaRPr lang="en-US" sz="2000" dirty="0"/>
          </a:p>
          <a:p>
            <a:pPr algn="ctr" indent="0" marL="0">
              <a:lnSpc>
                <a:spcPts val="2100"/>
              </a:lnSpc>
              <a:buNone/>
            </a:pPr>
            <a:r>
              <a:rPr lang="en-US" altLang="en-US" sz="1400" dirty="0">
                <a:solidFill>
                  <a:srgbClr val="1E293B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獨立 asyncio task</a:t>
            </a:r>
            <a:endParaRPr lang="en-US" sz="2000" dirty="0"/>
          </a:p>
          <a:p>
            <a:pPr algn="ctr" indent="0" marL="0">
              <a:lnSpc>
                <a:spcPts val="2100"/>
              </a:lnSpc>
              <a:buNone/>
            </a:pPr>
            <a:r>
              <a:rPr lang="en-US" altLang="en-US" sz="1400" dirty="0">
                <a:solidFill>
                  <a:srgbClr val="1E293B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管理色碼與硬體</a:t>
            </a:r>
            <a:endParaRPr lang="en-US" sz="2000" dirty="0"/>
          </a:p>
        </p:txBody>
      </p:sp>
      <p:sp>
        <p:nvSpPr>
          <p:cNvPr id="13" name="one_service_object-text-12"/>
          <p:cNvSpPr/>
          <p:nvPr/>
        </p:nvSpPr>
        <p:spPr>
          <a:xfrm>
            <a:off x="1016000" y="7620000"/>
            <a:ext cx="1422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altLang="en-US" sz="1800" dirty="0">
                <a:solidFill>
                  <a:srgbClr val="26323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submit</a:t>
            </a: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 在哪個來源呼叫，就在哪個來源 task 完成；</a:t>
            </a:r>
            <a:endParaRPr lang="en-US" sz="2000" dirty="0"/>
          </a:p>
          <a:p>
            <a:pPr algn="ctr" indent="0" marL="0">
              <a:lnSpc>
                <a:spcPts val="3000"/>
              </a:lnSpc>
              <a:buNone/>
            </a:pP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這不是兩個不同服務，而是</a:t>
            </a:r>
            <a:r>
              <a:rPr lang="en-US" altLang="en-US" sz="2000" b="1" dirty="0">
                <a:solidFill>
                  <a:srgbClr val="1A237E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明確的方法職責切割</a:t>
            </a: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。</a:t>
            </a:r>
            <a:endParaRPr lang="en-US" sz="2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a_model-shape-1"/>
          <p:cNvSpPr/>
          <p:nvPr/>
        </p:nvSpPr>
        <p:spPr>
          <a:xfrm>
            <a:off x="0" y="1016000"/>
            <a:ext cx="16256000" cy="5080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3" name="data_model-text-2"/>
          <p:cNvSpPr/>
          <p:nvPr/>
        </p:nvSpPr>
        <p:spPr>
          <a:xfrm>
            <a:off x="1016000" y="508000"/>
            <a:ext cx="635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546E7A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2. 分清楚命令、狀態、收據</a:t>
            </a:r>
            <a:endParaRPr lang="en-US" sz="1400" dirty="0"/>
          </a:p>
        </p:txBody>
      </p:sp>
      <p:sp>
        <p:nvSpPr>
          <p:cNvPr id="4" name="data_model-text-3"/>
          <p:cNvSpPr/>
          <p:nvPr/>
        </p:nvSpPr>
        <p:spPr>
          <a:xfrm>
            <a:off x="13970000" y="508000"/>
            <a:ext cx="127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546E7A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20</a:t>
            </a:r>
            <a:endParaRPr lang="en-US" sz="1400" dirty="0"/>
          </a:p>
        </p:txBody>
      </p:sp>
      <p:sp>
        <p:nvSpPr>
          <p:cNvPr id="5" name="data_model-text-4"/>
          <p:cNvSpPr/>
          <p:nvPr/>
        </p:nvSpPr>
        <p:spPr>
          <a:xfrm>
            <a:off x="1016000" y="1778000"/>
            <a:ext cx="1422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1A237E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四種資料不要混為一談</a:t>
            </a:r>
            <a:endParaRPr lang="en-US" sz="3200" dirty="0"/>
          </a:p>
        </p:txBody>
      </p:sp>
      <p:graphicFrame>
        <p:nvGraphicFramePr>
          <p:cNvPr id="21" name="data_model-table-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16000" y="3048000"/>
          <a:ext cx="14224000" cy="4572000"/>
        </p:xfrm>
        <a:graphic>
          <a:graphicData uri="http://schemas.openxmlformats.org/drawingml/2006/table">
            <a:tbl>
              <a:tblPr/>
              <a:tblGrid>
                <a:gridCol w="2370671"/>
                <a:gridCol w="3556000"/>
                <a:gridCol w="4741329"/>
                <a:gridCol w="3556000"/>
              </a:tblGrid>
              <a:tr h="63500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資料種類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1A2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回答什麼問題？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1A2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範例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1A2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存在哪裡？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1A2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787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命令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A2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想做什麼？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A2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800" dirty="0">
                          <a:solidFill>
                            <a:srgbClr val="333333"/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cycle</a:t>
                      </a:r>
                      <a:r>
                        <a:rPr lang="en-US" altLang="en-US" sz="2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 (前進一色)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A2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800" dirty="0">
                          <a:solidFill>
                            <a:srgbClr val="333333"/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_queue</a:t>
                      </a:r>
                      <a:r>
                        <a:rPr lang="en-US" altLang="en-US" sz="2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 裡的 tuple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1A2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7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正常狀態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平常應顯示什麼？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色碼 1、亮燈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800" dirty="0">
                          <a:solidFill>
                            <a:srgbClr val="333333"/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_desired_color</a:t>
                      </a:r>
                      <a:endParaRPr lang="en-US" sz="1800" dirty="0">
                        <a:latin typeface="Roboto Mono" charset="0"/>
                        <a:ea typeface="Roboto Mono" charset="0"/>
                        <a:cs typeface="Roboto Mono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7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警示狀態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現在暫時做什麼？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第 2 次紅亮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800" dirty="0">
                          <a:solidFill>
                            <a:srgbClr val="333333"/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_effect</a:t>
                      </a:r>
                      <a:r>
                        <a:rPr lang="en-US" altLang="en-US" sz="2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 字典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7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收據 Receipt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這筆要求處理到哪？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ID 10, </a:t>
                      </a:r>
                      <a:r>
                        <a:rPr lang="en-US" altLang="en-US" sz="1800" dirty="0">
                          <a:solidFill>
                            <a:srgbClr val="333333"/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accepted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800" dirty="0">
                          <a:solidFill>
                            <a:srgbClr val="333333"/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_results</a:t>
                      </a:r>
                      <a:r>
                        <a:rPr lang="en-US" altLang="en-US" sz="2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 與 queue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7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實際輸出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此刻 GPIO 是什麼？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紅色 4 或 全滅 0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硬體 GPIO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in_wiring-shape-1"/>
          <p:cNvSpPr/>
          <p:nvPr/>
        </p:nvSpPr>
        <p:spPr>
          <a:xfrm>
            <a:off x="0" y="1016000"/>
            <a:ext cx="16256000" cy="5080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3" name="main_wiring-text-2"/>
          <p:cNvSpPr/>
          <p:nvPr/>
        </p:nvSpPr>
        <p:spPr>
          <a:xfrm>
            <a:off x="1016000" y="508000"/>
            <a:ext cx="635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546E7A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3. 開始前，main 如何接線？</a:t>
            </a:r>
            <a:endParaRPr lang="en-US" sz="1400" dirty="0"/>
          </a:p>
        </p:txBody>
      </p:sp>
      <p:sp>
        <p:nvSpPr>
          <p:cNvPr id="4" name="main_wiring-text-3"/>
          <p:cNvSpPr/>
          <p:nvPr/>
        </p:nvSpPr>
        <p:spPr>
          <a:xfrm>
            <a:off x="13970000" y="508000"/>
            <a:ext cx="127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546E7A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21</a:t>
            </a:r>
            <a:endParaRPr lang="en-US" sz="1400" dirty="0"/>
          </a:p>
        </p:txBody>
      </p:sp>
      <p:sp>
        <p:nvSpPr>
          <p:cNvPr id="5" name="main_wiring-text-4"/>
          <p:cNvSpPr/>
          <p:nvPr/>
        </p:nvSpPr>
        <p:spPr>
          <a:xfrm>
            <a:off x="1016000" y="1778000"/>
            <a:ext cx="1422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1A237E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開始前：main 如何把角色接起來</a:t>
            </a:r>
            <a:endParaRPr lang="en-US" sz="3200" dirty="0"/>
          </a:p>
        </p:txBody>
      </p:sp>
      <p:sp>
        <p:nvSpPr>
          <p:cNvPr id="6" name="main_wiring-shape-5"/>
          <p:cNvSpPr/>
          <p:nvPr/>
        </p:nvSpPr>
        <p:spPr>
          <a:xfrm>
            <a:off x="1524000" y="3048000"/>
            <a:ext cx="13208000" cy="4572000"/>
          </a:xfrm>
          <a:prstGeom prst="roundRect">
            <a:avLst>
              <a:gd name="adj" fmla="val 2222"/>
            </a:avLst>
          </a:prstGeom>
          <a:solidFill>
            <a:srgbClr val="F5F7FA"/>
          </a:solidFill>
          <a:ln w="12700">
            <a:solidFill>
              <a:srgbClr val="CFD8DC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7" name="main_wiring-text-6"/>
          <p:cNvSpPr/>
          <p:nvPr/>
        </p:nvSpPr>
        <p:spPr>
          <a:xfrm>
            <a:off x="2032000" y="3556000"/>
            <a:ext cx="1219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1A237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1. await initialize_system() → 取得 RgbLed (已安全熄燈)</a:t>
            </a:r>
            <a:endParaRPr lang="en-US" sz="1800" dirty="0"/>
          </a:p>
        </p:txBody>
      </p:sp>
      <p:sp>
        <p:nvSpPr>
          <p:cNvPr id="8" name="main_wiring-text-7"/>
          <p:cNvSpPr/>
          <p:nvPr/>
        </p:nvSpPr>
        <p:spPr>
          <a:xfrm>
            <a:off x="2032000" y="4318000"/>
            <a:ext cx="1219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26323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2. led_service = LedService(rgb_led)</a:t>
            </a:r>
            <a:endParaRPr lang="en-US" sz="1800" dirty="0"/>
          </a:p>
        </p:txBody>
      </p:sp>
      <p:sp>
        <p:nvSpPr>
          <p:cNvPr id="9" name="main_wiring-text-8"/>
          <p:cNvSpPr/>
          <p:nvPr/>
        </p:nvSpPr>
        <p:spPr>
          <a:xfrm>
            <a:off x="2032000" y="5080000"/>
            <a:ext cx="1219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00897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3. asyncio.create_task(led_service.run()) → owner 排入等候</a:t>
            </a:r>
            <a:endParaRPr lang="en-US" sz="1800" dirty="0"/>
          </a:p>
        </p:txBody>
      </p:sp>
      <p:sp>
        <p:nvSpPr>
          <p:cNvPr id="10" name="main_wiring-text-9"/>
          <p:cNvSpPr/>
          <p:nvPr/>
        </p:nvSpPr>
        <p:spPr>
          <a:xfrm>
            <a:off x="2032000" y="5842000"/>
            <a:ext cx="1219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26323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4. web_server.led_service = led_service</a:t>
            </a:r>
            <a:endParaRPr lang="en-US" sz="1800" dirty="0"/>
          </a:p>
        </p:txBody>
      </p:sp>
      <p:sp>
        <p:nvSpPr>
          <p:cNvPr id="11" name="main_wiring-text-10"/>
          <p:cNvSpPr/>
          <p:nvPr/>
        </p:nvSpPr>
        <p:spPr>
          <a:xfrm>
            <a:off x="2032000" y="6604000"/>
            <a:ext cx="1219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26323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5. start_tasks(..., led_service, ...) → 按鈕與光照啟動</a:t>
            </a:r>
            <a:endParaRPr lang="en-US" sz="1800" dirty="0"/>
          </a:p>
        </p:txBody>
      </p:sp>
      <p:sp>
        <p:nvSpPr>
          <p:cNvPr id="12" name="main_wiring-text-11"/>
          <p:cNvSpPr/>
          <p:nvPr/>
        </p:nvSpPr>
        <p:spPr>
          <a:xfrm>
            <a:off x="1016000" y="8128000"/>
            <a:ext cx="1422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2000" dirty="0">
                <a:solidFill>
                  <a:srgbClr val="FF8F00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create_task 不代表當行指令立即寫 GPIO。owner 取得排程後才首次渲染白色。</a:t>
            </a:r>
            <a:endParaRPr lang="en-US" sz="2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_button_sequence-shape-1"/>
          <p:cNvSpPr/>
          <p:nvPr/>
        </p:nvSpPr>
        <p:spPr>
          <a:xfrm>
            <a:off x="0" y="1016000"/>
            <a:ext cx="16256000" cy="5080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3" name="case_button_sequence-text-2"/>
          <p:cNvSpPr/>
          <p:nvPr/>
        </p:nvSpPr>
        <p:spPr>
          <a:xfrm>
            <a:off x="1016000" y="508000"/>
            <a:ext cx="635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546E7A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4. 案例一：正常時按下實體按鈕 1</a:t>
            </a:r>
            <a:endParaRPr lang="en-US" sz="1400" dirty="0"/>
          </a:p>
        </p:txBody>
      </p:sp>
      <p:sp>
        <p:nvSpPr>
          <p:cNvPr id="4" name="case_button_sequence-text-3"/>
          <p:cNvSpPr/>
          <p:nvPr/>
        </p:nvSpPr>
        <p:spPr>
          <a:xfrm>
            <a:off x="13970000" y="508000"/>
            <a:ext cx="127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546E7A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22</a:t>
            </a:r>
            <a:endParaRPr lang="en-US" sz="1400" dirty="0"/>
          </a:p>
        </p:txBody>
      </p:sp>
      <p:sp>
        <p:nvSpPr>
          <p:cNvPr id="5" name="case_button_sequence-text-4"/>
          <p:cNvSpPr/>
          <p:nvPr/>
        </p:nvSpPr>
        <p:spPr>
          <a:xfrm>
            <a:off x="1016000" y="1778000"/>
            <a:ext cx="1422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1A237E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案例一：正常時按下實體按鈕（時序拆解）</a:t>
            </a:r>
            <a:endParaRPr lang="en-US" sz="3200" dirty="0"/>
          </a:p>
        </p:txBody>
      </p:sp>
      <p:sp>
        <p:nvSpPr>
          <p:cNvPr id="6" name="case_button_sequence-text-5"/>
          <p:cNvSpPr/>
          <p:nvPr/>
        </p:nvSpPr>
        <p:spPr>
          <a:xfrm>
            <a:off x="1016000" y="2667000"/>
            <a:ext cx="1422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dirty="0">
                <a:solidFill>
                  <a:srgbClr val="546E7A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初始條件：LED 藍 1、busy=false、queue 空。目標：按一次變成綠 2。</a:t>
            </a:r>
            <a:endParaRPr lang="en-US" sz="2000" dirty="0"/>
          </a:p>
        </p:txBody>
      </p:sp>
      <p:graphicFrame>
        <p:nvGraphicFramePr>
          <p:cNvPr id="23" name="case_button_sequence-table-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16000" y="3302000"/>
          <a:ext cx="14224000" cy="4572000"/>
        </p:xfrm>
        <a:graphic>
          <a:graphicData uri="http://schemas.openxmlformats.org/drawingml/2006/table">
            <a:tbl>
              <a:tblPr/>
              <a:tblGrid>
                <a:gridCol w="1422400"/>
                <a:gridCol w="4267200"/>
                <a:gridCol w="5689600"/>
                <a:gridCol w="2844800"/>
              </a:tblGrid>
              <a:tr h="508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#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1A2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哪個程式在跑？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1A2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呼叫 / 資料變化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1A2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碰 GPIO 嗎？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1A2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67733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1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A2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800" dirty="0">
                          <a:solidFill>
                            <a:srgbClr val="333333"/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button1_task</a:t>
                      </a:r>
                      <a:endParaRPr lang="en-US" sz="1800" dirty="0">
                        <a:latin typeface="Roboto Mono" charset="0"/>
                        <a:ea typeface="Roboto Mono" charset="0"/>
                        <a:cs typeface="Roboto Mono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A2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800" dirty="0">
                          <a:solidFill>
                            <a:srgbClr val="333333"/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wait_press(reject_if=busy)</a:t>
                      </a:r>
                      <a:endParaRPr lang="en-US" sz="1800" dirty="0">
                        <a:latin typeface="Roboto Mono" charset="0"/>
                        <a:ea typeface="Roboto Mono" charset="0"/>
                        <a:cs typeface="Roboto Mono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A2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只讀按鈕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1A2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733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2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800" dirty="0">
                          <a:solidFill>
                            <a:srgbClr val="333333"/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Button</a:t>
                      </a:r>
                      <a:r>
                        <a:rPr lang="en-US" altLang="en-US" sz="2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 物件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穩定按下，</a:t>
                      </a:r>
                      <a:r>
                        <a:rPr lang="en-US" altLang="en-US" sz="1800" dirty="0">
                          <a:solidFill>
                            <a:srgbClr val="333333"/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press_rejected=false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只讀按鈕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733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3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800" dirty="0">
                          <a:solidFill>
                            <a:srgbClr val="333333"/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button1_task</a:t>
                      </a:r>
                      <a:endParaRPr lang="en-US" sz="1800" dirty="0">
                        <a:latin typeface="Roboto Mono" charset="0"/>
                        <a:ea typeface="Roboto Mono" charset="0"/>
                        <a:cs typeface="Roboto Mono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800" dirty="0">
                          <a:solidFill>
                            <a:srgbClr val="333333"/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submit(cycle, button1)</a:t>
                      </a:r>
                      <a:endParaRPr lang="en-US" sz="1800" dirty="0">
                        <a:latin typeface="Roboto Mono" charset="0"/>
                        <a:ea typeface="Roboto Mono" charset="0"/>
                        <a:cs typeface="Roboto Mono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b="1" dirty="0">
                          <a:solidFill>
                            <a:srgbClr val="00897B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不碰 LED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733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4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800" dirty="0">
                          <a:solidFill>
                            <a:srgbClr val="333333"/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submit</a:t>
                      </a:r>
                      <a:r>
                        <a:rPr lang="en-US" altLang="en-US" sz="2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 窗口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建 receipt 10，加入 queue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b="1" dirty="0">
                          <a:solidFill>
                            <a:srgbClr val="00897B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不碰 LED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733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5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800" dirty="0">
                          <a:solidFill>
                            <a:srgbClr val="333333"/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owner.run</a:t>
                      </a:r>
                      <a:r>
                        <a:rPr lang="en-US" altLang="en-US" sz="2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 (稍後)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取命令，推進色碼 1 → 2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尚未寫入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733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6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800" dirty="0">
                          <a:solidFill>
                            <a:srgbClr val="333333"/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owner</a:t>
                      </a:r>
                      <a:r>
                        <a:rPr lang="en-US" altLang="en-US" sz="2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 → </a:t>
                      </a:r>
                      <a:r>
                        <a:rPr lang="en-US" altLang="en-US" sz="1800" dirty="0">
                          <a:solidFill>
                            <a:srgbClr val="333333"/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RgbLed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800" dirty="0">
                          <a:solidFill>
                            <a:srgbClr val="333333"/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write(2)</a:t>
                      </a:r>
                      <a:r>
                        <a:rPr lang="en-US" altLang="en-US" sz="2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 → R=0, G=1, B=0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b="1" dirty="0">
                          <a:solidFill>
                            <a:srgbClr val="FF8F00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唯一寫入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_button_timeline-shape-1"/>
          <p:cNvSpPr/>
          <p:nvPr/>
        </p:nvSpPr>
        <p:spPr>
          <a:xfrm>
            <a:off x="0" y="1016000"/>
            <a:ext cx="16256000" cy="5080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3" name="case_button_timeline-text-2"/>
          <p:cNvSpPr/>
          <p:nvPr/>
        </p:nvSpPr>
        <p:spPr>
          <a:xfrm>
            <a:off x="1016000" y="508000"/>
            <a:ext cx="635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546E7A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4. 案例一：正常時按下實體按鈕 1</a:t>
            </a:r>
            <a:endParaRPr lang="en-US" sz="1400" dirty="0"/>
          </a:p>
        </p:txBody>
      </p:sp>
      <p:sp>
        <p:nvSpPr>
          <p:cNvPr id="4" name="case_button_timeline-text-3"/>
          <p:cNvSpPr/>
          <p:nvPr/>
        </p:nvSpPr>
        <p:spPr>
          <a:xfrm>
            <a:off x="13970000" y="508000"/>
            <a:ext cx="127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546E7A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23</a:t>
            </a:r>
            <a:endParaRPr lang="en-US" sz="1400" dirty="0"/>
          </a:p>
        </p:txBody>
      </p:sp>
      <p:sp>
        <p:nvSpPr>
          <p:cNvPr id="5" name="case_button_timeline-text-4"/>
          <p:cNvSpPr/>
          <p:nvPr/>
        </p:nvSpPr>
        <p:spPr>
          <a:xfrm>
            <a:off x="1016000" y="1778000"/>
            <a:ext cx="1422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1A237E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案例一拆解：三個關鍵時點的狀態</a:t>
            </a:r>
            <a:endParaRPr lang="en-US" sz="3200" dirty="0"/>
          </a:p>
        </p:txBody>
      </p:sp>
      <p:graphicFrame>
        <p:nvGraphicFramePr>
          <p:cNvPr id="24" name="case_button_timeline-table-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16000" y="3048000"/>
          <a:ext cx="14224000" cy="2540000"/>
        </p:xfrm>
        <a:graphic>
          <a:graphicData uri="http://schemas.openxmlformats.org/drawingml/2006/table">
            <a:tbl>
              <a:tblPr/>
              <a:tblGrid>
                <a:gridCol w="2844800"/>
                <a:gridCol w="2844800"/>
                <a:gridCol w="2844800"/>
                <a:gridCol w="2844800"/>
                <a:gridCol w="2844800"/>
              </a:tblGrid>
              <a:tr h="635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時點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1A2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_queue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1A2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正常色碼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1A2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LED 實際輸出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1A2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Receipt 10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1A2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1. 按下前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A2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空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A2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800" dirty="0">
                          <a:solidFill>
                            <a:srgbClr val="333333"/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1</a:t>
                      </a:r>
                      <a:endParaRPr lang="en-US" sz="1800" dirty="0">
                        <a:latin typeface="Roboto Mono" charset="0"/>
                        <a:ea typeface="Roboto Mono" charset="0"/>
                        <a:cs typeface="Roboto Mono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A2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b="1" dirty="0">
                          <a:solidFill>
                            <a:srgbClr val="1A237E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藍 1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A2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(尚未產生)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1A2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2. submit 完成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800" dirty="0">
                          <a:solidFill>
                            <a:srgbClr val="333333"/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[cycle 10]</a:t>
                      </a:r>
                      <a:endParaRPr lang="en-US" sz="1800" dirty="0">
                        <a:latin typeface="Roboto Mono" charset="0"/>
                        <a:ea typeface="Roboto Mono" charset="0"/>
                        <a:cs typeface="Roboto Mono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800" dirty="0">
                          <a:solidFill>
                            <a:srgbClr val="333333"/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1</a:t>
                      </a:r>
                      <a:endParaRPr lang="en-US" sz="1800" dirty="0">
                        <a:latin typeface="Roboto Mono" charset="0"/>
                        <a:ea typeface="Roboto Mono" charset="0"/>
                        <a:cs typeface="Roboto Mono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b="1" dirty="0">
                          <a:solidFill>
                            <a:srgbClr val="1A237E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藍 1</a:t>
                      </a:r>
                      <a:r>
                        <a:rPr lang="en-US" altLang="en-US" sz="2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 (還沒換)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800" dirty="0">
                          <a:solidFill>
                            <a:srgbClr val="333333"/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accepted</a:t>
                      </a:r>
                      <a:endParaRPr lang="en-US" sz="1800" dirty="0">
                        <a:latin typeface="Roboto Mono" charset="0"/>
                        <a:ea typeface="Roboto Mono" charset="0"/>
                        <a:cs typeface="Roboto Mono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3. owner 執行完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空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800" dirty="0">
                          <a:solidFill>
                            <a:srgbClr val="333333"/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2</a:t>
                      </a:r>
                      <a:endParaRPr lang="en-US" sz="1800" dirty="0">
                        <a:latin typeface="Roboto Mono" charset="0"/>
                        <a:ea typeface="Roboto Mono" charset="0"/>
                        <a:cs typeface="Roboto Mono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b="1" dirty="0">
                          <a:solidFill>
                            <a:srgbClr val="00897B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綠 2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800" dirty="0">
                          <a:solidFill>
                            <a:srgbClr val="333333"/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executed</a:t>
                      </a:r>
                      <a:endParaRPr lang="en-US" sz="1800" dirty="0">
                        <a:latin typeface="Roboto Mono" charset="0"/>
                        <a:ea typeface="Roboto Mono" charset="0"/>
                        <a:cs typeface="Roboto Mono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7" name="case_button_timeline-shape-6"/>
          <p:cNvSpPr/>
          <p:nvPr/>
        </p:nvSpPr>
        <p:spPr>
          <a:xfrm>
            <a:off x="1016000" y="6096000"/>
            <a:ext cx="14224000" cy="1524000"/>
          </a:xfrm>
          <a:prstGeom prst="roundRect">
            <a:avLst>
              <a:gd name="adj" fmla="val 6667"/>
            </a:avLst>
          </a:prstGeom>
          <a:solidFill>
            <a:srgbClr val="F5F7FA"/>
          </a:solidFill>
          <a:ln/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8" name="case_button_timeline-text-7"/>
          <p:cNvSpPr/>
          <p:nvPr/>
        </p:nvSpPr>
        <p:spPr>
          <a:xfrm>
            <a:off x="1270000" y="6350000"/>
            <a:ext cx="1371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altLang="en-US" sz="2000" b="1" dirty="0">
                <a:solidFill>
                  <a:srgbClr val="FF8F00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關鍵問題：為何按鈕不自己算下一色，直接送色碼？</a:t>
            </a:r>
            <a:endParaRPr lang="en-US" sz="2000" dirty="0"/>
          </a:p>
          <a:p>
            <a:pPr algn="l" indent="0" marL="0">
              <a:lnSpc>
                <a:spcPts val="3000"/>
              </a:lnSpc>
              <a:buNone/>
            </a:pP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因為按鈕與 Web 若各自「讀→改→寫」，會把狀態責任分散。兩者都只提交 </a:t>
            </a:r>
            <a:r>
              <a:rPr lang="en-US" altLang="en-US" sz="1800" dirty="0">
                <a:solidFill>
                  <a:srgbClr val="26323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cycle</a:t>
            </a: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，owner 就能依序推進；即使同一輪處理，也不會因為讀到舊狀態而互相覆蓋變更。</a:t>
            </a:r>
            <a:endParaRPr lang="en-US" sz="2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_low_light_sequence-shape-1"/>
          <p:cNvSpPr/>
          <p:nvPr/>
        </p:nvSpPr>
        <p:spPr>
          <a:xfrm>
            <a:off x="0" y="1016000"/>
            <a:ext cx="16256000" cy="5080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3" name="case_low_light_sequence-text-2"/>
          <p:cNvSpPr/>
          <p:nvPr/>
        </p:nvSpPr>
        <p:spPr>
          <a:xfrm>
            <a:off x="1016000" y="508000"/>
            <a:ext cx="635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546E7A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5. 案例二：光照低於閾值</a:t>
            </a:r>
            <a:endParaRPr lang="en-US" sz="1400" dirty="0"/>
          </a:p>
        </p:txBody>
      </p:sp>
      <p:sp>
        <p:nvSpPr>
          <p:cNvPr id="4" name="case_low_light_sequence-text-3"/>
          <p:cNvSpPr/>
          <p:nvPr/>
        </p:nvSpPr>
        <p:spPr>
          <a:xfrm>
            <a:off x="13970000" y="508000"/>
            <a:ext cx="127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546E7A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24</a:t>
            </a:r>
            <a:endParaRPr lang="en-US" sz="1400" dirty="0"/>
          </a:p>
        </p:txBody>
      </p:sp>
      <p:sp>
        <p:nvSpPr>
          <p:cNvPr id="5" name="case_low_light_sequence-text-4"/>
          <p:cNvSpPr/>
          <p:nvPr/>
        </p:nvSpPr>
        <p:spPr>
          <a:xfrm>
            <a:off x="1016000" y="1778000"/>
            <a:ext cx="1422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1A237E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案例二：光照低於閾值（流程）</a:t>
            </a:r>
            <a:endParaRPr lang="en-US" sz="3200" dirty="0"/>
          </a:p>
        </p:txBody>
      </p:sp>
      <p:sp>
        <p:nvSpPr>
          <p:cNvPr id="6" name="case_low_light_sequence-text-5"/>
          <p:cNvSpPr/>
          <p:nvPr/>
        </p:nvSpPr>
        <p:spPr>
          <a:xfrm>
            <a:off x="1016000" y="2667000"/>
            <a:ext cx="1422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dirty="0">
                <a:solidFill>
                  <a:srgbClr val="546E7A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初始條件：LED 藍 1、armed=true、busy=false；ADC=900。</a:t>
            </a:r>
            <a:endParaRPr lang="en-US" sz="2000" dirty="0"/>
          </a:p>
        </p:txBody>
      </p:sp>
      <p:sp>
        <p:nvSpPr>
          <p:cNvPr id="7" name="case_low_light_sequence-shape-6"/>
          <p:cNvSpPr/>
          <p:nvPr/>
        </p:nvSpPr>
        <p:spPr>
          <a:xfrm>
            <a:off x="1016000" y="3302000"/>
            <a:ext cx="14224000" cy="4572000"/>
          </a:xfrm>
          <a:prstGeom prst="roundRect">
            <a:avLst>
              <a:gd name="adj" fmla="val 2222"/>
            </a:avLst>
          </a:prstGeom>
          <a:solidFill>
            <a:srgbClr val="F5F7FA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8" name="case_low_light_sequence-text-7"/>
          <p:cNvSpPr/>
          <p:nvPr/>
        </p:nvSpPr>
        <p:spPr>
          <a:xfrm>
            <a:off x="1524000" y="3683000"/>
            <a:ext cx="13208000" cy="38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17500" indent="-317500">
              <a:lnSpc>
                <a:spcPts val="2880"/>
              </a:lnSpc>
              <a:spcBef>
                <a:spcPts val="10"/>
              </a:spcBef>
              <a:buSzPct val="100000"/>
              <a:buFont typeface="+mj-lt"/>
              <a:buAutoNum type="arabicPeriod" startAt="1"/>
            </a:pPr>
            <a:r>
              <a:rPr lang="en-US" altLang="en-US" sz="1800" dirty="0">
                <a:solidFill>
                  <a:srgbClr val="26323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light_sensor_task</a:t>
            </a: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 拿到 ADC 900。條件符合，提交警示。</a:t>
            </a:r>
            <a:endParaRPr lang="en-US" sz="2000" dirty="0"/>
          </a:p>
          <a:p>
            <a:pPr algn="l" marL="317500" indent="-317500">
              <a:lnSpc>
                <a:spcPts val="2880"/>
              </a:lnSpc>
              <a:spcBef>
                <a:spcPts val="10"/>
              </a:spcBef>
              <a:buSzPct val="100000"/>
              <a:buFont typeface="+mj-lt"/>
              <a:buAutoNum type="arabicPeriod" startAt="2"/>
            </a:pPr>
            <a:r>
              <a:rPr lang="en-US" altLang="en-US" sz="1800" dirty="0">
                <a:solidFill>
                  <a:srgbClr val="26323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submit()</a:t>
            </a: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 立即把 </a:t>
            </a:r>
            <a:r>
              <a:rPr lang="en-US" altLang="en-US" sz="1800" dirty="0">
                <a:solidFill>
                  <a:srgbClr val="26323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_reserved = True</a:t>
            </a: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（從這刻起禁止新換色），回覆 </a:t>
            </a:r>
            <a:r>
              <a:rPr lang="en-US" altLang="en-US" sz="1800" dirty="0">
                <a:solidFill>
                  <a:srgbClr val="26323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accepted</a:t>
            </a: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。</a:t>
            </a:r>
            <a:endParaRPr lang="en-US" sz="2000" dirty="0"/>
          </a:p>
          <a:p>
            <a:pPr algn="l" marL="317500" indent="-317500">
              <a:lnSpc>
                <a:spcPts val="3200"/>
              </a:lnSpc>
              <a:spcBef>
                <a:spcPts val="10"/>
              </a:spcBef>
              <a:buSzPct val="100000"/>
              <a:buFont typeface="+mj-lt"/>
              <a:buAutoNum type="arabicPeriod" startAt="3"/>
            </a:pP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光照 task 看到受理成功，把 </a:t>
            </a:r>
            <a:r>
              <a:rPr lang="en-US" altLang="en-US" sz="1800" dirty="0">
                <a:solidFill>
                  <a:srgbClr val="26323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armed = False</a:t>
            </a: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 並等待下一輪取樣。</a:t>
            </a:r>
            <a:endParaRPr lang="en-US" sz="2000" dirty="0"/>
          </a:p>
          <a:p>
            <a:pPr algn="l" marL="317500" indent="-317500">
              <a:lnSpc>
                <a:spcPts val="3200"/>
              </a:lnSpc>
              <a:spcBef>
                <a:spcPts val="10"/>
              </a:spcBef>
              <a:buSzPct val="100000"/>
              <a:buFont typeface="+mj-lt"/>
              <a:buAutoNum type="arabicPeriod" startAt="4"/>
            </a:pP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owner 取出警示 11，建立 </a:t>
            </a:r>
            <a:r>
              <a:rPr lang="en-US" altLang="en-US" sz="1800" dirty="0">
                <a:solidFill>
                  <a:srgbClr val="26323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_effect</a:t>
            </a: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，保存原本的「藍 1 亮燈」。</a:t>
            </a:r>
            <a:endParaRPr lang="en-US" sz="2000" dirty="0"/>
          </a:p>
          <a:p>
            <a:pPr algn="l" marL="317500" indent="-317500">
              <a:lnSpc>
                <a:spcPts val="3200"/>
              </a:lnSpc>
              <a:spcBef>
                <a:spcPts val="10"/>
              </a:spcBef>
              <a:buSzPct val="100000"/>
              <a:buFont typeface="+mj-lt"/>
              <a:buAutoNum type="arabicPeriod" startAt="5"/>
            </a:pP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owner 依時間推進：</a:t>
            </a:r>
            <a:r>
              <a:rPr lang="en-US" altLang="en-US" sz="2000" b="1" dirty="0">
                <a:solidFill>
                  <a:srgbClr val="FF8F00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紅 4 → 全滅 0 → 紅 4 ... 循環五次</a:t>
            </a: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。</a:t>
            </a:r>
            <a:endParaRPr lang="en-US" sz="2000" dirty="0"/>
          </a:p>
          <a:p>
            <a:pPr algn="l" marL="317500" indent="-317500">
              <a:lnSpc>
                <a:spcPts val="3200"/>
              </a:lnSpc>
              <a:spcBef>
                <a:spcPts val="10"/>
              </a:spcBef>
              <a:buSzPct val="100000"/>
              <a:buFont typeface="+mj-lt"/>
              <a:buAutoNum type="arabicPeriod" startAt="6"/>
            </a:pP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第五次全滅結束後，owner 恢復 </a:t>
            </a:r>
            <a:r>
              <a:rPr lang="en-US" altLang="en-US" sz="1800" dirty="0">
                <a:solidFill>
                  <a:srgbClr val="26323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_desired_color</a:t>
            </a: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，寫入藍 1。</a:t>
            </a:r>
            <a:endParaRPr lang="en-US" sz="2000" dirty="0"/>
          </a:p>
          <a:p>
            <a:pPr algn="l" marL="317500" indent="-317500">
              <a:lnSpc>
                <a:spcPts val="3200"/>
              </a:lnSpc>
              <a:spcBef>
                <a:spcPts val="10"/>
              </a:spcBef>
              <a:buSzPct val="100000"/>
              <a:buFont typeface="+mj-lt"/>
              <a:buAutoNum type="arabicPeriod" startAt="7"/>
            </a:pP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最後才把警示 11 標為 </a:t>
            </a:r>
            <a:r>
              <a:rPr lang="en-US" altLang="en-US" sz="1800" dirty="0">
                <a:solidFill>
                  <a:srgbClr val="26323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executed</a:t>
            </a: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，並解除 </a:t>
            </a:r>
            <a:r>
              <a:rPr lang="en-US" altLang="en-US" sz="1800" dirty="0">
                <a:solidFill>
                  <a:srgbClr val="26323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_reserved = False</a:t>
            </a: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。</a:t>
            </a:r>
            <a:endParaRPr lang="en-US" sz="2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_low_light_timeline-shape-1"/>
          <p:cNvSpPr/>
          <p:nvPr/>
        </p:nvSpPr>
        <p:spPr>
          <a:xfrm>
            <a:off x="0" y="1016000"/>
            <a:ext cx="16256000" cy="5080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3" name="case_low_light_timeline-text-2"/>
          <p:cNvSpPr/>
          <p:nvPr/>
        </p:nvSpPr>
        <p:spPr>
          <a:xfrm>
            <a:off x="1016000" y="508000"/>
            <a:ext cx="635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546E7A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5. 案例二：光照低於閾值</a:t>
            </a:r>
            <a:endParaRPr lang="en-US" sz="1400" dirty="0"/>
          </a:p>
        </p:txBody>
      </p:sp>
      <p:sp>
        <p:nvSpPr>
          <p:cNvPr id="4" name="case_low_light_timeline-text-3"/>
          <p:cNvSpPr/>
          <p:nvPr/>
        </p:nvSpPr>
        <p:spPr>
          <a:xfrm>
            <a:off x="13970000" y="508000"/>
            <a:ext cx="127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546E7A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25</a:t>
            </a:r>
            <a:endParaRPr lang="en-US" sz="1400" dirty="0"/>
          </a:p>
        </p:txBody>
      </p:sp>
      <p:sp>
        <p:nvSpPr>
          <p:cNvPr id="5" name="case_low_light_timeline-text-4"/>
          <p:cNvSpPr/>
          <p:nvPr/>
        </p:nvSpPr>
        <p:spPr>
          <a:xfrm>
            <a:off x="1016000" y="1778000"/>
            <a:ext cx="1422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1A237E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案例二拆解：busy 涵蓋預約到恢復</a:t>
            </a:r>
            <a:endParaRPr lang="en-US" sz="3200" dirty="0"/>
          </a:p>
        </p:txBody>
      </p:sp>
      <p:graphicFrame>
        <p:nvGraphicFramePr>
          <p:cNvPr id="26" name="case_low_light_timeline-table-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16000" y="3048000"/>
          <a:ext cx="14224000" cy="3556000"/>
        </p:xfrm>
        <a:graphic>
          <a:graphicData uri="http://schemas.openxmlformats.org/drawingml/2006/table">
            <a:tbl>
              <a:tblPr/>
              <a:tblGrid>
                <a:gridCol w="3346819"/>
                <a:gridCol w="1673409"/>
                <a:gridCol w="1673409"/>
                <a:gridCol w="2510121"/>
                <a:gridCol w="2510121"/>
                <a:gridCol w="2510121"/>
              </a:tblGrid>
              <a:tr h="6349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時點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1A2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armed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1A2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busy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1A2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正常色碼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1A2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effect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1A2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實際輸出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1A2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偵測前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A2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800" dirty="0">
                          <a:solidFill>
                            <a:srgbClr val="333333"/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T</a:t>
                      </a:r>
                      <a:endParaRPr lang="en-US" sz="1800" dirty="0">
                        <a:latin typeface="Roboto Mono" charset="0"/>
                        <a:ea typeface="Roboto Mono" charset="0"/>
                        <a:cs typeface="Roboto Mono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A2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800" dirty="0">
                          <a:solidFill>
                            <a:srgbClr val="333333"/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F</a:t>
                      </a:r>
                      <a:endParaRPr lang="en-US" sz="1800" dirty="0">
                        <a:latin typeface="Roboto Mono" charset="0"/>
                        <a:ea typeface="Roboto Mono" charset="0"/>
                        <a:cs typeface="Roboto Mono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A2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b="1" dirty="0">
                          <a:solidFill>
                            <a:srgbClr val="1A237E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1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A2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800" dirty="0">
                          <a:solidFill>
                            <a:srgbClr val="333333"/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None</a:t>
                      </a:r>
                      <a:endParaRPr lang="en-US" sz="1800" dirty="0">
                        <a:latin typeface="Roboto Mono" charset="0"/>
                        <a:ea typeface="Roboto Mono" charset="0"/>
                        <a:cs typeface="Roboto Mono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A2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b="1" dirty="0">
                          <a:solidFill>
                            <a:srgbClr val="1A237E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藍 1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1A2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b="1" dirty="0">
                          <a:solidFill>
                            <a:srgbClr val="FF8F00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已受理，未執行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800" dirty="0">
                          <a:solidFill>
                            <a:srgbClr val="333333"/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F</a:t>
                      </a:r>
                      <a:endParaRPr lang="en-US" sz="1800" dirty="0">
                        <a:latin typeface="Roboto Mono" charset="0"/>
                        <a:ea typeface="Roboto Mono" charset="0"/>
                        <a:cs typeface="Roboto Mono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b="1" dirty="0">
                          <a:solidFill>
                            <a:srgbClr val="FF8F00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T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b="1" dirty="0">
                          <a:solidFill>
                            <a:srgbClr val="1A237E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1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800" dirty="0">
                          <a:solidFill>
                            <a:srgbClr val="333333"/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None</a:t>
                      </a:r>
                      <a:endParaRPr lang="en-US" sz="1800" dirty="0">
                        <a:latin typeface="Roboto Mono" charset="0"/>
                        <a:ea typeface="Roboto Mono" charset="0"/>
                        <a:cs typeface="Roboto Mono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b="1" dirty="0">
                          <a:solidFill>
                            <a:srgbClr val="1A237E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藍 1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第一次紅亮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800" dirty="0">
                          <a:solidFill>
                            <a:srgbClr val="333333"/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F</a:t>
                      </a:r>
                      <a:endParaRPr lang="en-US" sz="1800" dirty="0">
                        <a:latin typeface="Roboto Mono" charset="0"/>
                        <a:ea typeface="Roboto Mono" charset="0"/>
                        <a:cs typeface="Roboto Mono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b="1" dirty="0">
                          <a:solidFill>
                            <a:srgbClr val="FF8F00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T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b="1" dirty="0">
                          <a:solidFill>
                            <a:srgbClr val="1A237E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1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800" dirty="0">
                          <a:solidFill>
                            <a:srgbClr val="333333"/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phase=on</a:t>
                      </a:r>
                      <a:endParaRPr lang="en-US" sz="1800" dirty="0">
                        <a:latin typeface="Roboto Mono" charset="0"/>
                        <a:ea typeface="Roboto Mono" charset="0"/>
                        <a:cs typeface="Roboto Mono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b="1" dirty="0">
                          <a:solidFill>
                            <a:srgbClr val="FF8F00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紅 4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第一次熄滅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800" dirty="0">
                          <a:solidFill>
                            <a:srgbClr val="333333"/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F</a:t>
                      </a:r>
                      <a:endParaRPr lang="en-US" sz="1800" dirty="0">
                        <a:latin typeface="Roboto Mono" charset="0"/>
                        <a:ea typeface="Roboto Mono" charset="0"/>
                        <a:cs typeface="Roboto Mono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b="1" dirty="0">
                          <a:solidFill>
                            <a:srgbClr val="FF8F00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T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b="1" dirty="0">
                          <a:solidFill>
                            <a:srgbClr val="1A237E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1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800" dirty="0">
                          <a:solidFill>
                            <a:srgbClr val="333333"/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phase=off</a:t>
                      </a:r>
                      <a:endParaRPr lang="en-US" sz="1800" dirty="0">
                        <a:latin typeface="Roboto Mono" charset="0"/>
                        <a:ea typeface="Roboto Mono" charset="0"/>
                        <a:cs typeface="Roboto Mono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全滅 0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恢復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800" dirty="0">
                          <a:solidFill>
                            <a:srgbClr val="333333"/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F</a:t>
                      </a:r>
                      <a:endParaRPr lang="en-US" sz="1800" dirty="0">
                        <a:latin typeface="Roboto Mono" charset="0"/>
                        <a:ea typeface="Roboto Mono" charset="0"/>
                        <a:cs typeface="Roboto Mono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800" dirty="0">
                          <a:solidFill>
                            <a:srgbClr val="333333"/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F</a:t>
                      </a:r>
                      <a:endParaRPr lang="en-US" sz="1800" dirty="0">
                        <a:latin typeface="Roboto Mono" charset="0"/>
                        <a:ea typeface="Roboto Mono" charset="0"/>
                        <a:cs typeface="Roboto Mono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b="1" dirty="0">
                          <a:solidFill>
                            <a:srgbClr val="1A237E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1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800" dirty="0">
                          <a:solidFill>
                            <a:srgbClr val="333333"/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None</a:t>
                      </a:r>
                      <a:endParaRPr lang="en-US" sz="1800" dirty="0">
                        <a:latin typeface="Roboto Mono" charset="0"/>
                        <a:ea typeface="Roboto Mono" charset="0"/>
                        <a:cs typeface="Roboto Mono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b="1" dirty="0">
                          <a:solidFill>
                            <a:srgbClr val="1A237E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藍 1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7" name="case_low_light_timeline-text-6"/>
          <p:cNvSpPr/>
          <p:nvPr/>
        </p:nvSpPr>
        <p:spPr>
          <a:xfrm>
            <a:off x="1016000" y="7112000"/>
            <a:ext cx="1422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busy 與 effect 的差異：</a:t>
            </a:r>
            <a:r>
              <a:rPr lang="en-US" altLang="en-US" sz="2000" b="1" dirty="0">
                <a:solidFill>
                  <a:srgbClr val="1A237E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busy 涵蓋預約到恢復的整段時間</a:t>
            </a: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。</a:t>
            </a:r>
            <a:endParaRPr lang="en-US" sz="2000" dirty="0"/>
          </a:p>
          <a:p>
            <a:pPr algn="ctr" indent="0" marL="0">
              <a:lnSpc>
                <a:spcPts val="3000"/>
              </a:lnSpc>
              <a:buNone/>
            </a:pP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這是避免受理後、執行前（effect 尚未建立時）被改色插入的關鍵防線。</a:t>
            </a:r>
            <a:endParaRPr lang="en-US" sz="2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ming_20ms_300ms-shape-1"/>
          <p:cNvSpPr/>
          <p:nvPr/>
        </p:nvSpPr>
        <p:spPr>
          <a:xfrm>
            <a:off x="0" y="1016000"/>
            <a:ext cx="16256000" cy="5080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3" name="timing_20ms_300ms-text-2"/>
          <p:cNvSpPr/>
          <p:nvPr/>
        </p:nvSpPr>
        <p:spPr>
          <a:xfrm>
            <a:off x="1016000" y="508000"/>
            <a:ext cx="635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546E7A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5. 案例二：光照低於閾值</a:t>
            </a:r>
            <a:endParaRPr lang="en-US" sz="1400" dirty="0"/>
          </a:p>
        </p:txBody>
      </p:sp>
      <p:sp>
        <p:nvSpPr>
          <p:cNvPr id="4" name="timing_20ms_300ms-text-3"/>
          <p:cNvSpPr/>
          <p:nvPr/>
        </p:nvSpPr>
        <p:spPr>
          <a:xfrm>
            <a:off x="13970000" y="508000"/>
            <a:ext cx="127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546E7A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26</a:t>
            </a:r>
            <a:endParaRPr lang="en-US" sz="1400" dirty="0"/>
          </a:p>
        </p:txBody>
      </p:sp>
      <p:sp>
        <p:nvSpPr>
          <p:cNvPr id="5" name="timing_20ms_300ms-text-4"/>
          <p:cNvSpPr/>
          <p:nvPr/>
        </p:nvSpPr>
        <p:spPr>
          <a:xfrm>
            <a:off x="1016000" y="1778000"/>
            <a:ext cx="1422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1A237E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為何每 20ms 檢查，卻每 300ms 亮滅？</a:t>
            </a:r>
            <a:endParaRPr lang="en-US" sz="3200" dirty="0"/>
          </a:p>
        </p:txBody>
      </p:sp>
      <p:sp>
        <p:nvSpPr>
          <p:cNvPr id="6" name="timing_20ms_300ms-text-5"/>
          <p:cNvSpPr/>
          <p:nvPr/>
        </p:nvSpPr>
        <p:spPr>
          <a:xfrm>
            <a:off x="1016000" y="2667000"/>
            <a:ext cx="1422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理想推演：不補跳多個階段，避免肉眼少看到閃爍次數。</a:t>
            </a:r>
            <a:endParaRPr lang="en-US" sz="2000" dirty="0"/>
          </a:p>
        </p:txBody>
      </p:sp>
      <p:graphicFrame>
        <p:nvGraphicFramePr>
          <p:cNvPr id="27" name="timing_20ms_300ms-table-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524000" y="3302000"/>
          <a:ext cx="13208000" cy="4064000"/>
        </p:xfrm>
        <a:graphic>
          <a:graphicData uri="http://schemas.openxmlformats.org/drawingml/2006/table">
            <a:tbl>
              <a:tblPr/>
              <a:tblGrid>
                <a:gridCol w="3602182"/>
                <a:gridCol w="4802909"/>
                <a:gridCol w="4802909"/>
              </a:tblGrid>
              <a:tr h="635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理想相對時間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1A2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階段 / 完成次數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1A2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輸出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1A2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0 ms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A2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亮 / 0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A2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b="1" dirty="0">
                          <a:solidFill>
                            <a:srgbClr val="FF8F00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第 1 次紅亮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1A2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300 ms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滅 / 0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全滅 0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600 ms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亮 / 1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b="1" dirty="0">
                          <a:solidFill>
                            <a:srgbClr val="FF8F00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第 2 次紅亮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2400 ms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亮 / 4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b="1" dirty="0">
                          <a:solidFill>
                            <a:srgbClr val="FF8F00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第 5 次紅亮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2700 ms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滅 / 4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全滅 0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3000 ms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第 5 次完成，effect 清除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b="1" dirty="0">
                          <a:solidFill>
                            <a:srgbClr val="1A237E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恢復藍 1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8" name="timing_20ms_300ms-text-7"/>
          <p:cNvSpPr/>
          <p:nvPr/>
        </p:nvSpPr>
        <p:spPr>
          <a:xfrm>
            <a:off x="1016000" y="7874000"/>
            <a:ext cx="1422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400" dirty="0">
                <a:solidFill>
                  <a:srgbClr val="546E7A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實機排程延遲會拉長某個階段，但必定扎實做滿 5 次亮滅週期。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currency_decision-shape-1"/>
          <p:cNvSpPr/>
          <p:nvPr/>
        </p:nvSpPr>
        <p:spPr>
          <a:xfrm>
            <a:off x="0" y="1016000"/>
            <a:ext cx="16256000" cy="5080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3" name="concurrency_decision-text-2"/>
          <p:cNvSpPr/>
          <p:nvPr/>
        </p:nvSpPr>
        <p:spPr>
          <a:xfrm>
            <a:off x="1016000" y="508000"/>
            <a:ext cx="635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546E7A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6. 案例三：按鈕與低光照同時發生</a:t>
            </a:r>
            <a:endParaRPr lang="en-US" sz="1400" dirty="0"/>
          </a:p>
        </p:txBody>
      </p:sp>
      <p:sp>
        <p:nvSpPr>
          <p:cNvPr id="4" name="concurrency_decision-text-3"/>
          <p:cNvSpPr/>
          <p:nvPr/>
        </p:nvSpPr>
        <p:spPr>
          <a:xfrm>
            <a:off x="13970000" y="508000"/>
            <a:ext cx="127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546E7A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27</a:t>
            </a:r>
            <a:endParaRPr lang="en-US" sz="1400" dirty="0"/>
          </a:p>
        </p:txBody>
      </p:sp>
      <p:sp>
        <p:nvSpPr>
          <p:cNvPr id="5" name="concurrency_decision-text-4"/>
          <p:cNvSpPr/>
          <p:nvPr/>
        </p:nvSpPr>
        <p:spPr>
          <a:xfrm>
            <a:off x="1016000" y="1778000"/>
            <a:ext cx="1422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1A237E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競爭決策樹：不要先問誰贏</a:t>
            </a:r>
            <a:endParaRPr lang="en-US" sz="3200" dirty="0"/>
          </a:p>
        </p:txBody>
      </p:sp>
      <p:sp>
        <p:nvSpPr>
          <p:cNvPr id="6" name="concurrency_decision-text-5"/>
          <p:cNvSpPr/>
          <p:nvPr/>
        </p:nvSpPr>
        <p:spPr>
          <a:xfrm>
            <a:off x="1016000" y="2667000"/>
            <a:ext cx="1422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先問：</a:t>
            </a:r>
            <a:r>
              <a:rPr lang="en-US" altLang="en-US" sz="2000" b="1" dirty="0">
                <a:solidFill>
                  <a:srgbClr val="FF8F00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警示受理的當下，按鈕命令的進度到哪裡了？</a:t>
            </a:r>
            <a:endParaRPr lang="en-US" sz="2000" dirty="0"/>
          </a:p>
        </p:txBody>
      </p:sp>
      <p:sp>
        <p:nvSpPr>
          <p:cNvPr id="7" name="concurrency_decision-shape-6"/>
          <p:cNvSpPr/>
          <p:nvPr/>
        </p:nvSpPr>
        <p:spPr>
          <a:xfrm>
            <a:off x="6096000" y="3556000"/>
            <a:ext cx="4064000" cy="762000"/>
          </a:xfrm>
          <a:prstGeom prst="roundRect">
            <a:avLst>
              <a:gd name="adj" fmla="val 13333"/>
            </a:avLst>
          </a:prstGeom>
          <a:solidFill>
            <a:srgbClr val="F5F7FA"/>
          </a:solidFill>
          <a:ln/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8" name="concurrency_decision-text-7"/>
          <p:cNvSpPr/>
          <p:nvPr/>
        </p:nvSpPr>
        <p:spPr>
          <a:xfrm>
            <a:off x="6096000" y="3746500"/>
            <a:ext cx="406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2000" dirty="0">
                <a:solidFill>
                  <a:srgbClr val="1E293B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警示受理時按鈕的進度</a:t>
            </a:r>
            <a:endParaRPr lang="en-US" sz="2000" dirty="0"/>
          </a:p>
        </p:txBody>
      </p:sp>
      <p:sp>
        <p:nvSpPr>
          <p:cNvPr id="9" name="concurrency_decision-shape-8"/>
          <p:cNvSpPr/>
          <p:nvPr/>
        </p:nvSpPr>
        <p:spPr>
          <a:xfrm>
            <a:off x="8128000" y="4318000"/>
            <a:ext cx="9144" cy="508000"/>
          </a:xfrm>
          <a:prstGeom prst="line">
            <a:avLst/>
          </a:prstGeom>
          <a:ln w="25400">
            <a:solidFill>
              <a:srgbClr val="00897B"/>
            </a:solidFill>
            <a:prstDash val="solid"/>
          </a:ln>
        </p:spPr>
      </p:sp>
      <p:sp>
        <p:nvSpPr>
          <p:cNvPr id="10" name="concurrency_decision-shape-9"/>
          <p:cNvSpPr/>
          <p:nvPr/>
        </p:nvSpPr>
        <p:spPr>
          <a:xfrm>
            <a:off x="3048000" y="4826000"/>
            <a:ext cx="10160000" cy="9144"/>
          </a:xfrm>
          <a:prstGeom prst="line">
            <a:avLst/>
          </a:prstGeom>
          <a:ln w="25400">
            <a:solidFill>
              <a:srgbClr val="00897B"/>
            </a:solidFill>
            <a:prstDash val="solid"/>
          </a:ln>
        </p:spPr>
      </p:sp>
      <p:sp>
        <p:nvSpPr>
          <p:cNvPr id="11" name="concurrency_decision-shape-10"/>
          <p:cNvSpPr/>
          <p:nvPr/>
        </p:nvSpPr>
        <p:spPr>
          <a:xfrm>
            <a:off x="3048000" y="4826000"/>
            <a:ext cx="9144" cy="508000"/>
          </a:xfrm>
          <a:prstGeom prst="line">
            <a:avLst/>
          </a:prstGeom>
          <a:ln w="25400">
            <a:solidFill>
              <a:srgbClr val="00897B"/>
            </a:solidFill>
            <a:prstDash val="solid"/>
            <a:tailEnd type="triangle"/>
          </a:ln>
        </p:spPr>
      </p:sp>
      <p:sp>
        <p:nvSpPr>
          <p:cNvPr id="12" name="concurrency_decision-shape-11"/>
          <p:cNvSpPr/>
          <p:nvPr/>
        </p:nvSpPr>
        <p:spPr>
          <a:xfrm>
            <a:off x="1524000" y="5334000"/>
            <a:ext cx="3048000" cy="762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25400">
            <a:solidFill>
              <a:srgbClr val="00897B"/>
            </a:solidFill>
            <a:prstDash val="solid"/>
          </a:ln>
        </p:spPr>
      </p:sp>
      <p:sp>
        <p:nvSpPr>
          <p:cNvPr id="13" name="concurrency_decision-text-12"/>
          <p:cNvSpPr/>
          <p:nvPr/>
        </p:nvSpPr>
        <p:spPr>
          <a:xfrm>
            <a:off x="1524000" y="5524500"/>
            <a:ext cx="304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2000" dirty="0">
                <a:solidFill>
                  <a:srgbClr val="1E293B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A. 按鈕已執行完畢</a:t>
            </a:r>
            <a:endParaRPr lang="en-US" sz="2000" dirty="0"/>
          </a:p>
        </p:txBody>
      </p:sp>
      <p:sp>
        <p:nvSpPr>
          <p:cNvPr id="14" name="concurrency_decision-shape-13"/>
          <p:cNvSpPr/>
          <p:nvPr/>
        </p:nvSpPr>
        <p:spPr>
          <a:xfrm>
            <a:off x="3048000" y="6096000"/>
            <a:ext cx="9144" cy="508000"/>
          </a:xfrm>
          <a:prstGeom prst="line">
            <a:avLst/>
          </a:prstGeom>
          <a:ln w="25400">
            <a:solidFill>
              <a:srgbClr val="00897B"/>
            </a:solidFill>
            <a:prstDash val="solid"/>
            <a:tailEnd type="triangle"/>
          </a:ln>
        </p:spPr>
      </p:sp>
      <p:sp>
        <p:nvSpPr>
          <p:cNvPr id="15" name="concurrency_decision-text-14"/>
          <p:cNvSpPr/>
          <p:nvPr/>
        </p:nvSpPr>
        <p:spPr>
          <a:xfrm>
            <a:off x="1524000" y="6731000"/>
            <a:ext cx="304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altLang="en-US" sz="2000" dirty="0">
                <a:solidFill>
                  <a:srgbClr val="1E293B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保存新顏色</a:t>
            </a:r>
            <a:endParaRPr lang="en-US" sz="2000" dirty="0"/>
          </a:p>
          <a:p>
            <a:pPr algn="ctr" indent="0" marL="0">
              <a:lnSpc>
                <a:spcPts val="3000"/>
              </a:lnSpc>
              <a:buNone/>
            </a:pPr>
            <a:r>
              <a:rPr lang="en-US" altLang="en-US" sz="2000" dirty="0">
                <a:solidFill>
                  <a:srgbClr val="1E293B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警示後恢復新色</a:t>
            </a:r>
            <a:endParaRPr lang="en-US" sz="2000" dirty="0"/>
          </a:p>
        </p:txBody>
      </p:sp>
      <p:sp>
        <p:nvSpPr>
          <p:cNvPr id="16" name="concurrency_decision-shape-15"/>
          <p:cNvSpPr/>
          <p:nvPr/>
        </p:nvSpPr>
        <p:spPr>
          <a:xfrm>
            <a:off x="8128000" y="4826000"/>
            <a:ext cx="9144" cy="508000"/>
          </a:xfrm>
          <a:prstGeom prst="line">
            <a:avLst/>
          </a:prstGeom>
          <a:ln w="25400">
            <a:solidFill>
              <a:srgbClr val="00897B"/>
            </a:solidFill>
            <a:prstDash val="solid"/>
            <a:tailEnd type="triangle"/>
          </a:ln>
        </p:spPr>
      </p:sp>
      <p:sp>
        <p:nvSpPr>
          <p:cNvPr id="17" name="concurrency_decision-shape-16"/>
          <p:cNvSpPr/>
          <p:nvPr/>
        </p:nvSpPr>
        <p:spPr>
          <a:xfrm>
            <a:off x="6604000" y="5334000"/>
            <a:ext cx="3048000" cy="762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25400">
            <a:solidFill>
              <a:srgbClr val="FF8F00"/>
            </a:solidFill>
            <a:prstDash val="solid"/>
          </a:ln>
        </p:spPr>
      </p:sp>
      <p:sp>
        <p:nvSpPr>
          <p:cNvPr id="18" name="concurrency_decision-text-17"/>
          <p:cNvSpPr/>
          <p:nvPr/>
        </p:nvSpPr>
        <p:spPr>
          <a:xfrm>
            <a:off x="6604000" y="5524500"/>
            <a:ext cx="304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2000" dirty="0">
                <a:solidFill>
                  <a:srgbClr val="1E293B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B. 在 queue 中未執行</a:t>
            </a:r>
            <a:endParaRPr lang="en-US" sz="2000" dirty="0"/>
          </a:p>
        </p:txBody>
      </p:sp>
      <p:sp>
        <p:nvSpPr>
          <p:cNvPr id="19" name="concurrency_decision-shape-18"/>
          <p:cNvSpPr/>
          <p:nvPr/>
        </p:nvSpPr>
        <p:spPr>
          <a:xfrm>
            <a:off x="8128000" y="6096000"/>
            <a:ext cx="9144" cy="508000"/>
          </a:xfrm>
          <a:prstGeom prst="line">
            <a:avLst/>
          </a:prstGeom>
          <a:ln w="25400">
            <a:solidFill>
              <a:srgbClr val="FF8F00"/>
            </a:solidFill>
            <a:prstDash val="solid"/>
            <a:tailEnd type="triangle"/>
          </a:ln>
        </p:spPr>
      </p:sp>
      <p:sp>
        <p:nvSpPr>
          <p:cNvPr id="20" name="concurrency_decision-text-19"/>
          <p:cNvSpPr/>
          <p:nvPr/>
        </p:nvSpPr>
        <p:spPr>
          <a:xfrm>
            <a:off x="6604000" y="6731000"/>
            <a:ext cx="304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altLang="en-US" sz="2000" dirty="0">
                <a:solidFill>
                  <a:srgbClr val="1E293B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按鈕變 rejected</a:t>
            </a:r>
            <a:endParaRPr lang="en-US" sz="2000" dirty="0"/>
          </a:p>
          <a:p>
            <a:pPr algn="ctr" indent="0" marL="0">
              <a:lnSpc>
                <a:spcPts val="3000"/>
              </a:lnSpc>
              <a:buNone/>
            </a:pPr>
            <a:r>
              <a:rPr lang="en-US" altLang="en-US" sz="2000" dirty="0">
                <a:solidFill>
                  <a:srgbClr val="1E293B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保留原色，不補做</a:t>
            </a:r>
            <a:endParaRPr lang="en-US" sz="2000" dirty="0"/>
          </a:p>
        </p:txBody>
      </p:sp>
      <p:sp>
        <p:nvSpPr>
          <p:cNvPr id="21" name="concurrency_decision-shape-20"/>
          <p:cNvSpPr/>
          <p:nvPr/>
        </p:nvSpPr>
        <p:spPr>
          <a:xfrm>
            <a:off x="13208000" y="4826000"/>
            <a:ext cx="9144" cy="508000"/>
          </a:xfrm>
          <a:prstGeom prst="line">
            <a:avLst/>
          </a:prstGeom>
          <a:ln w="25400">
            <a:solidFill>
              <a:srgbClr val="00897B"/>
            </a:solidFill>
            <a:prstDash val="solid"/>
            <a:tailEnd type="triangle"/>
          </a:ln>
        </p:spPr>
      </p:sp>
      <p:sp>
        <p:nvSpPr>
          <p:cNvPr id="22" name="concurrency_decision-shape-21"/>
          <p:cNvSpPr/>
          <p:nvPr/>
        </p:nvSpPr>
        <p:spPr>
          <a:xfrm>
            <a:off x="11684000" y="5334000"/>
            <a:ext cx="3048000" cy="762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25400">
            <a:solidFill>
              <a:srgbClr val="FF8F00"/>
            </a:solidFill>
            <a:prstDash val="solid"/>
          </a:ln>
        </p:spPr>
      </p:sp>
      <p:sp>
        <p:nvSpPr>
          <p:cNvPr id="23" name="concurrency_decision-text-22"/>
          <p:cNvSpPr/>
          <p:nvPr/>
        </p:nvSpPr>
        <p:spPr>
          <a:xfrm>
            <a:off x="11684000" y="5524500"/>
            <a:ext cx="304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2000" dirty="0">
                <a:solidFill>
                  <a:srgbClr val="1E293B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C. 警示先被預約</a:t>
            </a:r>
            <a:endParaRPr lang="en-US" sz="2000" dirty="0"/>
          </a:p>
        </p:txBody>
      </p:sp>
      <p:sp>
        <p:nvSpPr>
          <p:cNvPr id="24" name="concurrency_decision-shape-23"/>
          <p:cNvSpPr/>
          <p:nvPr/>
        </p:nvSpPr>
        <p:spPr>
          <a:xfrm>
            <a:off x="13208000" y="6096000"/>
            <a:ext cx="9144" cy="508000"/>
          </a:xfrm>
          <a:prstGeom prst="line">
            <a:avLst/>
          </a:prstGeom>
          <a:ln w="25400">
            <a:solidFill>
              <a:srgbClr val="FF8F00"/>
            </a:solidFill>
            <a:prstDash val="solid"/>
            <a:tailEnd type="triangle"/>
          </a:ln>
        </p:spPr>
      </p:sp>
      <p:sp>
        <p:nvSpPr>
          <p:cNvPr id="25" name="concurrency_decision-text-24"/>
          <p:cNvSpPr/>
          <p:nvPr/>
        </p:nvSpPr>
        <p:spPr>
          <a:xfrm>
            <a:off x="11684000" y="6731000"/>
            <a:ext cx="304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altLang="en-US" sz="2000" dirty="0">
                <a:solidFill>
                  <a:srgbClr val="1E293B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按下直接被拒絕</a:t>
            </a:r>
            <a:endParaRPr lang="en-US" sz="2000" dirty="0"/>
          </a:p>
          <a:p>
            <a:pPr algn="ctr" indent="0" marL="0">
              <a:lnSpc>
                <a:spcPts val="3000"/>
              </a:lnSpc>
              <a:buNone/>
            </a:pPr>
            <a:r>
              <a:rPr lang="en-US" altLang="en-US" sz="2000" dirty="0">
                <a:solidFill>
                  <a:srgbClr val="1E293B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保留原色，不排隊</a:t>
            </a:r>
            <a:endParaRPr lang="en-US" sz="2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_6a-shape-1"/>
          <p:cNvSpPr/>
          <p:nvPr/>
        </p:nvSpPr>
        <p:spPr>
          <a:xfrm>
            <a:off x="0" y="1016000"/>
            <a:ext cx="16256000" cy="5080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3" name="case_6a-text-2"/>
          <p:cNvSpPr/>
          <p:nvPr/>
        </p:nvSpPr>
        <p:spPr>
          <a:xfrm>
            <a:off x="1016000" y="508000"/>
            <a:ext cx="635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546E7A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6. 案例三：按鈕與低光照同時發生</a:t>
            </a:r>
            <a:endParaRPr lang="en-US" sz="1400" dirty="0"/>
          </a:p>
        </p:txBody>
      </p:sp>
      <p:sp>
        <p:nvSpPr>
          <p:cNvPr id="4" name="case_6a-text-3"/>
          <p:cNvSpPr/>
          <p:nvPr/>
        </p:nvSpPr>
        <p:spPr>
          <a:xfrm>
            <a:off x="13970000" y="508000"/>
            <a:ext cx="127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546E7A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28</a:t>
            </a:r>
            <a:endParaRPr lang="en-US" sz="1400" dirty="0"/>
          </a:p>
        </p:txBody>
      </p:sp>
      <p:sp>
        <p:nvSpPr>
          <p:cNvPr id="5" name="case_6a-text-4"/>
          <p:cNvSpPr/>
          <p:nvPr/>
        </p:nvSpPr>
        <p:spPr>
          <a:xfrm>
            <a:off x="1016000" y="1778000"/>
            <a:ext cx="1422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1A237E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案例 6A：按鈕先完成，才受理警示</a:t>
            </a:r>
            <a:endParaRPr lang="en-US" sz="3200" dirty="0"/>
          </a:p>
        </p:txBody>
      </p:sp>
      <p:sp>
        <p:nvSpPr>
          <p:cNvPr id="6" name="case_6a-text-5"/>
          <p:cNvSpPr/>
          <p:nvPr/>
        </p:nvSpPr>
        <p:spPr>
          <a:xfrm>
            <a:off x="1016000" y="2667000"/>
            <a:ext cx="1422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既然命令 10 已經完成（藍 1 → 綠 2），警示 11 就應該保存新的綠 2。</a:t>
            </a:r>
            <a:endParaRPr lang="en-US" sz="2000" dirty="0"/>
          </a:p>
        </p:txBody>
      </p:sp>
      <p:sp>
        <p:nvSpPr>
          <p:cNvPr id="7" name="case_6a-shape-6"/>
          <p:cNvSpPr/>
          <p:nvPr/>
        </p:nvSpPr>
        <p:spPr>
          <a:xfrm>
            <a:off x="1016000" y="3556000"/>
            <a:ext cx="14224000" cy="3556000"/>
          </a:xfrm>
          <a:prstGeom prst="roundRect">
            <a:avLst>
              <a:gd name="adj" fmla="val 2857"/>
            </a:avLst>
          </a:prstGeom>
          <a:solidFill>
            <a:srgbClr val="F5F7FA"/>
          </a:solidFill>
          <a:ln/>
        </p:spPr>
      </p:sp>
      <p:sp>
        <p:nvSpPr>
          <p:cNvPr id="8" name="case_6a-text-7"/>
          <p:cNvSpPr/>
          <p:nvPr/>
        </p:nvSpPr>
        <p:spPr>
          <a:xfrm>
            <a:off x="1524000" y="4064000"/>
            <a:ext cx="13208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17500" indent="-317500">
              <a:lnSpc>
                <a:spcPts val="3240"/>
              </a:lnSpc>
              <a:spcBef>
                <a:spcPts val="10"/>
              </a:spcBef>
              <a:buSzPct val="100000"/>
              <a:buFont typeface="+mj-lt"/>
              <a:buAutoNum type="arabicPeriod" startAt="1"/>
            </a:pPr>
            <a:r>
              <a:rPr lang="en-US" altLang="en-US" sz="1800" dirty="0">
                <a:solidFill>
                  <a:srgbClr val="26323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submit(cycle 10)</a:t>
            </a: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 受理。</a:t>
            </a:r>
            <a:endParaRPr lang="en-US" sz="2000" dirty="0"/>
          </a:p>
          <a:p>
            <a:pPr algn="l" marL="317500" indent="-317500">
              <a:lnSpc>
                <a:spcPts val="3600"/>
              </a:lnSpc>
              <a:spcBef>
                <a:spcPts val="10"/>
              </a:spcBef>
              <a:buSzPct val="100000"/>
              <a:buFont typeface="+mj-lt"/>
              <a:buAutoNum type="arabicPeriod" startAt="2"/>
            </a:pPr>
            <a:r>
              <a:rPr lang="en-US" altLang="en-US" sz="2000" b="1" dirty="0">
                <a:solidFill>
                  <a:srgbClr val="00897B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owner 取出 10，寫入綠 2。</a:t>
            </a:r>
            <a:endParaRPr lang="en-US" sz="2000" dirty="0"/>
          </a:p>
          <a:p>
            <a:pPr algn="l" marL="317500" indent="-317500">
              <a:lnSpc>
                <a:spcPts val="3600"/>
              </a:lnSpc>
              <a:spcBef>
                <a:spcPts val="10"/>
              </a:spcBef>
              <a:buSzPct val="100000"/>
              <a:buFont typeface="+mj-lt"/>
              <a:buAutoNum type="arabicPeriod" startAt="3"/>
            </a:pP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Receipt 10 變為 </a:t>
            </a:r>
            <a:r>
              <a:rPr lang="en-US" altLang="en-US" sz="1800" dirty="0">
                <a:solidFill>
                  <a:srgbClr val="26323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executed</a:t>
            </a: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。</a:t>
            </a:r>
            <a:endParaRPr lang="en-US" sz="2000" dirty="0"/>
          </a:p>
          <a:p>
            <a:pPr algn="l" marL="317500" indent="-317500">
              <a:lnSpc>
                <a:spcPts val="3600"/>
              </a:lnSpc>
              <a:spcBef>
                <a:spcPts val="10"/>
              </a:spcBef>
              <a:buSzPct val="100000"/>
              <a:buFont typeface="+mj-lt"/>
              <a:buAutoNum type="arabicPeriod" startAt="4"/>
            </a:pP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光照觸發，</a:t>
            </a:r>
            <a:r>
              <a:rPr lang="en-US" altLang="en-US" sz="1800" dirty="0">
                <a:solidFill>
                  <a:srgbClr val="26323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submit</a:t>
            </a: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 預約警示 11（busy=true）。</a:t>
            </a:r>
            <a:endParaRPr lang="en-US" sz="2000" dirty="0"/>
          </a:p>
          <a:p>
            <a:pPr algn="l" marL="317500" indent="-317500">
              <a:lnSpc>
                <a:spcPts val="3600"/>
              </a:lnSpc>
              <a:spcBef>
                <a:spcPts val="10"/>
              </a:spcBef>
              <a:buSzPct val="100000"/>
              <a:buFont typeface="+mj-lt"/>
              <a:buAutoNum type="arabicPeriod" startAt="5"/>
            </a:pP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owner 取出 11，</a:t>
            </a:r>
            <a:r>
              <a:rPr lang="en-US" altLang="en-US" sz="2000" b="1" dirty="0">
                <a:solidFill>
                  <a:srgbClr val="1A237E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保存綠 2</a:t>
            </a: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，開始紅閃五次。</a:t>
            </a:r>
            <a:endParaRPr lang="en-US" sz="2000" dirty="0"/>
          </a:p>
          <a:p>
            <a:pPr algn="l" marL="317500" indent="-317500">
              <a:lnSpc>
                <a:spcPts val="3600"/>
              </a:lnSpc>
              <a:spcBef>
                <a:spcPts val="10"/>
              </a:spcBef>
              <a:buSzPct val="100000"/>
              <a:buFont typeface="+mj-lt"/>
              <a:buAutoNum type="arabicPeriod" startAt="6"/>
            </a:pP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紅閃結束，</a:t>
            </a:r>
            <a:r>
              <a:rPr lang="en-US" altLang="en-US" sz="2000" b="1" dirty="0">
                <a:solidFill>
                  <a:srgbClr val="1A237E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恢復綠 2</a:t>
            </a: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，Receipt 11 變為 </a:t>
            </a:r>
            <a:r>
              <a:rPr lang="en-US" altLang="en-US" sz="1800" dirty="0">
                <a:solidFill>
                  <a:srgbClr val="26323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executed</a:t>
            </a: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。</a:t>
            </a:r>
            <a:endParaRPr lang="en-US" sz="2000" dirty="0"/>
          </a:p>
        </p:txBody>
      </p:sp>
      <p:sp>
        <p:nvSpPr>
          <p:cNvPr id="9" name="case_6a-text-8"/>
          <p:cNvSpPr/>
          <p:nvPr/>
        </p:nvSpPr>
        <p:spPr>
          <a:xfrm>
            <a:off x="1016000" y="7620000"/>
            <a:ext cx="1422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結果：不能撤銷已執行的操作。最終正常色碼為 </a:t>
            </a:r>
            <a:r>
              <a:rPr lang="en-US" altLang="en-US" sz="2000" b="1" dirty="0">
                <a:solidFill>
                  <a:srgbClr val="00897B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綠 2</a:t>
            </a: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。</a:t>
            </a:r>
            <a:endParaRPr lang="en-US" sz="2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_6b-shape-1"/>
          <p:cNvSpPr/>
          <p:nvPr/>
        </p:nvSpPr>
        <p:spPr>
          <a:xfrm>
            <a:off x="0" y="1016000"/>
            <a:ext cx="16256000" cy="5080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3" name="case_6b-text-2"/>
          <p:cNvSpPr/>
          <p:nvPr/>
        </p:nvSpPr>
        <p:spPr>
          <a:xfrm>
            <a:off x="1016000" y="508000"/>
            <a:ext cx="635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546E7A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6. 案例三：按鈕與低光照同時發生</a:t>
            </a:r>
            <a:endParaRPr lang="en-US" sz="1400" dirty="0"/>
          </a:p>
        </p:txBody>
      </p:sp>
      <p:sp>
        <p:nvSpPr>
          <p:cNvPr id="4" name="case_6b-text-3"/>
          <p:cNvSpPr/>
          <p:nvPr/>
        </p:nvSpPr>
        <p:spPr>
          <a:xfrm>
            <a:off x="13970000" y="508000"/>
            <a:ext cx="127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546E7A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29</a:t>
            </a:r>
            <a:endParaRPr lang="en-US" sz="1400" dirty="0"/>
          </a:p>
        </p:txBody>
      </p:sp>
      <p:sp>
        <p:nvSpPr>
          <p:cNvPr id="5" name="case_6b-text-4"/>
          <p:cNvSpPr/>
          <p:nvPr/>
        </p:nvSpPr>
        <p:spPr>
          <a:xfrm>
            <a:off x="1016000" y="1778000"/>
            <a:ext cx="1422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1A237E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案例 6B：按鈕先受理，但 owner 尚未執行</a:t>
            </a:r>
            <a:endParaRPr lang="en-US" sz="3200" dirty="0"/>
          </a:p>
        </p:txBody>
      </p:sp>
      <p:sp>
        <p:nvSpPr>
          <p:cNvPr id="6" name="case_6b-text-5"/>
          <p:cNvSpPr/>
          <p:nvPr/>
        </p:nvSpPr>
        <p:spPr>
          <a:xfrm>
            <a:off x="1016000" y="2667000"/>
            <a:ext cx="1422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dirty="0">
                <a:solidFill>
                  <a:srgbClr val="FF8F00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這是最容易誤解的情況：accepted 之後仍可能變為 rejected。</a:t>
            </a:r>
            <a:endParaRPr lang="en-US" sz="2000" dirty="0"/>
          </a:p>
        </p:txBody>
      </p:sp>
      <p:sp>
        <p:nvSpPr>
          <p:cNvPr id="7" name="case_6b-shape-6"/>
          <p:cNvSpPr/>
          <p:nvPr/>
        </p:nvSpPr>
        <p:spPr>
          <a:xfrm>
            <a:off x="1016000" y="3556000"/>
            <a:ext cx="14224000" cy="3556000"/>
          </a:xfrm>
          <a:prstGeom prst="roundRect">
            <a:avLst>
              <a:gd name="adj" fmla="val 2857"/>
            </a:avLst>
          </a:prstGeom>
          <a:solidFill>
            <a:srgbClr val="F5F7FA"/>
          </a:solidFill>
          <a:ln w="25400">
            <a:solidFill>
              <a:srgbClr val="FF8F00"/>
            </a:solidFill>
            <a:prstDash val="solid"/>
          </a:ln>
        </p:spPr>
      </p:sp>
      <p:sp>
        <p:nvSpPr>
          <p:cNvPr id="8" name="case_6b-text-7"/>
          <p:cNvSpPr/>
          <p:nvPr/>
        </p:nvSpPr>
        <p:spPr>
          <a:xfrm>
            <a:off x="1524000" y="4064000"/>
            <a:ext cx="13208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17500" indent="-317500">
              <a:lnSpc>
                <a:spcPts val="2880"/>
              </a:lnSpc>
              <a:spcBef>
                <a:spcPts val="10"/>
              </a:spcBef>
              <a:buSzPct val="100000"/>
              <a:buFont typeface="+mj-lt"/>
              <a:buAutoNum type="arabicPeriod" startAt="1"/>
            </a:pPr>
            <a:r>
              <a:rPr lang="en-US" altLang="en-US" sz="1800" dirty="0">
                <a:solidFill>
                  <a:srgbClr val="26323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submit(cycle 10)</a:t>
            </a: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 受理，排進 queue。此時還是藍 1。</a:t>
            </a:r>
            <a:endParaRPr lang="en-US" sz="2000" dirty="0"/>
          </a:p>
          <a:p>
            <a:pPr algn="l" marL="317500" indent="-317500">
              <a:lnSpc>
                <a:spcPts val="2880"/>
              </a:lnSpc>
              <a:spcBef>
                <a:spcPts val="10"/>
              </a:spcBef>
              <a:buSzPct val="100000"/>
              <a:buFont typeface="+mj-lt"/>
              <a:buAutoNum type="arabicPeriod" startAt="2"/>
            </a:pPr>
            <a:r>
              <a:rPr lang="en-US" altLang="en-US" sz="1800" dirty="0">
                <a:solidFill>
                  <a:srgbClr val="26323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submit</a:t>
            </a: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 收到光照警示 11，立即 </a:t>
            </a:r>
            <a:r>
              <a:rPr lang="en-US" altLang="en-US" sz="1800" dirty="0">
                <a:solidFill>
                  <a:srgbClr val="26323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_reserved=true</a:t>
            </a: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。</a:t>
            </a:r>
            <a:endParaRPr lang="en-US" sz="2000" dirty="0"/>
          </a:p>
          <a:p>
            <a:pPr algn="l" marL="317500" indent="-317500">
              <a:lnSpc>
                <a:spcPts val="3200"/>
              </a:lnSpc>
              <a:spcBef>
                <a:spcPts val="10"/>
              </a:spcBef>
              <a:buSzPct val="100000"/>
              <a:buFont typeface="+mj-lt"/>
              <a:buAutoNum type="arabicPeriod" startAt="3"/>
            </a:pPr>
            <a:r>
              <a:rPr lang="en-US" altLang="en-US" sz="2000" b="1" dirty="0">
                <a:solidFill>
                  <a:srgbClr val="FF8F00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submit 主動清除 queue 裡未執行的普通命令。</a:t>
            </a:r>
            <a:endParaRPr lang="en-US" sz="2000" dirty="0"/>
          </a:p>
          <a:p>
            <a:pPr algn="l" marL="317500" indent="-317500">
              <a:lnSpc>
                <a:spcPts val="3200"/>
              </a:lnSpc>
              <a:spcBef>
                <a:spcPts val="10"/>
              </a:spcBef>
              <a:buSzPct val="100000"/>
              <a:buFont typeface="+mj-lt"/>
              <a:buAutoNum type="arabicPeriod" startAt="4"/>
            </a:pP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命令 10 被標記為 </a:t>
            </a:r>
            <a:r>
              <a:rPr lang="en-US" altLang="en-US" sz="2000" b="1" dirty="0">
                <a:solidFill>
                  <a:srgbClr val="FF8F00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rejected / alert_started</a:t>
            </a: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，queue 只剩警示 11。</a:t>
            </a:r>
            <a:endParaRPr lang="en-US" sz="2000" dirty="0"/>
          </a:p>
          <a:p>
            <a:pPr algn="l" marL="317500" indent="-317500">
              <a:lnSpc>
                <a:spcPts val="3200"/>
              </a:lnSpc>
              <a:spcBef>
                <a:spcPts val="10"/>
              </a:spcBef>
              <a:buSzPct val="100000"/>
              <a:buFont typeface="+mj-lt"/>
              <a:buAutoNum type="arabicPeriod" startAt="5"/>
            </a:pP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owner 取出 11，保存原本的藍 1，紅閃五次後恢復藍 1。</a:t>
            </a:r>
            <a:endParaRPr lang="en-US" sz="2000" dirty="0"/>
          </a:p>
        </p:txBody>
      </p:sp>
      <p:sp>
        <p:nvSpPr>
          <p:cNvPr id="9" name="case_6b-text-8"/>
          <p:cNvSpPr/>
          <p:nvPr/>
        </p:nvSpPr>
        <p:spPr>
          <a:xfrm>
            <a:off x="1016000" y="7620000"/>
            <a:ext cx="1422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結果：按鈕一開始拿到的 202 副本不會自動變；必須透過 API 查詢，才知道已經被警示取消，且</a:t>
            </a:r>
            <a:r>
              <a:rPr lang="en-US" altLang="en-US" sz="2000" b="1" dirty="0">
                <a:solidFill>
                  <a:srgbClr val="1A237E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不會偷偷補執行</a:t>
            </a: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。</a:t>
            </a:r>
            <a:endParaRPr lang="en-US" sz="2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_6c-shape-1"/>
          <p:cNvSpPr/>
          <p:nvPr/>
        </p:nvSpPr>
        <p:spPr>
          <a:xfrm>
            <a:off x="0" y="1016000"/>
            <a:ext cx="16256000" cy="5080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3" name="case_6c-text-2"/>
          <p:cNvSpPr/>
          <p:nvPr/>
        </p:nvSpPr>
        <p:spPr>
          <a:xfrm>
            <a:off x="1016000" y="508000"/>
            <a:ext cx="635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546E7A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6. 案例三：按鈕與低光照同時發生</a:t>
            </a:r>
            <a:endParaRPr lang="en-US" sz="1400" dirty="0"/>
          </a:p>
        </p:txBody>
      </p:sp>
      <p:sp>
        <p:nvSpPr>
          <p:cNvPr id="4" name="case_6c-text-3"/>
          <p:cNvSpPr/>
          <p:nvPr/>
        </p:nvSpPr>
        <p:spPr>
          <a:xfrm>
            <a:off x="13970000" y="508000"/>
            <a:ext cx="127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546E7A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30</a:t>
            </a:r>
            <a:endParaRPr lang="en-US" sz="1400" dirty="0"/>
          </a:p>
        </p:txBody>
      </p:sp>
      <p:sp>
        <p:nvSpPr>
          <p:cNvPr id="5" name="case_6c-text-4"/>
          <p:cNvSpPr/>
          <p:nvPr/>
        </p:nvSpPr>
        <p:spPr>
          <a:xfrm>
            <a:off x="1016000" y="1778000"/>
            <a:ext cx="1422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1A237E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案例 6C：警示先受理，按鈕後來</a:t>
            </a:r>
            <a:endParaRPr lang="en-US" sz="3200" dirty="0"/>
          </a:p>
        </p:txBody>
      </p:sp>
      <p:sp>
        <p:nvSpPr>
          <p:cNvPr id="6" name="case_6c-text-5"/>
          <p:cNvSpPr/>
          <p:nvPr/>
        </p:nvSpPr>
        <p:spPr>
          <a:xfrm>
            <a:off x="1016000" y="2667000"/>
            <a:ext cx="1422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只要 submit 預約了警示，就算紅閃還沒亮第一下，按鈕也會被直接擋掉。</a:t>
            </a:r>
            <a:endParaRPr lang="en-US" sz="2000" dirty="0"/>
          </a:p>
        </p:txBody>
      </p:sp>
      <p:sp>
        <p:nvSpPr>
          <p:cNvPr id="7" name="case_6c-shape-6"/>
          <p:cNvSpPr/>
          <p:nvPr/>
        </p:nvSpPr>
        <p:spPr>
          <a:xfrm>
            <a:off x="1016000" y="3556000"/>
            <a:ext cx="14224000" cy="3048000"/>
          </a:xfrm>
          <a:prstGeom prst="roundRect">
            <a:avLst>
              <a:gd name="adj" fmla="val 3333"/>
            </a:avLst>
          </a:prstGeom>
          <a:solidFill>
            <a:srgbClr val="F5F7FA"/>
          </a:solidFill>
          <a:ln/>
        </p:spPr>
      </p:sp>
      <p:sp>
        <p:nvSpPr>
          <p:cNvPr id="8" name="case_6c-text-7"/>
          <p:cNvSpPr/>
          <p:nvPr/>
        </p:nvSpPr>
        <p:spPr>
          <a:xfrm>
            <a:off x="1524000" y="4064000"/>
            <a:ext cx="13208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17500" indent="-317500">
              <a:lnSpc>
                <a:spcPts val="2880"/>
              </a:lnSpc>
              <a:spcBef>
                <a:spcPts val="10"/>
              </a:spcBef>
              <a:buSzPct val="100000"/>
              <a:buFont typeface="+mj-lt"/>
              <a:buAutoNum type="arabicPeriod" startAt="1"/>
            </a:pPr>
            <a:r>
              <a:rPr lang="en-US" altLang="en-US" sz="1800" dirty="0">
                <a:solidFill>
                  <a:srgbClr val="26323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submit</a:t>
            </a: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 受理警示 11，</a:t>
            </a:r>
            <a:r>
              <a:rPr lang="en-US" altLang="en-US" sz="1800" dirty="0">
                <a:solidFill>
                  <a:srgbClr val="26323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_reserved = true</a:t>
            </a: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。</a:t>
            </a:r>
            <a:endParaRPr lang="en-US" sz="2000" dirty="0"/>
          </a:p>
          <a:p>
            <a:pPr algn="l" marL="317500" indent="-317500">
              <a:lnSpc>
                <a:spcPts val="3200"/>
              </a:lnSpc>
              <a:spcBef>
                <a:spcPts val="10"/>
              </a:spcBef>
              <a:buSzPct val="100000"/>
              <a:buFont typeface="+mj-lt"/>
              <a:buAutoNum type="arabicPeriod" startAt="2"/>
            </a:pP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按鈕按下，去彈跳邏輯檢查到 </a:t>
            </a:r>
            <a:r>
              <a:rPr lang="en-US" altLang="en-US" sz="1800" dirty="0">
                <a:solidFill>
                  <a:srgbClr val="26323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busy=true</a:t>
            </a: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。</a:t>
            </a:r>
            <a:endParaRPr lang="en-US" sz="2000" dirty="0"/>
          </a:p>
          <a:p>
            <a:pPr algn="l" marL="317500" indent="-317500">
              <a:lnSpc>
                <a:spcPts val="3200"/>
              </a:lnSpc>
              <a:spcBef>
                <a:spcPts val="10"/>
              </a:spcBef>
              <a:buSzPct val="100000"/>
              <a:buFont typeface="+mj-lt"/>
              <a:buAutoNum type="arabicPeriod" startAt="3"/>
            </a:pP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按鈕任務標記 </a:t>
            </a:r>
            <a:r>
              <a:rPr lang="en-US" altLang="en-US" sz="2000" b="1" dirty="0">
                <a:solidFill>
                  <a:srgbClr val="FF8F00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press_rejected = true</a:t>
            </a: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。</a:t>
            </a:r>
            <a:endParaRPr lang="en-US" sz="2000" dirty="0"/>
          </a:p>
          <a:p>
            <a:pPr algn="l" marL="317500" indent="-317500">
              <a:lnSpc>
                <a:spcPts val="3200"/>
              </a:lnSpc>
              <a:spcBef>
                <a:spcPts val="10"/>
              </a:spcBef>
              <a:buSzPct val="100000"/>
              <a:buFont typeface="+mj-lt"/>
              <a:buAutoNum type="arabicPeriod" startAt="4"/>
            </a:pPr>
            <a:r>
              <a:rPr lang="en-US" altLang="en-US" sz="2000" b="1" dirty="0">
                <a:solidFill>
                  <a:srgbClr val="00897B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根本不會呼叫 submit()</a:t>
            </a: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，沒有產生新的 cycle 命令。</a:t>
            </a:r>
            <a:endParaRPr lang="en-US" sz="2000" dirty="0"/>
          </a:p>
          <a:p>
            <a:pPr algn="l" marL="317500" indent="-317500">
              <a:lnSpc>
                <a:spcPts val="3200"/>
              </a:lnSpc>
              <a:spcBef>
                <a:spcPts val="10"/>
              </a:spcBef>
              <a:buSzPct val="100000"/>
              <a:buFont typeface="+mj-lt"/>
              <a:buAutoNum type="arabicPeriod" startAt="5"/>
            </a:pP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owner 執行紅閃，結束後恢復原狀。</a:t>
            </a:r>
            <a:endParaRPr lang="en-US" sz="2000" dirty="0"/>
          </a:p>
        </p:txBody>
      </p:sp>
      <p:sp>
        <p:nvSpPr>
          <p:cNvPr id="9" name="case_6c-text-8"/>
          <p:cNvSpPr/>
          <p:nvPr/>
        </p:nvSpPr>
        <p:spPr>
          <a:xfrm>
            <a:off x="1016000" y="7112000"/>
            <a:ext cx="1422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2000" dirty="0">
                <a:solidFill>
                  <a:srgbClr val="1A237E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這條路徑連 ID 都不會消耗。若是 Web API 則會被 submit 直接回傳 </a:t>
            </a:r>
            <a:r>
              <a:rPr lang="en-US" altLang="en-US" sz="2000" b="1" dirty="0">
                <a:solidFill>
                  <a:srgbClr val="FF8F00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409 Rejected</a:t>
            </a:r>
            <a:r>
              <a:rPr lang="en-US" altLang="en-US" sz="2000" dirty="0">
                <a:solidFill>
                  <a:srgbClr val="1A237E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。</a:t>
            </a:r>
            <a:endParaRPr lang="en-US" sz="2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utton_during_alert-shape-1"/>
          <p:cNvSpPr/>
          <p:nvPr/>
        </p:nvSpPr>
        <p:spPr>
          <a:xfrm>
            <a:off x="0" y="1016000"/>
            <a:ext cx="16256000" cy="5080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3" name="button_during_alert-text-2"/>
          <p:cNvSpPr/>
          <p:nvPr/>
        </p:nvSpPr>
        <p:spPr>
          <a:xfrm>
            <a:off x="1016000" y="508000"/>
            <a:ext cx="635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546E7A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7. 案例四：紅閃第三次時按下實體按鈕</a:t>
            </a:r>
            <a:endParaRPr lang="en-US" sz="1400" dirty="0"/>
          </a:p>
        </p:txBody>
      </p:sp>
      <p:sp>
        <p:nvSpPr>
          <p:cNvPr id="4" name="button_during_alert-text-3"/>
          <p:cNvSpPr/>
          <p:nvPr/>
        </p:nvSpPr>
        <p:spPr>
          <a:xfrm>
            <a:off x="13970000" y="508000"/>
            <a:ext cx="127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546E7A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31</a:t>
            </a:r>
            <a:endParaRPr lang="en-US" sz="1400" dirty="0"/>
          </a:p>
        </p:txBody>
      </p:sp>
      <p:sp>
        <p:nvSpPr>
          <p:cNvPr id="5" name="button_during_alert-text-4"/>
          <p:cNvSpPr/>
          <p:nvPr/>
        </p:nvSpPr>
        <p:spPr>
          <a:xfrm>
            <a:off x="1016000" y="1778000"/>
            <a:ext cx="1422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1A237E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案例四：紅閃時按住不放，會偷偷補換色嗎？</a:t>
            </a:r>
            <a:endParaRPr lang="en-US" sz="3200" dirty="0"/>
          </a:p>
        </p:txBody>
      </p:sp>
      <p:graphicFrame>
        <p:nvGraphicFramePr>
          <p:cNvPr id="32" name="button_during_alert-table-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16000" y="3048000"/>
          <a:ext cx="14224000" cy="3048000"/>
        </p:xfrm>
        <a:graphic>
          <a:graphicData uri="http://schemas.openxmlformats.org/drawingml/2006/table">
            <a:tbl>
              <a:tblPr/>
              <a:tblGrid>
                <a:gridCol w="2844800"/>
                <a:gridCol w="2844800"/>
                <a:gridCol w="2844800"/>
                <a:gridCol w="2844800"/>
                <a:gridCol w="2844800"/>
              </a:tblGrid>
              <a:tr h="6349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階段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1A2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按鈕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1A2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busy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1A2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是否有新 cycle 命令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1A2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LED 狀態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1A2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第 3 次紅閃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A2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b="1" dirty="0">
                          <a:solidFill>
                            <a:srgbClr val="FF8F00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按下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A2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800" dirty="0">
                          <a:solidFill>
                            <a:srgbClr val="333333"/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T</a:t>
                      </a:r>
                      <a:endParaRPr lang="en-US" sz="1800" dirty="0">
                        <a:latin typeface="Roboto Mono" charset="0"/>
                        <a:ea typeface="Roboto Mono" charset="0"/>
                        <a:cs typeface="Roboto Mono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A2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沒有 (被 press_rejected 擋住)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A2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繼續紅 / 滅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1A2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2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警示恢復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b="1" dirty="0">
                          <a:solidFill>
                            <a:srgbClr val="FF8F00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仍按住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800" dirty="0">
                          <a:solidFill>
                            <a:srgbClr val="333333"/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F</a:t>
                      </a:r>
                      <a:endParaRPr lang="en-US" sz="1800" dirty="0">
                        <a:latin typeface="Roboto Mono" charset="0"/>
                        <a:ea typeface="Roboto Mono" charset="0"/>
                        <a:cs typeface="Roboto Mono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沒有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藍 1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2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放開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釋放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800" dirty="0">
                          <a:solidFill>
                            <a:srgbClr val="333333"/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F</a:t>
                      </a:r>
                      <a:endParaRPr lang="en-US" sz="1800" dirty="0">
                        <a:latin typeface="Roboto Mono" charset="0"/>
                        <a:ea typeface="Roboto Mono" charset="0"/>
                        <a:cs typeface="Roboto Mono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沒有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藍 1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2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重新按下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新按下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800" dirty="0">
                          <a:solidFill>
                            <a:srgbClr val="333333"/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F</a:t>
                      </a:r>
                      <a:endParaRPr lang="en-US" sz="1800" dirty="0">
                        <a:latin typeface="Roboto Mono" charset="0"/>
                        <a:ea typeface="Roboto Mono" charset="0"/>
                        <a:cs typeface="Roboto Mono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b="1" dirty="0">
                          <a:solidFill>
                            <a:srgbClr val="00897B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accepted (等 owner 執行)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藍 1 → </a:t>
                      </a:r>
                      <a:r>
                        <a:rPr lang="en-US" altLang="en-US" sz="2000" b="1" dirty="0">
                          <a:solidFill>
                            <a:srgbClr val="00897B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綠 2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7" name="button_during_alert-shape-6"/>
          <p:cNvSpPr/>
          <p:nvPr/>
        </p:nvSpPr>
        <p:spPr>
          <a:xfrm>
            <a:off x="1016000" y="6604000"/>
            <a:ext cx="14224000" cy="12700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/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8" name="button_during_alert-text-7"/>
          <p:cNvSpPr/>
          <p:nvPr/>
        </p:nvSpPr>
        <p:spPr>
          <a:xfrm>
            <a:off x="1270000" y="6858000"/>
            <a:ext cx="1371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即使按到警示結束（busy=false），也不會自動把舊按下當新操作補送。</a:t>
            </a:r>
            <a:endParaRPr lang="en-US" sz="2000" dirty="0"/>
          </a:p>
          <a:p>
            <a:pPr algn="ctr" indent="0" marL="0">
              <a:lnSpc>
                <a:spcPts val="3000"/>
              </a:lnSpc>
              <a:buNone/>
            </a:pP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這是 </a:t>
            </a:r>
            <a:r>
              <a:rPr lang="en-US" altLang="en-US" sz="2000" b="1" dirty="0">
                <a:solidFill>
                  <a:srgbClr val="1A237E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輸入生命週期政策</a:t>
            </a: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 的功勞，不是單靠 owner 佇列就能辦到。</a:t>
            </a:r>
            <a:endParaRPr lang="en-US" sz="2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eb_authority-shape-1"/>
          <p:cNvSpPr/>
          <p:nvPr/>
        </p:nvSpPr>
        <p:spPr>
          <a:xfrm>
            <a:off x="0" y="1016000"/>
            <a:ext cx="16256000" cy="5080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3" name="web_authority-text-2"/>
          <p:cNvSpPr/>
          <p:nvPr/>
        </p:nvSpPr>
        <p:spPr>
          <a:xfrm>
            <a:off x="1016000" y="508000"/>
            <a:ext cx="635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546E7A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8. 把同樣規則套到網頁按鈕</a:t>
            </a:r>
            <a:endParaRPr lang="en-US" sz="1400" dirty="0"/>
          </a:p>
        </p:txBody>
      </p:sp>
      <p:sp>
        <p:nvSpPr>
          <p:cNvPr id="4" name="web_authority-text-3"/>
          <p:cNvSpPr/>
          <p:nvPr/>
        </p:nvSpPr>
        <p:spPr>
          <a:xfrm>
            <a:off x="13970000" y="508000"/>
            <a:ext cx="127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546E7A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32</a:t>
            </a:r>
            <a:endParaRPr lang="en-US" sz="1400" dirty="0"/>
          </a:p>
        </p:txBody>
      </p:sp>
      <p:sp>
        <p:nvSpPr>
          <p:cNvPr id="5" name="web_authority-text-4"/>
          <p:cNvSpPr/>
          <p:nvPr/>
        </p:nvSpPr>
        <p:spPr>
          <a:xfrm>
            <a:off x="1016000" y="1778000"/>
            <a:ext cx="1422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1A237E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把同樣的規則套到網頁按鈕</a:t>
            </a:r>
            <a:endParaRPr lang="en-US" sz="3200" dirty="0"/>
          </a:p>
        </p:txBody>
      </p:sp>
      <p:sp>
        <p:nvSpPr>
          <p:cNvPr id="6" name="web_authority-text-5"/>
          <p:cNvSpPr/>
          <p:nvPr/>
        </p:nvSpPr>
        <p:spPr>
          <a:xfrm>
            <a:off x="1016000" y="2667000"/>
            <a:ext cx="1422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前端把按鈕變灰（停用）是給使用者的提示，</a:t>
            </a:r>
            <a:r>
              <a:rPr lang="en-US" altLang="en-US" sz="2000" b="1" dirty="0">
                <a:solidFill>
                  <a:srgbClr val="FF8F00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不是資源控制的保障</a:t>
            </a: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。</a:t>
            </a:r>
            <a:endParaRPr lang="en-US" sz="2000" dirty="0"/>
          </a:p>
        </p:txBody>
      </p:sp>
      <p:sp>
        <p:nvSpPr>
          <p:cNvPr id="7" name="web_authority-shape-6"/>
          <p:cNvSpPr/>
          <p:nvPr/>
        </p:nvSpPr>
        <p:spPr>
          <a:xfrm>
            <a:off x="1016000" y="3556000"/>
            <a:ext cx="6096000" cy="3556000"/>
          </a:xfrm>
          <a:prstGeom prst="roundRect">
            <a:avLst>
              <a:gd name="adj" fmla="val 2857"/>
            </a:avLst>
          </a:prstGeom>
          <a:solidFill>
            <a:srgbClr val="F5F7FA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8" name="web_authority-text-7"/>
          <p:cNvSpPr/>
          <p:nvPr/>
        </p:nvSpPr>
        <p:spPr>
          <a:xfrm>
            <a:off x="1524000" y="4064000"/>
            <a:ext cx="5080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altLang="en-US" sz="2000" b="1" dirty="0">
                <a:solidFill>
                  <a:srgbClr val="1A237E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後端權威：</a:t>
            </a:r>
            <a:endParaRPr lang="en-US" sz="2000" dirty="0"/>
          </a:p>
          <a:p>
            <a:pPr algn="l" indent="0" marL="0">
              <a:lnSpc>
                <a:spcPts val="3000"/>
              </a:lnSpc>
              <a:buNone/>
            </a:pP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因為網路延遲，或者有多個瀏覽器同時開啟，網頁上的狀態可能比較舊。</a:t>
            </a:r>
            <a:endParaRPr lang="en-US" sz="2000" dirty="0"/>
          </a:p>
          <a:p>
            <a:pPr algn="l" indent="0" marL="0">
              <a:lnSpc>
                <a:spcPts val="3000"/>
              </a:lnSpc>
              <a:buNone/>
            </a:pP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後端 </a:t>
            </a:r>
            <a:r>
              <a:rPr lang="en-US" altLang="en-US" sz="1800" dirty="0">
                <a:solidFill>
                  <a:srgbClr val="26323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submit</a:t>
            </a: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 的 busy 檢查才是防線。</a:t>
            </a:r>
            <a:endParaRPr lang="en-US" sz="2000" dirty="0"/>
          </a:p>
        </p:txBody>
      </p:sp>
      <p:sp>
        <p:nvSpPr>
          <p:cNvPr id="9" name="web_authority-shape-8"/>
          <p:cNvSpPr/>
          <p:nvPr/>
        </p:nvSpPr>
        <p:spPr>
          <a:xfrm>
            <a:off x="7874000" y="3556000"/>
            <a:ext cx="1524000" cy="508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897B"/>
            </a:solidFill>
            <a:prstDash val="solid"/>
          </a:ln>
        </p:spPr>
      </p:sp>
      <p:sp>
        <p:nvSpPr>
          <p:cNvPr id="10" name="web_authority-text-9"/>
          <p:cNvSpPr/>
          <p:nvPr/>
        </p:nvSpPr>
        <p:spPr>
          <a:xfrm>
            <a:off x="7874000" y="3683000"/>
            <a:ext cx="152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2000" dirty="0">
                <a:solidFill>
                  <a:srgbClr val="1E293B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瀏覽器</a:t>
            </a:r>
            <a:endParaRPr lang="en-US" sz="2000" dirty="0"/>
          </a:p>
        </p:txBody>
      </p:sp>
      <p:sp>
        <p:nvSpPr>
          <p:cNvPr id="11" name="web_authority-shape-10"/>
          <p:cNvSpPr/>
          <p:nvPr/>
        </p:nvSpPr>
        <p:spPr>
          <a:xfrm>
            <a:off x="8636000" y="4064000"/>
            <a:ext cx="9144" cy="3048000"/>
          </a:xfrm>
          <a:prstGeom prst="line">
            <a:avLst/>
          </a:prstGeom>
          <a:ln w="25400">
            <a:solidFill>
              <a:srgbClr val="CFD8DC"/>
            </a:solidFill>
            <a:prstDash val="dash"/>
          </a:ln>
        </p:spPr>
      </p:sp>
      <p:sp>
        <p:nvSpPr>
          <p:cNvPr id="12" name="web_authority-shape-11"/>
          <p:cNvSpPr/>
          <p:nvPr/>
        </p:nvSpPr>
        <p:spPr>
          <a:xfrm>
            <a:off x="12446000" y="3556000"/>
            <a:ext cx="1524000" cy="50800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13" name="web_authority-text-12"/>
          <p:cNvSpPr/>
          <p:nvPr/>
        </p:nvSpPr>
        <p:spPr>
          <a:xfrm>
            <a:off x="12446000" y="3683000"/>
            <a:ext cx="152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2000" dirty="0">
                <a:solidFill>
                  <a:srgbClr val="FFFFFF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API &amp; 受理</a:t>
            </a:r>
            <a:endParaRPr lang="en-US" sz="2000" dirty="0"/>
          </a:p>
        </p:txBody>
      </p:sp>
      <p:sp>
        <p:nvSpPr>
          <p:cNvPr id="14" name="web_authority-shape-13"/>
          <p:cNvSpPr/>
          <p:nvPr/>
        </p:nvSpPr>
        <p:spPr>
          <a:xfrm>
            <a:off x="13208000" y="4064000"/>
            <a:ext cx="9144" cy="3048000"/>
          </a:xfrm>
          <a:prstGeom prst="line">
            <a:avLst/>
          </a:prstGeom>
          <a:ln w="25400">
            <a:solidFill>
              <a:srgbClr val="CFD8DC"/>
            </a:solidFill>
            <a:prstDash val="dash"/>
          </a:ln>
        </p:spPr>
      </p:sp>
      <p:sp>
        <p:nvSpPr>
          <p:cNvPr id="15" name="web_authority-shape-14"/>
          <p:cNvSpPr/>
          <p:nvPr/>
        </p:nvSpPr>
        <p:spPr>
          <a:xfrm>
            <a:off x="8636000" y="4572000"/>
            <a:ext cx="4572000" cy="9144"/>
          </a:xfrm>
          <a:prstGeom prst="line">
            <a:avLst/>
          </a:prstGeom>
          <a:ln w="25400">
            <a:solidFill>
              <a:srgbClr val="00897B"/>
            </a:solidFill>
            <a:prstDash val="solid"/>
            <a:tailEnd type="triangle"/>
          </a:ln>
        </p:spPr>
      </p:sp>
      <p:sp>
        <p:nvSpPr>
          <p:cNvPr id="16" name="web_authority-text-15"/>
          <p:cNvSpPr/>
          <p:nvPr/>
        </p:nvSpPr>
        <p:spPr>
          <a:xfrm>
            <a:off x="8890000" y="4318000"/>
            <a:ext cx="406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1E293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POST /api/led/toggle (頁面尚未刷新 busy)</a:t>
            </a:r>
            <a:endParaRPr lang="en-US" sz="1400" dirty="0"/>
          </a:p>
        </p:txBody>
      </p:sp>
      <p:sp>
        <p:nvSpPr>
          <p:cNvPr id="17" name="web_authority-shape-16"/>
          <p:cNvSpPr/>
          <p:nvPr/>
        </p:nvSpPr>
        <p:spPr>
          <a:xfrm flipH="1">
            <a:off x="8636000" y="5334000"/>
            <a:ext cx="4572000" cy="9144"/>
          </a:xfrm>
          <a:prstGeom prst="line">
            <a:avLst/>
          </a:prstGeom>
          <a:ln w="25400">
            <a:solidFill>
              <a:srgbClr val="FF8F00"/>
            </a:solidFill>
            <a:prstDash val="solid"/>
            <a:tailEnd type="triangle"/>
          </a:ln>
        </p:spPr>
      </p:sp>
      <p:sp>
        <p:nvSpPr>
          <p:cNvPr id="18" name="web_authority-text-17"/>
          <p:cNvSpPr/>
          <p:nvPr/>
        </p:nvSpPr>
        <p:spPr>
          <a:xfrm>
            <a:off x="8890000" y="5080000"/>
            <a:ext cx="406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FF8F0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HTTP 409 Rejected (原因: busy)</a:t>
            </a:r>
            <a:endParaRPr lang="en-US" sz="1400" dirty="0"/>
          </a:p>
        </p:txBody>
      </p:sp>
      <p:sp>
        <p:nvSpPr>
          <p:cNvPr id="19" name="web_authority-shape-18"/>
          <p:cNvSpPr/>
          <p:nvPr/>
        </p:nvSpPr>
        <p:spPr>
          <a:xfrm>
            <a:off x="8636000" y="6096000"/>
            <a:ext cx="9144" cy="508000"/>
          </a:xfrm>
          <a:prstGeom prst="line">
            <a:avLst/>
          </a:prstGeom>
          <a:ln w="25400">
            <a:solidFill>
              <a:srgbClr val="FF8F00"/>
            </a:solidFill>
            <a:prstDash val="solid"/>
          </a:ln>
        </p:spPr>
      </p:sp>
      <p:sp>
        <p:nvSpPr>
          <p:cNvPr id="20" name="web_authority-shape-19"/>
          <p:cNvSpPr/>
          <p:nvPr/>
        </p:nvSpPr>
        <p:spPr>
          <a:xfrm>
            <a:off x="8636000" y="6096000"/>
            <a:ext cx="508000" cy="9144"/>
          </a:xfrm>
          <a:prstGeom prst="line">
            <a:avLst/>
          </a:prstGeom>
          <a:ln w="25400">
            <a:solidFill>
              <a:srgbClr val="FF8F00"/>
            </a:solidFill>
            <a:prstDash val="solid"/>
          </a:ln>
        </p:spPr>
      </p:sp>
      <p:sp>
        <p:nvSpPr>
          <p:cNvPr id="21" name="web_authority-shape-20"/>
          <p:cNvSpPr/>
          <p:nvPr/>
        </p:nvSpPr>
        <p:spPr>
          <a:xfrm>
            <a:off x="9144000" y="6096000"/>
            <a:ext cx="9144" cy="508000"/>
          </a:xfrm>
          <a:prstGeom prst="line">
            <a:avLst/>
          </a:prstGeom>
          <a:ln w="25400">
            <a:solidFill>
              <a:srgbClr val="FF8F00"/>
            </a:solidFill>
            <a:prstDash val="solid"/>
          </a:ln>
        </p:spPr>
      </p:sp>
      <p:sp>
        <p:nvSpPr>
          <p:cNvPr id="22" name="web_authority-shape-21"/>
          <p:cNvSpPr/>
          <p:nvPr/>
        </p:nvSpPr>
        <p:spPr>
          <a:xfrm flipH="1">
            <a:off x="8636000" y="6604000"/>
            <a:ext cx="508000" cy="9144"/>
          </a:xfrm>
          <a:prstGeom prst="line">
            <a:avLst/>
          </a:prstGeom>
          <a:ln w="25400">
            <a:solidFill>
              <a:srgbClr val="FF8F00"/>
            </a:solidFill>
            <a:prstDash val="solid"/>
            <a:tailEnd type="triangle"/>
          </a:ln>
        </p:spPr>
      </p:sp>
      <p:sp>
        <p:nvSpPr>
          <p:cNvPr id="23" name="web_authority-text-22"/>
          <p:cNvSpPr/>
          <p:nvPr/>
        </p:nvSpPr>
        <p:spPr>
          <a:xfrm>
            <a:off x="9398000" y="6223000"/>
            <a:ext cx="304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FF8F00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顯示未受理並停用按鈕</a:t>
            </a:r>
            <a:endParaRPr lang="en-US" sz="1400" dirty="0"/>
          </a:p>
        </p:txBody>
      </p:sp>
      <p:sp>
        <p:nvSpPr>
          <p:cNvPr id="24" name="web_authority-text-23"/>
          <p:cNvSpPr/>
          <p:nvPr/>
        </p:nvSpPr>
        <p:spPr>
          <a:xfrm>
            <a:off x="1016000" y="7620000"/>
            <a:ext cx="1422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2000" dirty="0">
                <a:solidFill>
                  <a:srgbClr val="00897B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實體按鈕消耗物理按下；Web 按鈕透過 HTTP 受理狀態與結果 API 確認。</a:t>
            </a:r>
            <a:endParaRPr lang="en-US" sz="2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st_slow_channels-shape-1"/>
          <p:cNvSpPr/>
          <p:nvPr/>
        </p:nvSpPr>
        <p:spPr>
          <a:xfrm>
            <a:off x="0" y="1016000"/>
            <a:ext cx="16256000" cy="5080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3" name="fast_slow_channels-text-2"/>
          <p:cNvSpPr/>
          <p:nvPr/>
        </p:nvSpPr>
        <p:spPr>
          <a:xfrm>
            <a:off x="1016000" y="508000"/>
            <a:ext cx="635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546E7A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8. 把同樣規則套到網頁按鈕</a:t>
            </a:r>
            <a:endParaRPr lang="en-US" sz="1400" dirty="0"/>
          </a:p>
        </p:txBody>
      </p:sp>
      <p:sp>
        <p:nvSpPr>
          <p:cNvPr id="4" name="fast_slow_channels-text-3"/>
          <p:cNvSpPr/>
          <p:nvPr/>
        </p:nvSpPr>
        <p:spPr>
          <a:xfrm>
            <a:off x="13970000" y="508000"/>
            <a:ext cx="127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546E7A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33</a:t>
            </a:r>
            <a:endParaRPr lang="en-US" sz="1400" dirty="0"/>
          </a:p>
        </p:txBody>
      </p:sp>
      <p:sp>
        <p:nvSpPr>
          <p:cNvPr id="5" name="fast_slow_channels-text-4"/>
          <p:cNvSpPr/>
          <p:nvPr/>
        </p:nvSpPr>
        <p:spPr>
          <a:xfrm>
            <a:off x="1016000" y="1778000"/>
            <a:ext cx="1422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1A237E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控制提示與感測展示要分流</a:t>
            </a:r>
            <a:endParaRPr lang="en-US" sz="3200" dirty="0"/>
          </a:p>
        </p:txBody>
      </p:sp>
      <p:sp>
        <p:nvSpPr>
          <p:cNvPr id="6" name="fast_slow_channels-text-5"/>
          <p:cNvSpPr/>
          <p:nvPr/>
        </p:nvSpPr>
        <p:spPr>
          <a:xfrm>
            <a:off x="1016000" y="2667000"/>
            <a:ext cx="1422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溫溼度晚一點更新不影響操作，但「現在能不能按 LED」直接影響使用者的判斷。</a:t>
            </a:r>
            <a:endParaRPr lang="en-US" sz="2000" dirty="0"/>
          </a:p>
        </p:txBody>
      </p:sp>
      <p:sp>
        <p:nvSpPr>
          <p:cNvPr id="7" name="fast_slow_channels-shape-6"/>
          <p:cNvSpPr/>
          <p:nvPr/>
        </p:nvSpPr>
        <p:spPr>
          <a:xfrm>
            <a:off x="1016000" y="3556000"/>
            <a:ext cx="6604000" cy="3302000"/>
          </a:xfrm>
          <a:prstGeom prst="roundRect">
            <a:avLst>
              <a:gd name="adj" fmla="val 3077"/>
            </a:avLst>
          </a:prstGeom>
          <a:solidFill>
            <a:srgbClr val="F5F7FA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8" name="fast_slow_channels-text-7"/>
          <p:cNvSpPr/>
          <p:nvPr/>
        </p:nvSpPr>
        <p:spPr>
          <a:xfrm>
            <a:off x="1524000" y="3810000"/>
            <a:ext cx="558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2400" dirty="0">
                <a:solidFill>
                  <a:srgbClr val="1A237E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快速通道：LED 控制狀態</a:t>
            </a:r>
            <a:endParaRPr lang="en-US" sz="2400" dirty="0"/>
          </a:p>
        </p:txBody>
      </p:sp>
      <p:sp>
        <p:nvSpPr>
          <p:cNvPr id="9" name="fast_slow_channels-text-8"/>
          <p:cNvSpPr/>
          <p:nvPr/>
        </p:nvSpPr>
        <p:spPr>
          <a:xfrm>
            <a:off x="1524000" y="4572000"/>
            <a:ext cx="5588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17500" indent="-317500">
              <a:lnSpc>
                <a:spcPts val="3000"/>
              </a:lnSpc>
              <a:spcBef>
                <a:spcPts val="10"/>
              </a:spcBef>
              <a:buSzPct val="100000"/>
              <a:buChar char="✓"/>
            </a:pPr>
            <a:r>
              <a:rPr lang="en-US" altLang="en-US" sz="2000" dirty="0">
                <a:solidFill>
                  <a:srgbClr val="1E293B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API: </a:t>
            </a:r>
            <a:r>
              <a:rPr lang="en-US" altLang="en-US" sz="1800" dirty="0">
                <a:solidFill>
                  <a:srgbClr val="1E293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/api/led/status</a:t>
            </a:r>
            <a:endParaRPr lang="en-US" sz="2000" dirty="0"/>
          </a:p>
          <a:p>
            <a:pPr algn="l" marL="317500" indent="-317500">
              <a:lnSpc>
                <a:spcPts val="3000"/>
              </a:lnSpc>
              <a:spcBef>
                <a:spcPts val="10"/>
              </a:spcBef>
              <a:buSzPct val="100000"/>
              <a:buChar char="✓"/>
            </a:pPr>
            <a:r>
              <a:rPr lang="en-US" altLang="en-US" sz="2000" dirty="0">
                <a:solidFill>
                  <a:srgbClr val="1E293B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資料: 只取 Owner 的 RAM 快照</a:t>
            </a:r>
            <a:endParaRPr lang="en-US" sz="2000" dirty="0"/>
          </a:p>
          <a:p>
            <a:pPr algn="l" marL="317500" indent="-317500">
              <a:lnSpc>
                <a:spcPts val="3000"/>
              </a:lnSpc>
              <a:spcBef>
                <a:spcPts val="10"/>
              </a:spcBef>
              <a:buSzPct val="100000"/>
              <a:buChar char="✓"/>
            </a:pPr>
            <a:r>
              <a:rPr lang="en-US" altLang="en-US" sz="2000" dirty="0">
                <a:solidFill>
                  <a:srgbClr val="1E293B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頻率: 完成後等 200ms 再查</a:t>
            </a:r>
            <a:endParaRPr lang="en-US" sz="2000" dirty="0"/>
          </a:p>
          <a:p>
            <a:pPr algn="l" marL="317500" indent="-317500">
              <a:lnSpc>
                <a:spcPts val="3000"/>
              </a:lnSpc>
              <a:spcBef>
                <a:spcPts val="10"/>
              </a:spcBef>
              <a:buSzPct val="100000"/>
              <a:buChar char="✓"/>
            </a:pPr>
            <a:r>
              <a:rPr lang="en-US" altLang="en-US" sz="2000" b="1" dirty="0">
                <a:solidFill>
                  <a:srgbClr val="00897B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不會被舊資料覆蓋</a:t>
            </a:r>
            <a:endParaRPr lang="en-US" sz="2000" dirty="0"/>
          </a:p>
        </p:txBody>
      </p:sp>
      <p:sp>
        <p:nvSpPr>
          <p:cNvPr id="10" name="fast_slow_channels-shape-9"/>
          <p:cNvSpPr/>
          <p:nvPr/>
        </p:nvSpPr>
        <p:spPr>
          <a:xfrm>
            <a:off x="8636000" y="3556000"/>
            <a:ext cx="6604000" cy="3302000"/>
          </a:xfrm>
          <a:prstGeom prst="roundRect">
            <a:avLst>
              <a:gd name="adj" fmla="val 3077"/>
            </a:avLst>
          </a:prstGeom>
          <a:solidFill>
            <a:srgbClr val="F5F7FA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11" name="fast_slow_channels-text-10"/>
          <p:cNvSpPr/>
          <p:nvPr/>
        </p:nvSpPr>
        <p:spPr>
          <a:xfrm>
            <a:off x="9144000" y="3810000"/>
            <a:ext cx="558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2400" dirty="0">
                <a:solidFill>
                  <a:srgbClr val="1A237E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慢速通道：一般感測資料</a:t>
            </a:r>
            <a:endParaRPr lang="en-US" sz="2400" dirty="0"/>
          </a:p>
        </p:txBody>
      </p:sp>
      <p:sp>
        <p:nvSpPr>
          <p:cNvPr id="12" name="fast_slow_channels-text-11"/>
          <p:cNvSpPr/>
          <p:nvPr/>
        </p:nvSpPr>
        <p:spPr>
          <a:xfrm>
            <a:off x="9144000" y="4572000"/>
            <a:ext cx="5588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17500" indent="-317500">
              <a:lnSpc>
                <a:spcPts val="3000"/>
              </a:lnSpc>
              <a:spcBef>
                <a:spcPts val="10"/>
              </a:spcBef>
              <a:buSzPct val="100000"/>
              <a:buChar char="✓"/>
            </a:pPr>
            <a:r>
              <a:rPr lang="en-US" altLang="en-US" sz="2000" dirty="0">
                <a:solidFill>
                  <a:srgbClr val="1E293B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API: </a:t>
            </a:r>
            <a:r>
              <a:rPr lang="en-US" altLang="en-US" sz="1800" dirty="0">
                <a:solidFill>
                  <a:srgbClr val="1E293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/api/data</a:t>
            </a:r>
            <a:endParaRPr lang="en-US" sz="2000" dirty="0"/>
          </a:p>
          <a:p>
            <a:pPr algn="l" marL="317500" indent="-317500">
              <a:lnSpc>
                <a:spcPts val="3000"/>
              </a:lnSpc>
              <a:spcBef>
                <a:spcPts val="10"/>
              </a:spcBef>
              <a:buSzPct val="100000"/>
              <a:buChar char="✓"/>
            </a:pPr>
            <a:r>
              <a:rPr lang="en-US" altLang="en-US" sz="2000" dirty="0">
                <a:solidFill>
                  <a:srgbClr val="1E293B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資料: 需等待各感測器讀取</a:t>
            </a:r>
            <a:endParaRPr lang="en-US" sz="2000" dirty="0"/>
          </a:p>
          <a:p>
            <a:pPr algn="l" marL="317500" indent="-317500">
              <a:lnSpc>
                <a:spcPts val="3000"/>
              </a:lnSpc>
              <a:spcBef>
                <a:spcPts val="10"/>
              </a:spcBef>
              <a:buSzPct val="100000"/>
              <a:buChar char="✓"/>
            </a:pPr>
            <a:r>
              <a:rPr lang="en-US" altLang="en-US" sz="2000" dirty="0">
                <a:solidFill>
                  <a:srgbClr val="1E293B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頻率: 完成後等 1000ms 再查</a:t>
            </a:r>
            <a:endParaRPr lang="en-US" sz="2000" dirty="0"/>
          </a:p>
          <a:p>
            <a:pPr algn="l" marL="317500" indent="-317500">
              <a:lnSpc>
                <a:spcPts val="3000"/>
              </a:lnSpc>
              <a:spcBef>
                <a:spcPts val="10"/>
              </a:spcBef>
              <a:buSzPct val="100000"/>
              <a:buChar char="✓"/>
            </a:pPr>
            <a:r>
              <a:rPr lang="en-US" altLang="en-US" sz="2000" b="1" dirty="0">
                <a:solidFill>
                  <a:srgbClr val="FF8F00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只更新卡片，不碰 LED 提示</a:t>
            </a:r>
            <a:endParaRPr lang="en-US" sz="2000" dirty="0"/>
          </a:p>
        </p:txBody>
      </p:sp>
      <p:sp>
        <p:nvSpPr>
          <p:cNvPr id="13" name="fast_slow_channels-text-12"/>
          <p:cNvSpPr/>
          <p:nvPr/>
        </p:nvSpPr>
        <p:spPr>
          <a:xfrm>
            <a:off x="1016000" y="7366000"/>
            <a:ext cx="1422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分流確保了慢速回應即使晚到，也不會把好不容易看到的「警示中」狀態，</a:t>
            </a:r>
            <a:endParaRPr lang="en-US" sz="2000" dirty="0"/>
          </a:p>
          <a:p>
            <a:pPr algn="ctr" indent="0" marL="0">
              <a:lnSpc>
                <a:spcPts val="3000"/>
              </a:lnSpc>
              <a:buNone/>
            </a:pP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又錯誤地改回「可操作」。</a:t>
            </a:r>
            <a:endParaRPr lang="en-US" sz="2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efore_after_web-shape-1"/>
          <p:cNvSpPr/>
          <p:nvPr/>
        </p:nvSpPr>
        <p:spPr>
          <a:xfrm>
            <a:off x="0" y="1016000"/>
            <a:ext cx="16256000" cy="5080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3" name="before_after_web-text-2"/>
          <p:cNvSpPr/>
          <p:nvPr/>
        </p:nvSpPr>
        <p:spPr>
          <a:xfrm>
            <a:off x="1016000" y="508000"/>
            <a:ext cx="635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546E7A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8. 把同樣規則套到網頁按鈕</a:t>
            </a:r>
            <a:endParaRPr lang="en-US" sz="1400" dirty="0"/>
          </a:p>
        </p:txBody>
      </p:sp>
      <p:sp>
        <p:nvSpPr>
          <p:cNvPr id="4" name="before_after_web-text-3"/>
          <p:cNvSpPr/>
          <p:nvPr/>
        </p:nvSpPr>
        <p:spPr>
          <a:xfrm>
            <a:off x="13970000" y="508000"/>
            <a:ext cx="127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546E7A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34</a:t>
            </a:r>
            <a:endParaRPr lang="en-US" sz="1400" dirty="0"/>
          </a:p>
        </p:txBody>
      </p:sp>
      <p:sp>
        <p:nvSpPr>
          <p:cNvPr id="5" name="before_after_web-text-4"/>
          <p:cNvSpPr/>
          <p:nvPr/>
        </p:nvSpPr>
        <p:spPr>
          <a:xfrm>
            <a:off x="1016000" y="1778000"/>
            <a:ext cx="1422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1A237E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Web 架構比較：之前與現在</a:t>
            </a:r>
            <a:endParaRPr lang="en-US" sz="3200" dirty="0"/>
          </a:p>
        </p:txBody>
      </p:sp>
      <p:graphicFrame>
        <p:nvGraphicFramePr>
          <p:cNvPr id="35" name="before_after_web-table-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16000" y="3048000"/>
          <a:ext cx="14224000" cy="4064000"/>
        </p:xfrm>
        <a:graphic>
          <a:graphicData uri="http://schemas.openxmlformats.org/drawingml/2006/table">
            <a:tbl>
              <a:tblPr/>
              <a:tblGrid>
                <a:gridCol w="3556000"/>
                <a:gridCol w="4741329"/>
                <a:gridCol w="5926671"/>
              </a:tblGrid>
              <a:tr h="508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比較項目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1A2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之前 (共用通道)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1A2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現在 (依即時性分流)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1A2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711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更新頻率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A2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一起使用 </a:t>
                      </a:r>
                      <a:r>
                        <a:rPr lang="en-US" altLang="en-US" sz="1800" dirty="0">
                          <a:solidFill>
                            <a:srgbClr val="333333"/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setInterval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A2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各自完成後排程 (200ms / 1000ms)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1A2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1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LED 資料來源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整份感測 API 中的 LED 副本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專屬的 </a:t>
                      </a:r>
                      <a:r>
                        <a:rPr lang="en-US" altLang="en-US" sz="1800" dirty="0">
                          <a:solidFill>
                            <a:srgbClr val="333333"/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/api/led/status</a:t>
                      </a:r>
                      <a:r>
                        <a:rPr lang="en-US" altLang="en-US" sz="2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 (RAM 快照)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1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重疊請求問題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b="1" dirty="0">
                          <a:solidFill>
                            <a:srgbClr val="FF8F00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不等前一筆，可能累積重疊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使用 </a:t>
                      </a:r>
                      <a:r>
                        <a:rPr lang="en-US" altLang="en-US" sz="1800" dirty="0">
                          <a:solidFill>
                            <a:srgbClr val="333333"/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await</a:t>
                      </a:r>
                      <a:r>
                        <a:rPr lang="en-US" altLang="en-US" sz="2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，單筆在途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1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LED 提示寫入者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每筆感測回應都能覆寫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只有快速通道與 409 拒絕能寫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1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狀態取得失敗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溫溼度失敗，LED 提示也失效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分流，感測失敗不影響 LED 控制面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7" name="before_after_web-text-6"/>
          <p:cNvSpPr/>
          <p:nvPr/>
        </p:nvSpPr>
        <p:spPr>
          <a:xfrm>
            <a:off x="1016000" y="7620000"/>
            <a:ext cx="1422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400" dirty="0">
                <a:solidFill>
                  <a:srgbClr val="546E7A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改進的基礎是分離關注點、依時效分流、單筆在途與取樣快照。</a:t>
            </a:r>
            <a:endParaRPr lang="en-US" sz="14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shness_ttl-shape-1"/>
          <p:cNvSpPr/>
          <p:nvPr/>
        </p:nvSpPr>
        <p:spPr>
          <a:xfrm>
            <a:off x="0" y="1016000"/>
            <a:ext cx="16256000" cy="5080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3" name="freshness_ttl-text-2"/>
          <p:cNvSpPr/>
          <p:nvPr/>
        </p:nvSpPr>
        <p:spPr>
          <a:xfrm>
            <a:off x="1016000" y="508000"/>
            <a:ext cx="635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546E7A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8. 把同樣規則套到網頁按鈕</a:t>
            </a:r>
            <a:endParaRPr lang="en-US" sz="1400" dirty="0"/>
          </a:p>
        </p:txBody>
      </p:sp>
      <p:sp>
        <p:nvSpPr>
          <p:cNvPr id="4" name="freshness_ttl-text-3"/>
          <p:cNvSpPr/>
          <p:nvPr/>
        </p:nvSpPr>
        <p:spPr>
          <a:xfrm>
            <a:off x="13970000" y="508000"/>
            <a:ext cx="127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546E7A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35</a:t>
            </a:r>
            <a:endParaRPr lang="en-US" sz="1400" dirty="0"/>
          </a:p>
        </p:txBody>
      </p:sp>
      <p:sp>
        <p:nvSpPr>
          <p:cNvPr id="5" name="freshness_ttl-text-4"/>
          <p:cNvSpPr/>
          <p:nvPr/>
        </p:nvSpPr>
        <p:spPr>
          <a:xfrm>
            <a:off x="1016000" y="1778000"/>
            <a:ext cx="1422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1A237E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不把一次查詢失敗當成連線失效</a:t>
            </a:r>
            <a:endParaRPr lang="en-US" sz="3200" dirty="0"/>
          </a:p>
        </p:txBody>
      </p:sp>
      <p:sp>
        <p:nvSpPr>
          <p:cNvPr id="6" name="freshness_ttl-text-5"/>
          <p:cNvSpPr/>
          <p:nvPr/>
        </p:nvSpPr>
        <p:spPr>
          <a:xfrm>
            <a:off x="1016000" y="2667000"/>
            <a:ext cx="1422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如果網頁每秒查一次，剛好掉了一個封包，按鈕瞬間變灰又馬上變亮，會造成體驗不佳。</a:t>
            </a:r>
            <a:endParaRPr lang="en-US" sz="2000" dirty="0"/>
          </a:p>
        </p:txBody>
      </p:sp>
      <p:sp>
        <p:nvSpPr>
          <p:cNvPr id="7" name="freshness_ttl-shape-6"/>
          <p:cNvSpPr/>
          <p:nvPr/>
        </p:nvSpPr>
        <p:spPr>
          <a:xfrm>
            <a:off x="1016000" y="3556000"/>
            <a:ext cx="6604000" cy="3302000"/>
          </a:xfrm>
          <a:prstGeom prst="roundRect">
            <a:avLst>
              <a:gd name="adj" fmla="val 3077"/>
            </a:avLst>
          </a:prstGeom>
          <a:solidFill>
            <a:srgbClr val="F5F7FA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8" name="freshness_ttl-text-7"/>
          <p:cNvSpPr/>
          <p:nvPr/>
        </p:nvSpPr>
        <p:spPr>
          <a:xfrm>
            <a:off x="1524000" y="4064000"/>
            <a:ext cx="5588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altLang="en-US" sz="2000" b="1" dirty="0">
                <a:solidFill>
                  <a:srgbClr val="1A237E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狀態有效期限 (TTL)：</a:t>
            </a:r>
            <a:endParaRPr lang="en-US" sz="2000" dirty="0"/>
          </a:p>
          <a:p>
            <a:pPr algn="l" marL="317500" indent="-317500">
              <a:lnSpc>
                <a:spcPts val="3000"/>
              </a:lnSpc>
              <a:spcBef>
                <a:spcPts val="10"/>
              </a:spcBef>
              <a:buSzPct val="100000"/>
              <a:buChar char="✓"/>
            </a:pP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保留 </a:t>
            </a:r>
            <a:r>
              <a:rPr lang="en-US" altLang="en-US" sz="2000" b="1" dirty="0">
                <a:solidFill>
                  <a:srgbClr val="00897B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5 秒內</a:t>
            </a: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 成功取得的快照。</a:t>
            </a:r>
            <a:endParaRPr lang="en-US" sz="2000" dirty="0"/>
          </a:p>
          <a:p>
            <a:pPr algn="l" marL="317500" indent="-317500">
              <a:lnSpc>
                <a:spcPts val="3000"/>
              </a:lnSpc>
              <a:spcBef>
                <a:spcPts val="10"/>
              </a:spcBef>
              <a:buSzPct val="100000"/>
              <a:buChar char="✓"/>
            </a:pP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即使單次查詢逾時，只要快照未達 5 秒，按鈕就不跳動。</a:t>
            </a:r>
            <a:endParaRPr lang="en-US" sz="2000" dirty="0"/>
          </a:p>
          <a:p>
            <a:pPr algn="l" marL="317500" indent="-317500">
              <a:lnSpc>
                <a:spcPts val="3000"/>
              </a:lnSpc>
              <a:spcBef>
                <a:spcPts val="10"/>
              </a:spcBef>
              <a:buSzPct val="100000"/>
              <a:buChar char="✓"/>
            </a:pP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超過 5 秒未收到 LED 成功回應，監視器才會強制停用。</a:t>
            </a:r>
            <a:endParaRPr lang="en-US" sz="2000" dirty="0"/>
          </a:p>
        </p:txBody>
      </p:sp>
      <p:sp>
        <p:nvSpPr>
          <p:cNvPr id="9" name="freshness_ttl-shape-8"/>
          <p:cNvSpPr/>
          <p:nvPr/>
        </p:nvSpPr>
        <p:spPr>
          <a:xfrm>
            <a:off x="8636000" y="3556000"/>
            <a:ext cx="6604000" cy="3302000"/>
          </a:xfrm>
          <a:prstGeom prst="roundRect">
            <a:avLst>
              <a:gd name="adj" fmla="val 3077"/>
            </a:avLst>
          </a:prstGeom>
          <a:solidFill>
            <a:srgbClr val="F5F7FA"/>
          </a:solidFill>
          <a:ln w="25400">
            <a:solidFill>
              <a:srgbClr val="FF8F00"/>
            </a:solidFill>
            <a:prstDash val="solid"/>
          </a:ln>
        </p:spPr>
      </p:sp>
      <p:sp>
        <p:nvSpPr>
          <p:cNvPr id="10" name="freshness_ttl-text-9"/>
          <p:cNvSpPr/>
          <p:nvPr/>
        </p:nvSpPr>
        <p:spPr>
          <a:xfrm>
            <a:off x="9144000" y="4064000"/>
            <a:ext cx="5588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altLang="en-US" sz="2000" b="1" dirty="0">
                <a:solidFill>
                  <a:srgbClr val="FF8F00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安全底線：</a:t>
            </a:r>
            <a:endParaRPr lang="en-US" sz="2000" dirty="0"/>
          </a:p>
          <a:p>
            <a:pPr algn="l" marL="317500" indent="-317500">
              <a:lnSpc>
                <a:spcPts val="3000"/>
              </a:lnSpc>
              <a:spcBef>
                <a:spcPts val="10"/>
              </a:spcBef>
              <a:buSzPct val="100000"/>
              <a:buChar char="✓"/>
            </a:pP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這只解決「短暫掉包」的跳動。</a:t>
            </a:r>
            <a:endParaRPr lang="en-US" sz="2000" dirty="0"/>
          </a:p>
          <a:p>
            <a:pPr algn="l" marL="317500" indent="-317500">
              <a:lnSpc>
                <a:spcPts val="3000"/>
              </a:lnSpc>
              <a:spcBef>
                <a:spcPts val="10"/>
              </a:spcBef>
              <a:buSzPct val="100000"/>
              <a:buChar char="✓"/>
            </a:pP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如果在 5 秒內你按了按鈕，但後端其實已經紅閃，</a:t>
            </a:r>
            <a:r>
              <a:rPr lang="en-US" altLang="en-US" sz="2000" b="1" dirty="0">
                <a:solidFill>
                  <a:srgbClr val="FF8F00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後端 submit 仍然會拒絕並回 409</a:t>
            </a: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。</a:t>
            </a:r>
            <a:endParaRPr lang="en-US" sz="2000" dirty="0"/>
          </a:p>
          <a:p>
            <a:pPr algn="l" marL="317500" indent="-317500">
              <a:lnSpc>
                <a:spcPts val="3000"/>
              </a:lnSpc>
              <a:spcBef>
                <a:spcPts val="10"/>
              </a:spcBef>
              <a:buSzPct val="100000"/>
              <a:buChar char="✓"/>
            </a:pP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控制權沒有因為這個 TTL 放寬。</a:t>
            </a:r>
            <a:endParaRPr lang="en-US" sz="2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te_response_safety-shape-1"/>
          <p:cNvSpPr/>
          <p:nvPr/>
        </p:nvSpPr>
        <p:spPr>
          <a:xfrm>
            <a:off x="0" y="1016000"/>
            <a:ext cx="16256000" cy="5080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3" name="late_response_safety-text-2"/>
          <p:cNvSpPr/>
          <p:nvPr/>
        </p:nvSpPr>
        <p:spPr>
          <a:xfrm>
            <a:off x="1016000" y="508000"/>
            <a:ext cx="635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546E7A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8. 把同樣規則套到網頁按鈕</a:t>
            </a:r>
            <a:endParaRPr lang="en-US" sz="1400" dirty="0"/>
          </a:p>
        </p:txBody>
      </p:sp>
      <p:sp>
        <p:nvSpPr>
          <p:cNvPr id="4" name="late_response_safety-text-3"/>
          <p:cNvSpPr/>
          <p:nvPr/>
        </p:nvSpPr>
        <p:spPr>
          <a:xfrm>
            <a:off x="13970000" y="508000"/>
            <a:ext cx="127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546E7A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36</a:t>
            </a:r>
            <a:endParaRPr lang="en-US" sz="1400" dirty="0"/>
          </a:p>
        </p:txBody>
      </p:sp>
      <p:sp>
        <p:nvSpPr>
          <p:cNvPr id="5" name="late_response_safety-text-4"/>
          <p:cNvSpPr/>
          <p:nvPr/>
        </p:nvSpPr>
        <p:spPr>
          <a:xfrm>
            <a:off x="1016000" y="1778000"/>
            <a:ext cx="1422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1A237E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逾時、晚到回應與未知狀態</a:t>
            </a:r>
            <a:endParaRPr lang="en-US" sz="3200" dirty="0"/>
          </a:p>
        </p:txBody>
      </p:sp>
      <p:sp>
        <p:nvSpPr>
          <p:cNvPr id="6" name="late_response_safety-shape-5"/>
          <p:cNvSpPr/>
          <p:nvPr/>
        </p:nvSpPr>
        <p:spPr>
          <a:xfrm>
            <a:off x="1524000" y="3048000"/>
            <a:ext cx="13208000" cy="1524000"/>
          </a:xfrm>
          <a:prstGeom prst="roundRect">
            <a:avLst>
              <a:gd name="adj" fmla="val 6667"/>
            </a:avLst>
          </a:prstGeom>
          <a:solidFill>
            <a:srgbClr val="F5F7FA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7" name="late_response_safety-shape-6"/>
          <p:cNvSpPr/>
          <p:nvPr/>
        </p:nvSpPr>
        <p:spPr>
          <a:xfrm>
            <a:off x="2286000" y="3683000"/>
            <a:ext cx="1016000" cy="9144"/>
          </a:xfrm>
          <a:prstGeom prst="line">
            <a:avLst/>
          </a:prstGeom>
          <a:ln w="25400">
            <a:solidFill>
              <a:srgbClr val="00897B"/>
            </a:solidFill>
            <a:prstDash val="solid"/>
            <a:tailEnd type="triangle"/>
          </a:ln>
        </p:spPr>
      </p:sp>
      <p:sp>
        <p:nvSpPr>
          <p:cNvPr id="8" name="late_response_safety-text-7"/>
          <p:cNvSpPr/>
          <p:nvPr/>
        </p:nvSpPr>
        <p:spPr>
          <a:xfrm>
            <a:off x="3556000" y="3556000"/>
            <a:ext cx="254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dirty="0">
                <a:solidFill>
                  <a:srgbClr val="1A237E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發起 Fetch</a:t>
            </a:r>
            <a:endParaRPr lang="en-US" sz="2000" dirty="0"/>
          </a:p>
        </p:txBody>
      </p:sp>
      <p:sp>
        <p:nvSpPr>
          <p:cNvPr id="9" name="late_response_safety-shape-8"/>
          <p:cNvSpPr/>
          <p:nvPr/>
        </p:nvSpPr>
        <p:spPr>
          <a:xfrm>
            <a:off x="6350000" y="3683000"/>
            <a:ext cx="3048000" cy="9144"/>
          </a:xfrm>
          <a:prstGeom prst="line">
            <a:avLst/>
          </a:prstGeom>
          <a:ln w="25400">
            <a:solidFill>
              <a:srgbClr val="CFD8DC"/>
            </a:solidFill>
            <a:prstDash val="solid"/>
          </a:ln>
        </p:spPr>
      </p:sp>
      <p:sp>
        <p:nvSpPr>
          <p:cNvPr id="10" name="late_response_safety-text-9"/>
          <p:cNvSpPr/>
          <p:nvPr/>
        </p:nvSpPr>
        <p:spPr>
          <a:xfrm>
            <a:off x="7112000" y="3302000"/>
            <a:ext cx="152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400" dirty="0">
                <a:solidFill>
                  <a:srgbClr val="546E7A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等了 1 秒</a:t>
            </a:r>
            <a:endParaRPr lang="en-US" sz="1400" dirty="0"/>
          </a:p>
        </p:txBody>
      </p:sp>
      <p:sp>
        <p:nvSpPr>
          <p:cNvPr id="11" name="late_response_safety-shape-10"/>
          <p:cNvSpPr/>
          <p:nvPr/>
        </p:nvSpPr>
        <p:spPr>
          <a:xfrm>
            <a:off x="9906000" y="3429000"/>
            <a:ext cx="1778000" cy="508000"/>
          </a:xfrm>
          <a:prstGeom prst="roundRect">
            <a:avLst>
              <a:gd name="adj" fmla="val 50000"/>
            </a:avLst>
          </a:prstGeom>
          <a:solidFill>
            <a:srgbClr val="FF8F00"/>
          </a:solidFill>
          <a:ln/>
        </p:spPr>
      </p:sp>
      <p:sp>
        <p:nvSpPr>
          <p:cNvPr id="12" name="late_response_safety-text-11"/>
          <p:cNvSpPr/>
          <p:nvPr/>
        </p:nvSpPr>
        <p:spPr>
          <a:xfrm>
            <a:off x="9906000" y="3556000"/>
            <a:ext cx="177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2000" dirty="0">
                <a:solidFill>
                  <a:srgbClr val="FFFFFF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Abort 逾時</a:t>
            </a:r>
            <a:endParaRPr lang="en-US" sz="2000" dirty="0"/>
          </a:p>
        </p:txBody>
      </p:sp>
      <p:sp>
        <p:nvSpPr>
          <p:cNvPr id="13" name="late_response_safety-shape-12"/>
          <p:cNvSpPr/>
          <p:nvPr/>
        </p:nvSpPr>
        <p:spPr>
          <a:xfrm>
            <a:off x="10795000" y="3937000"/>
            <a:ext cx="9144" cy="762000"/>
          </a:xfrm>
          <a:prstGeom prst="line">
            <a:avLst/>
          </a:prstGeom>
          <a:ln w="25400">
            <a:solidFill>
              <a:srgbClr val="FF8F00"/>
            </a:solidFill>
            <a:prstDash val="dash"/>
            <a:tailEnd type="triangle"/>
          </a:ln>
        </p:spPr>
      </p:sp>
      <p:sp>
        <p:nvSpPr>
          <p:cNvPr id="14" name="late_response_safety-text-13"/>
          <p:cNvSpPr/>
          <p:nvPr/>
        </p:nvSpPr>
        <p:spPr>
          <a:xfrm>
            <a:off x="9906000" y="4826000"/>
            <a:ext cx="177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altLang="en-US" sz="2000" dirty="0">
                <a:solidFill>
                  <a:srgbClr val="1E293B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本輪結束</a:t>
            </a:r>
            <a:endParaRPr lang="en-US" sz="2000" dirty="0"/>
          </a:p>
          <a:p>
            <a:pPr algn="ctr" indent="0" marL="0">
              <a:lnSpc>
                <a:spcPts val="2100"/>
              </a:lnSpc>
              <a:buNone/>
            </a:pPr>
            <a:r>
              <a:rPr lang="en-US" altLang="en-US" sz="1400" dirty="0">
                <a:solidFill>
                  <a:srgbClr val="1E293B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進入 TTL 判斷</a:t>
            </a:r>
            <a:endParaRPr lang="en-US" sz="2000" dirty="0"/>
          </a:p>
        </p:txBody>
      </p:sp>
      <p:sp>
        <p:nvSpPr>
          <p:cNvPr id="15" name="late_response_safety-shape-14"/>
          <p:cNvSpPr/>
          <p:nvPr/>
        </p:nvSpPr>
        <p:spPr>
          <a:xfrm>
            <a:off x="6096000" y="5842000"/>
            <a:ext cx="3810000" cy="9144"/>
          </a:xfrm>
          <a:prstGeom prst="line">
            <a:avLst/>
          </a:prstGeom>
          <a:ln w="25400">
            <a:solidFill>
              <a:srgbClr val="546E7A"/>
            </a:solidFill>
            <a:prstDash val="solid"/>
            <a:tailEnd type="triangle"/>
          </a:ln>
        </p:spPr>
      </p:sp>
      <p:sp>
        <p:nvSpPr>
          <p:cNvPr id="16" name="late_response_safety-text-15"/>
          <p:cNvSpPr/>
          <p:nvPr/>
        </p:nvSpPr>
        <p:spPr>
          <a:xfrm>
            <a:off x="6604000" y="5461000"/>
            <a:ext cx="254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400" dirty="0">
                <a:solidFill>
                  <a:srgbClr val="546E7A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經過 2.5 秒才抵達的回應</a:t>
            </a:r>
            <a:endParaRPr lang="en-US" sz="1400" dirty="0"/>
          </a:p>
        </p:txBody>
      </p:sp>
      <p:sp>
        <p:nvSpPr>
          <p:cNvPr id="17" name="late_response_safety-shape-16"/>
          <p:cNvSpPr/>
          <p:nvPr/>
        </p:nvSpPr>
        <p:spPr>
          <a:xfrm>
            <a:off x="10160000" y="5588000"/>
            <a:ext cx="2540000" cy="508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546E7A"/>
            </a:solidFill>
            <a:prstDash val="solid"/>
          </a:ln>
        </p:spPr>
      </p:sp>
      <p:sp>
        <p:nvSpPr>
          <p:cNvPr id="18" name="late_response_safety-text-17"/>
          <p:cNvSpPr/>
          <p:nvPr/>
        </p:nvSpPr>
        <p:spPr>
          <a:xfrm>
            <a:off x="10160000" y="5715000"/>
            <a:ext cx="254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2000" dirty="0">
                <a:solidFill>
                  <a:srgbClr val="546E7A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不再渲染 (被捨棄)</a:t>
            </a:r>
            <a:endParaRPr lang="en-US" sz="2000" dirty="0"/>
          </a:p>
        </p:txBody>
      </p:sp>
      <p:sp>
        <p:nvSpPr>
          <p:cNvPr id="19" name="late_response_safety-text-18"/>
          <p:cNvSpPr/>
          <p:nvPr/>
        </p:nvSpPr>
        <p:spPr>
          <a:xfrm>
            <a:off x="1016000" y="7112000"/>
            <a:ext cx="1422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透過 </a:t>
            </a:r>
            <a:r>
              <a:rPr lang="en-US" altLang="en-US" sz="1800" dirty="0">
                <a:solidFill>
                  <a:srgbClr val="26323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Promise.race</a:t>
            </a: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 與 </a:t>
            </a:r>
            <a:r>
              <a:rPr lang="en-US" altLang="en-US" sz="1800" dirty="0">
                <a:solidFill>
                  <a:srgbClr val="26323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AbortController</a:t>
            </a: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，我們不會被積壓在後方的舊回應欺騙。</a:t>
            </a:r>
            <a:endParaRPr lang="en-US" sz="2000" dirty="0"/>
          </a:p>
          <a:p>
            <a:pPr algn="ctr" indent="0" marL="0">
              <a:lnSpc>
                <a:spcPts val="3000"/>
              </a:lnSpc>
              <a:buNone/>
            </a:pP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中止瀏覽器等待，不等於取消 ESP32 上的命令。</a:t>
            </a:r>
            <a:endParaRPr lang="en-US" sz="2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usy_vs_armed-shape-1"/>
          <p:cNvSpPr/>
          <p:nvPr/>
        </p:nvSpPr>
        <p:spPr>
          <a:xfrm>
            <a:off x="0" y="1016000"/>
            <a:ext cx="16256000" cy="5080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3" name="busy_vs_armed-text-2"/>
          <p:cNvSpPr/>
          <p:nvPr/>
        </p:nvSpPr>
        <p:spPr>
          <a:xfrm>
            <a:off x="1016000" y="508000"/>
            <a:ext cx="635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546E7A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9. 閃完之後再遮光：還有一個獨立開關</a:t>
            </a:r>
            <a:endParaRPr lang="en-US" sz="1400" dirty="0"/>
          </a:p>
        </p:txBody>
      </p:sp>
      <p:sp>
        <p:nvSpPr>
          <p:cNvPr id="4" name="busy_vs_armed-text-3"/>
          <p:cNvSpPr/>
          <p:nvPr/>
        </p:nvSpPr>
        <p:spPr>
          <a:xfrm>
            <a:off x="13970000" y="508000"/>
            <a:ext cx="127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546E7A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37</a:t>
            </a:r>
            <a:endParaRPr lang="en-US" sz="1400" dirty="0"/>
          </a:p>
        </p:txBody>
      </p:sp>
      <p:sp>
        <p:nvSpPr>
          <p:cNvPr id="5" name="busy_vs_armed-text-4"/>
          <p:cNvSpPr/>
          <p:nvPr/>
        </p:nvSpPr>
        <p:spPr>
          <a:xfrm>
            <a:off x="1016000" y="1778000"/>
            <a:ext cx="1422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1A237E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busy 與 armed 是兩個獨立的開關</a:t>
            </a:r>
            <a:endParaRPr lang="en-US" sz="3200" dirty="0"/>
          </a:p>
        </p:txBody>
      </p:sp>
      <p:sp>
        <p:nvSpPr>
          <p:cNvPr id="6" name="busy_vs_armed-shape-5"/>
          <p:cNvSpPr/>
          <p:nvPr/>
        </p:nvSpPr>
        <p:spPr>
          <a:xfrm>
            <a:off x="1524000" y="3048000"/>
            <a:ext cx="5842000" cy="3048000"/>
          </a:xfrm>
          <a:prstGeom prst="roundRect">
            <a:avLst>
              <a:gd name="adj" fmla="val 3333"/>
            </a:avLst>
          </a:prstGeom>
          <a:solidFill>
            <a:srgbClr val="F5F7FA"/>
          </a:solidFill>
          <a:ln w="25400">
            <a:solidFill>
              <a:srgbClr val="00897B"/>
            </a:solidFill>
            <a:prstDash val="solid"/>
          </a:ln>
        </p:spPr>
      </p:sp>
      <p:sp>
        <p:nvSpPr>
          <p:cNvPr id="7" name="busy_vs_armed-text-6"/>
          <p:cNvSpPr/>
          <p:nvPr/>
        </p:nvSpPr>
        <p:spPr>
          <a:xfrm>
            <a:off x="2032000" y="3556000"/>
            <a:ext cx="4826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altLang="en-US" sz="2000" b="1" dirty="0">
                <a:solidFill>
                  <a:srgbClr val="00897B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busy (LED Owner)</a:t>
            </a:r>
            <a:endParaRPr lang="en-US" sz="2000" dirty="0"/>
          </a:p>
          <a:p>
            <a:pPr algn="l" indent="0" marL="0">
              <a:lnSpc>
                <a:spcPts val="3000"/>
              </a:lnSpc>
              <a:buNone/>
            </a:pP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回答：「現在能不能操作 LED？」</a:t>
            </a:r>
            <a:endParaRPr lang="en-US" sz="2000" dirty="0"/>
          </a:p>
          <a:p>
            <a:pPr algn="l" indent="0" marL="0">
              <a:lnSpc>
                <a:spcPts val="3000"/>
              </a:lnSpc>
              <a:buNone/>
            </a:pP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紅閃結束後就變成 </a:t>
            </a:r>
            <a:r>
              <a:rPr lang="en-US" altLang="en-US" sz="1800" dirty="0">
                <a:solidFill>
                  <a:srgbClr val="26323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false</a:t>
            </a: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，此時實體與網頁按鈕都可以再次換色。</a:t>
            </a:r>
            <a:endParaRPr lang="en-US" sz="2000" dirty="0"/>
          </a:p>
        </p:txBody>
      </p:sp>
      <p:sp>
        <p:nvSpPr>
          <p:cNvPr id="8" name="busy_vs_armed-shape-7"/>
          <p:cNvSpPr/>
          <p:nvPr/>
        </p:nvSpPr>
        <p:spPr>
          <a:xfrm>
            <a:off x="8890000" y="3048000"/>
            <a:ext cx="5842000" cy="3048000"/>
          </a:xfrm>
          <a:prstGeom prst="roundRect">
            <a:avLst>
              <a:gd name="adj" fmla="val 3333"/>
            </a:avLst>
          </a:prstGeom>
          <a:solidFill>
            <a:srgbClr val="F5F7FA"/>
          </a:solidFill>
          <a:ln w="25400">
            <a:solidFill>
              <a:srgbClr val="FF8F00"/>
            </a:solidFill>
            <a:prstDash val="solid"/>
          </a:ln>
        </p:spPr>
      </p:sp>
      <p:sp>
        <p:nvSpPr>
          <p:cNvPr id="9" name="busy_vs_armed-text-8"/>
          <p:cNvSpPr/>
          <p:nvPr/>
        </p:nvSpPr>
        <p:spPr>
          <a:xfrm>
            <a:off x="9398000" y="3556000"/>
            <a:ext cx="4826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altLang="en-US" sz="2000" b="1" dirty="0">
                <a:solidFill>
                  <a:srgbClr val="FF8F00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armed (光照 Task 內部)</a:t>
            </a:r>
            <a:endParaRPr lang="en-US" sz="2000" dirty="0"/>
          </a:p>
          <a:p>
            <a:pPr algn="l" indent="0" marL="0">
              <a:lnSpc>
                <a:spcPts val="3000"/>
              </a:lnSpc>
              <a:buNone/>
            </a:pP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回答：「允不允許再次發送光照警示？」</a:t>
            </a:r>
            <a:endParaRPr lang="en-US" sz="2000" dirty="0"/>
          </a:p>
          <a:p>
            <a:pPr algn="l" indent="0" marL="0">
              <a:lnSpc>
                <a:spcPts val="3000"/>
              </a:lnSpc>
              <a:buNone/>
            </a:pP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警示結束不等於重設。必須先亮到 </a:t>
            </a:r>
            <a:r>
              <a:rPr lang="en-US" altLang="en-US" sz="2000" b="1" dirty="0">
                <a:solidFill>
                  <a:srgbClr val="FF8F00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ADC &gt;= 1100</a:t>
            </a: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，才會變回 </a:t>
            </a:r>
            <a:r>
              <a:rPr lang="en-US" altLang="en-US" sz="1800" dirty="0">
                <a:solidFill>
                  <a:srgbClr val="26323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true</a:t>
            </a: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。</a:t>
            </a:r>
            <a:endParaRPr lang="en-US" sz="2000" dirty="0"/>
          </a:p>
        </p:txBody>
      </p:sp>
      <p:sp>
        <p:nvSpPr>
          <p:cNvPr id="10" name="busy_vs_armed-text-9"/>
          <p:cNvSpPr/>
          <p:nvPr/>
        </p:nvSpPr>
        <p:spPr>
          <a:xfrm>
            <a:off x="1016000" y="6858000"/>
            <a:ext cx="1422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2000" dirty="0">
                <a:solidFill>
                  <a:srgbClr val="1A237E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結論：如果一直維持昏暗，就算警示結束了，也不會無限重播。</a:t>
            </a:r>
            <a:endParaRPr lang="en-US" sz="2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een_flash_extension-shape-1"/>
          <p:cNvSpPr/>
          <p:nvPr/>
        </p:nvSpPr>
        <p:spPr>
          <a:xfrm>
            <a:off x="0" y="1016000"/>
            <a:ext cx="16256000" cy="5080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3" name="green_flash_extension-text-2"/>
          <p:cNvSpPr/>
          <p:nvPr/>
        </p:nvSpPr>
        <p:spPr>
          <a:xfrm>
            <a:off x="1016000" y="508000"/>
            <a:ext cx="635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546E7A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10. 擴充與測試</a:t>
            </a:r>
            <a:endParaRPr lang="en-US" sz="1400" dirty="0"/>
          </a:p>
        </p:txBody>
      </p:sp>
      <p:sp>
        <p:nvSpPr>
          <p:cNvPr id="4" name="green_flash_extension-text-3"/>
          <p:cNvSpPr/>
          <p:nvPr/>
        </p:nvSpPr>
        <p:spPr>
          <a:xfrm>
            <a:off x="13970000" y="508000"/>
            <a:ext cx="127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546E7A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38</a:t>
            </a:r>
            <a:endParaRPr lang="en-US" sz="1400" dirty="0"/>
          </a:p>
        </p:txBody>
      </p:sp>
      <p:sp>
        <p:nvSpPr>
          <p:cNvPr id="5" name="green_flash_extension-text-4"/>
          <p:cNvSpPr/>
          <p:nvPr/>
        </p:nvSpPr>
        <p:spPr>
          <a:xfrm>
            <a:off x="1016000" y="1778000"/>
            <a:ext cx="1422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1A237E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擴充案例：按鈕 3 綠閃三次</a:t>
            </a:r>
            <a:endParaRPr lang="en-US" sz="3200" dirty="0"/>
          </a:p>
        </p:txBody>
      </p:sp>
      <p:sp>
        <p:nvSpPr>
          <p:cNvPr id="6" name="green_flash_extension-text-5"/>
          <p:cNvSpPr/>
          <p:nvPr/>
        </p:nvSpPr>
        <p:spPr>
          <a:xfrm>
            <a:off x="1016000" y="2667000"/>
            <a:ext cx="1422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如果需求變成：「按鈕 3 被按下時，LED 綠色閃爍 3 次，完成後恢復」。</a:t>
            </a:r>
            <a:endParaRPr lang="en-US" sz="2000" dirty="0"/>
          </a:p>
        </p:txBody>
      </p:sp>
      <p:sp>
        <p:nvSpPr>
          <p:cNvPr id="7" name="green_flash_extension-text-6"/>
          <p:cNvSpPr/>
          <p:nvPr/>
        </p:nvSpPr>
        <p:spPr>
          <a:xfrm>
            <a:off x="2032000" y="4064000"/>
            <a:ext cx="254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2000" dirty="0">
                <a:solidFill>
                  <a:srgbClr val="1E293B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按鈕 1 (換色) ─┐</a:t>
            </a:r>
            <a:endParaRPr lang="en-US" sz="2000" dirty="0"/>
          </a:p>
        </p:txBody>
      </p:sp>
      <p:sp>
        <p:nvSpPr>
          <p:cNvPr id="8" name="green_flash_extension-text-7"/>
          <p:cNvSpPr/>
          <p:nvPr/>
        </p:nvSpPr>
        <p:spPr>
          <a:xfrm>
            <a:off x="2032000" y="4826000"/>
            <a:ext cx="254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2000" dirty="0">
                <a:solidFill>
                  <a:srgbClr val="1E293B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Web (換色) ───┤</a:t>
            </a:r>
            <a:endParaRPr lang="en-US" sz="2000" dirty="0"/>
          </a:p>
        </p:txBody>
      </p:sp>
      <p:sp>
        <p:nvSpPr>
          <p:cNvPr id="9" name="green_flash_extension-text-8"/>
          <p:cNvSpPr/>
          <p:nvPr/>
        </p:nvSpPr>
        <p:spPr>
          <a:xfrm>
            <a:off x="2032000" y="5588000"/>
            <a:ext cx="254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2000" dirty="0">
                <a:solidFill>
                  <a:srgbClr val="1E293B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光感 (紅閃) ───┼→</a:t>
            </a:r>
            <a:endParaRPr lang="en-US" sz="2000" dirty="0"/>
          </a:p>
        </p:txBody>
      </p:sp>
      <p:sp>
        <p:nvSpPr>
          <p:cNvPr id="10" name="green_flash_extension-text-9"/>
          <p:cNvSpPr/>
          <p:nvPr/>
        </p:nvSpPr>
        <p:spPr>
          <a:xfrm>
            <a:off x="2032000" y="6350000"/>
            <a:ext cx="254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2000" dirty="0">
                <a:solidFill>
                  <a:srgbClr val="00897B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按鈕 3 (綠閃) ─┘</a:t>
            </a:r>
            <a:endParaRPr lang="en-US" sz="2000" dirty="0"/>
          </a:p>
        </p:txBody>
      </p:sp>
      <p:sp>
        <p:nvSpPr>
          <p:cNvPr id="11" name="green_flash_extension-shape-10"/>
          <p:cNvSpPr/>
          <p:nvPr/>
        </p:nvSpPr>
        <p:spPr>
          <a:xfrm>
            <a:off x="5334000" y="4826000"/>
            <a:ext cx="3048000" cy="1016000"/>
          </a:xfrm>
          <a:prstGeom prst="roundRect">
            <a:avLst>
              <a:gd name="adj" fmla="val 10000"/>
            </a:avLst>
          </a:prstGeom>
          <a:solidFill>
            <a:srgbClr val="1A237E"/>
          </a:solidFill>
          <a:ln/>
        </p:spPr>
      </p:sp>
      <p:sp>
        <p:nvSpPr>
          <p:cNvPr id="12" name="green_flash_extension-text-11"/>
          <p:cNvSpPr/>
          <p:nvPr/>
        </p:nvSpPr>
        <p:spPr>
          <a:xfrm>
            <a:off x="5334000" y="5143500"/>
            <a:ext cx="304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2000" dirty="0">
                <a:solidFill>
                  <a:srgbClr val="FFFFFF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同一個 LedService</a:t>
            </a:r>
            <a:endParaRPr lang="en-US" sz="2000" dirty="0"/>
          </a:p>
        </p:txBody>
      </p:sp>
      <p:sp>
        <p:nvSpPr>
          <p:cNvPr id="13" name="green_flash_extension-shape-12"/>
          <p:cNvSpPr/>
          <p:nvPr/>
        </p:nvSpPr>
        <p:spPr>
          <a:xfrm>
            <a:off x="8382000" y="5334000"/>
            <a:ext cx="1016000" cy="9144"/>
          </a:xfrm>
          <a:prstGeom prst="line">
            <a:avLst/>
          </a:prstGeom>
          <a:ln w="25400">
            <a:solidFill>
              <a:srgbClr val="00897B"/>
            </a:solidFill>
            <a:prstDash val="solid"/>
            <a:tailEnd type="triangle"/>
          </a:ln>
        </p:spPr>
      </p:sp>
      <p:sp>
        <p:nvSpPr>
          <p:cNvPr id="14" name="green_flash_extension-shape-13"/>
          <p:cNvSpPr/>
          <p:nvPr/>
        </p:nvSpPr>
        <p:spPr>
          <a:xfrm>
            <a:off x="9398000" y="4826000"/>
            <a:ext cx="2032000" cy="101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897B"/>
            </a:solidFill>
            <a:prstDash val="solid"/>
          </a:ln>
        </p:spPr>
      </p:sp>
      <p:sp>
        <p:nvSpPr>
          <p:cNvPr id="15" name="green_flash_extension-text-14"/>
          <p:cNvSpPr/>
          <p:nvPr/>
        </p:nvSpPr>
        <p:spPr>
          <a:xfrm>
            <a:off x="9398000" y="5143500"/>
            <a:ext cx="203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2000" dirty="0">
                <a:solidFill>
                  <a:srgbClr val="1E293B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同一個 LED</a:t>
            </a:r>
            <a:endParaRPr lang="en-US" sz="2000" dirty="0"/>
          </a:p>
        </p:txBody>
      </p:sp>
      <p:sp>
        <p:nvSpPr>
          <p:cNvPr id="16" name="green_flash_extension-shape-15"/>
          <p:cNvSpPr/>
          <p:nvPr/>
        </p:nvSpPr>
        <p:spPr>
          <a:xfrm>
            <a:off x="12192000" y="3556000"/>
            <a:ext cx="3048000" cy="3302000"/>
          </a:xfrm>
          <a:prstGeom prst="roundRect">
            <a:avLst>
              <a:gd name="adj" fmla="val 3333"/>
            </a:avLst>
          </a:prstGeom>
          <a:solidFill>
            <a:srgbClr val="F5F7FA"/>
          </a:solidFill>
          <a:ln/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7" name="green_flash_extension-text-16"/>
          <p:cNvSpPr/>
          <p:nvPr/>
        </p:nvSpPr>
        <p:spPr>
          <a:xfrm>
            <a:off x="12446000" y="3810000"/>
            <a:ext cx="2540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這個例子證明：</a:t>
            </a:r>
            <a:endParaRPr lang="en-US" sz="2000" dirty="0"/>
          </a:p>
          <a:p>
            <a:pPr algn="l" marL="317500" indent="-317500">
              <a:lnSpc>
                <a:spcPts val="3200"/>
              </a:lnSpc>
              <a:spcBef>
                <a:spcPts val="10"/>
              </a:spcBef>
              <a:buSzPct val="100000"/>
              <a:buChar char="✓"/>
            </a:pP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不需第二個 owner</a:t>
            </a:r>
            <a:endParaRPr lang="en-US" sz="2000" dirty="0"/>
          </a:p>
          <a:p>
            <a:pPr algn="l" marL="317500" indent="-317500">
              <a:lnSpc>
                <a:spcPts val="3200"/>
              </a:lnSpc>
              <a:spcBef>
                <a:spcPts val="10"/>
              </a:spcBef>
              <a:buSzPct val="100000"/>
              <a:buChar char="✓"/>
            </a:pP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沿用 busy 政策</a:t>
            </a:r>
            <a:endParaRPr lang="en-US" sz="2000" dirty="0"/>
          </a:p>
          <a:p>
            <a:pPr algn="l" marL="317500" indent="-317500">
              <a:lnSpc>
                <a:spcPts val="3200"/>
              </a:lnSpc>
              <a:spcBef>
                <a:spcPts val="10"/>
              </a:spcBef>
              <a:buSzPct val="100000"/>
              <a:buChar char="✓"/>
            </a:pP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沿用狀態機恢復</a:t>
            </a:r>
            <a:endParaRPr lang="en-US" sz="2000" dirty="0"/>
          </a:p>
        </p:txBody>
      </p:sp>
      <p:sp>
        <p:nvSpPr>
          <p:cNvPr id="18" name="green_flash_extension-text-17"/>
          <p:cNvSpPr/>
          <p:nvPr/>
        </p:nvSpPr>
        <p:spPr>
          <a:xfrm>
            <a:off x="1016000" y="7620000"/>
            <a:ext cx="1422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2000" dirty="0">
                <a:solidFill>
                  <a:srgbClr val="546E7A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把效果規格放在一個固定表裡，這叫「小幅資料化」，不是建立複雜的外掛系統。</a:t>
            </a:r>
            <a:endParaRPr lang="en-US" sz="2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ffect_policy-shape-1"/>
          <p:cNvSpPr/>
          <p:nvPr/>
        </p:nvSpPr>
        <p:spPr>
          <a:xfrm>
            <a:off x="0" y="1016000"/>
            <a:ext cx="16256000" cy="5080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3" name="effect_policy-text-2"/>
          <p:cNvSpPr/>
          <p:nvPr/>
        </p:nvSpPr>
        <p:spPr>
          <a:xfrm>
            <a:off x="1016000" y="508000"/>
            <a:ext cx="635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546E7A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10. 擴充與測試</a:t>
            </a:r>
            <a:endParaRPr lang="en-US" sz="1400" dirty="0"/>
          </a:p>
        </p:txBody>
      </p:sp>
      <p:sp>
        <p:nvSpPr>
          <p:cNvPr id="4" name="effect_policy-text-3"/>
          <p:cNvSpPr/>
          <p:nvPr/>
        </p:nvSpPr>
        <p:spPr>
          <a:xfrm>
            <a:off x="13970000" y="508000"/>
            <a:ext cx="127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546E7A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39</a:t>
            </a:r>
            <a:endParaRPr lang="en-US" sz="1400" dirty="0"/>
          </a:p>
        </p:txBody>
      </p:sp>
      <p:sp>
        <p:nvSpPr>
          <p:cNvPr id="5" name="effect_policy-text-4"/>
          <p:cNvSpPr/>
          <p:nvPr/>
        </p:nvSpPr>
        <p:spPr>
          <a:xfrm>
            <a:off x="1016000" y="1778000"/>
            <a:ext cx="1422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1A237E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多種效果同時發生時的政策</a:t>
            </a:r>
            <a:endParaRPr lang="en-US" sz="3200" dirty="0"/>
          </a:p>
        </p:txBody>
      </p:sp>
      <p:sp>
        <p:nvSpPr>
          <p:cNvPr id="6" name="effect_policy-text-5"/>
          <p:cNvSpPr/>
          <p:nvPr/>
        </p:nvSpPr>
        <p:spPr>
          <a:xfrm>
            <a:off x="1016000" y="2667000"/>
            <a:ext cx="1422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如果紅閃跟綠閃差不多同時發生，該聽誰的？我們決定：</a:t>
            </a:r>
            <a:r>
              <a:rPr lang="en-US" altLang="en-US" sz="2000" b="1" dirty="0">
                <a:solidFill>
                  <a:srgbClr val="1A237E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先接受的先完成。</a:t>
            </a:r>
            <a:endParaRPr lang="en-US" sz="2000" dirty="0"/>
          </a:p>
        </p:txBody>
      </p:sp>
      <p:graphicFrame>
        <p:nvGraphicFramePr>
          <p:cNvPr id="40" name="effect_policy-table-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16000" y="3556000"/>
          <a:ext cx="14224000" cy="2540000"/>
        </p:xfrm>
        <a:graphic>
          <a:graphicData uri="http://schemas.openxmlformats.org/drawingml/2006/table">
            <a:tbl>
              <a:tblPr/>
              <a:tblGrid>
                <a:gridCol w="5689600"/>
                <a:gridCol w="8534400"/>
              </a:tblGrid>
              <a:tr h="5079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發生狀況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1A2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我們的規則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1A2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67733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紅閃中按下按鈕 3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A2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b="1" dirty="0">
                          <a:solidFill>
                            <a:srgbClr val="FF8F00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拒絕綠閃</a:t>
                      </a:r>
                      <a:r>
                        <a:rPr lang="en-US" altLang="en-US" sz="2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（原因：busy）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1A2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733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綠閃中光線變暗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b="1" dirty="0">
                          <a:solidFill>
                            <a:srgbClr val="FF8F00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拒絕紅閃</a:t>
                      </a:r>
                      <a:r>
                        <a:rPr lang="en-US" altLang="en-US" sz="2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（原因：busy）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733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為什麼不建立優先權？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marL="317500" indent="-317500">
                        <a:spcBef>
                          <a:spcPts val="10"/>
                        </a:spcBef>
                        <a:buSzPct val="100000"/>
                        <a:buChar char="✓"/>
                      </a:pPr>
                      <a:r>
                        <a:rPr lang="en-US" altLang="en-US" sz="2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不排隊等待第二個效果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  <a:p>
                      <a:pPr algn="ctr" marL="317500" indent="-317500">
                        <a:spcBef>
                          <a:spcPts val="10"/>
                        </a:spcBef>
                        <a:buSzPct val="100000"/>
                        <a:buChar char="✓"/>
                      </a:pPr>
                      <a:r>
                        <a:rPr lang="en-US" altLang="en-US" sz="2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不打斷目前的效果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  <a:p>
                      <a:pPr algn="ctr" marL="317500" indent="-317500">
                        <a:spcBef>
                          <a:spcPts val="10"/>
                        </a:spcBef>
                        <a:buSzPct val="100000"/>
                        <a:buChar char="✓"/>
                      </a:pPr>
                      <a:r>
                        <a:rPr lang="en-US" altLang="en-US" sz="2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不建立巢狀恢復狀態（不用記綠閃完要不要繼續紅閃）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8" name="effect_policy-text-7"/>
          <p:cNvSpPr/>
          <p:nvPr/>
        </p:nvSpPr>
        <p:spPr>
          <a:xfrm>
            <a:off x="1016000" y="6604000"/>
            <a:ext cx="1422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這不是建立複雜的優先權系統，而是維持 </a:t>
            </a:r>
            <a:r>
              <a:rPr lang="en-US" altLang="en-US" sz="2000" b="1" dirty="0">
                <a:solidFill>
                  <a:srgbClr val="00897B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「可解釋的單一控制權」</a:t>
            </a: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。</a:t>
            </a:r>
            <a:endParaRPr lang="en-US" sz="2000" dirty="0"/>
          </a:p>
          <a:p>
            <a:pPr algn="ctr" indent="0" marL="0">
              <a:lnSpc>
                <a:spcPts val="3000"/>
              </a:lnSpc>
              <a:buNone/>
            </a:pP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每次拒絕都會留下明確的 reason。</a:t>
            </a:r>
            <a:endParaRPr lang="en-US" sz="2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tegration_points-shape-1"/>
          <p:cNvSpPr/>
          <p:nvPr/>
        </p:nvSpPr>
        <p:spPr>
          <a:xfrm>
            <a:off x="0" y="1016000"/>
            <a:ext cx="16256000" cy="5080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3" name="integration_points-text-2"/>
          <p:cNvSpPr/>
          <p:nvPr/>
        </p:nvSpPr>
        <p:spPr>
          <a:xfrm>
            <a:off x="1016000" y="508000"/>
            <a:ext cx="635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546E7A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10. 擴充與測試</a:t>
            </a:r>
            <a:endParaRPr lang="en-US" sz="1400" dirty="0"/>
          </a:p>
        </p:txBody>
      </p:sp>
      <p:sp>
        <p:nvSpPr>
          <p:cNvPr id="4" name="integration_points-text-3"/>
          <p:cNvSpPr/>
          <p:nvPr/>
        </p:nvSpPr>
        <p:spPr>
          <a:xfrm>
            <a:off x="13970000" y="508000"/>
            <a:ext cx="127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546E7A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40</a:t>
            </a:r>
            <a:endParaRPr lang="en-US" sz="1400" dirty="0"/>
          </a:p>
        </p:txBody>
      </p:sp>
      <p:sp>
        <p:nvSpPr>
          <p:cNvPr id="5" name="integration_points-text-4"/>
          <p:cNvSpPr/>
          <p:nvPr/>
        </p:nvSpPr>
        <p:spPr>
          <a:xfrm>
            <a:off x="1016000" y="1778000"/>
            <a:ext cx="1422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1A237E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程式整合點：每個檔案該負責什麼</a:t>
            </a:r>
            <a:endParaRPr lang="en-US" sz="3200" dirty="0"/>
          </a:p>
        </p:txBody>
      </p:sp>
      <p:graphicFrame>
        <p:nvGraphicFramePr>
          <p:cNvPr id="41" name="integration_points-table-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16000" y="2794000"/>
          <a:ext cx="14224000" cy="4826000"/>
        </p:xfrm>
        <a:graphic>
          <a:graphicData uri="http://schemas.openxmlformats.org/drawingml/2006/table">
            <a:tbl>
              <a:tblPr/>
              <a:tblGrid>
                <a:gridCol w="4267200"/>
                <a:gridCol w="5689600"/>
                <a:gridCol w="4267200"/>
              </a:tblGrid>
              <a:tr h="5079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檔案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FD8D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1A2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負責什麼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1A2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b="1" dirty="0">
                          <a:solidFill>
                            <a:srgbClr val="FF8F00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不</a:t>
                      </a:r>
                      <a:r>
                        <a:rPr lang="en-US" altLang="en-US" sz="2000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負責什麼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1A2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71966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800" dirty="0">
                          <a:solidFill>
                            <a:srgbClr val="333333"/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main.py</a:t>
                      </a:r>
                      <a:endParaRPr lang="en-US" sz="1800" dirty="0">
                        <a:latin typeface="Roboto Mono" charset="0"/>
                        <a:ea typeface="Roboto Mono" charset="0"/>
                        <a:cs typeface="Roboto Mono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FD8D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A2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建立物件、傳給各 task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A2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不建立第二個 LedService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1A2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966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800" dirty="0">
                          <a:solidFill>
                            <a:srgbClr val="333333"/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tasks.py</a:t>
                      </a:r>
                      <a:endParaRPr lang="en-US" sz="1800" dirty="0">
                        <a:latin typeface="Roboto Mono" charset="0"/>
                        <a:ea typeface="Roboto Mono" charset="0"/>
                        <a:cs typeface="Roboto Mono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FD8D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去彈跳、提交 alert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不直接呼叫 GPIO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FD8D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966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800" dirty="0">
                          <a:solidFill>
                            <a:srgbClr val="333333"/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led_service.py</a:t>
                      </a:r>
                      <a:endParaRPr lang="en-US" sz="1800" dirty="0">
                        <a:latin typeface="Roboto Mono" charset="0"/>
                        <a:ea typeface="Roboto Mono" charset="0"/>
                        <a:cs typeface="Roboto Mono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FD8D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共同效果處理、仲裁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不新增第二個事件迴圈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FD8D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966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800" dirty="0">
                          <a:solidFill>
                            <a:srgbClr val="333333"/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hardware/led.py</a:t>
                      </a:r>
                      <a:endParaRPr lang="en-US" sz="1800" dirty="0">
                        <a:latin typeface="Roboto Mono" charset="0"/>
                        <a:ea typeface="Roboto Mono" charset="0"/>
                        <a:cs typeface="Roboto Mono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FD8D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（不需要修改）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不增加硬體控制流程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FD8D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966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800" dirty="0">
                          <a:solidFill>
                            <a:srgbClr val="333333"/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web_server.py</a:t>
                      </a:r>
                      <a:endParaRPr lang="en-US" sz="1800" dirty="0">
                        <a:latin typeface="Roboto Mono" charset="0"/>
                        <a:ea typeface="Roboto Mono" charset="0"/>
                        <a:cs typeface="Roboto Mono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FD8D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（如只需擴充按鈕，不用改）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不把前端提示當控制權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FD8D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966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800" dirty="0">
                          <a:solidFill>
                            <a:srgbClr val="333333"/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tests/</a:t>
                      </a:r>
                      <a:endParaRPr lang="en-US" sz="1800" dirty="0">
                        <a:latin typeface="Roboto Mono" charset="0"/>
                        <a:ea typeface="Roboto Mono" charset="0"/>
                        <a:cs typeface="Roboto Mono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FD8D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綠閃、競爭與恢復回歸測試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不可用實機操作取代測試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FD8D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sting_green_flash-shape-1"/>
          <p:cNvSpPr/>
          <p:nvPr/>
        </p:nvSpPr>
        <p:spPr>
          <a:xfrm>
            <a:off x="0" y="1016000"/>
            <a:ext cx="16256000" cy="5080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3" name="testing_green_flash-text-2"/>
          <p:cNvSpPr/>
          <p:nvPr/>
        </p:nvSpPr>
        <p:spPr>
          <a:xfrm>
            <a:off x="1016000" y="508000"/>
            <a:ext cx="635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546E7A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10. 擴充與測試</a:t>
            </a:r>
            <a:endParaRPr lang="en-US" sz="1400" dirty="0"/>
          </a:p>
        </p:txBody>
      </p:sp>
      <p:sp>
        <p:nvSpPr>
          <p:cNvPr id="4" name="testing_green_flash-text-3"/>
          <p:cNvSpPr/>
          <p:nvPr/>
        </p:nvSpPr>
        <p:spPr>
          <a:xfrm>
            <a:off x="13970000" y="508000"/>
            <a:ext cx="127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546E7A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41</a:t>
            </a:r>
            <a:endParaRPr lang="en-US" sz="1400" dirty="0"/>
          </a:p>
        </p:txBody>
      </p:sp>
      <p:sp>
        <p:nvSpPr>
          <p:cNvPr id="5" name="testing_green_flash-text-4"/>
          <p:cNvSpPr/>
          <p:nvPr/>
        </p:nvSpPr>
        <p:spPr>
          <a:xfrm>
            <a:off x="1016000" y="1778000"/>
            <a:ext cx="1422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1A237E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新增效果的測試清單</a:t>
            </a:r>
            <a:endParaRPr lang="en-US" sz="3200" dirty="0"/>
          </a:p>
        </p:txBody>
      </p:sp>
      <p:sp>
        <p:nvSpPr>
          <p:cNvPr id="6" name="testing_green_flash-text-5"/>
          <p:cNvSpPr/>
          <p:nvPr/>
        </p:nvSpPr>
        <p:spPr>
          <a:xfrm>
            <a:off x="1016000" y="2667000"/>
            <a:ext cx="1422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dirty="0">
                <a:solidFill>
                  <a:srgbClr val="546E7A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只證明按鈕會亮綠燈是不夠的，必須測試邊界條件與競爭狀態：</a:t>
            </a:r>
            <a:endParaRPr lang="en-US" sz="2000" dirty="0"/>
          </a:p>
        </p:txBody>
      </p:sp>
      <p:sp>
        <p:nvSpPr>
          <p:cNvPr id="7" name="testing_green_flash-shape-6"/>
          <p:cNvSpPr/>
          <p:nvPr/>
        </p:nvSpPr>
        <p:spPr>
          <a:xfrm>
            <a:off x="1016000" y="3302000"/>
            <a:ext cx="14224000" cy="4826000"/>
          </a:xfrm>
          <a:prstGeom prst="roundRect">
            <a:avLst>
              <a:gd name="adj" fmla="val 2105"/>
            </a:avLst>
          </a:prstGeom>
          <a:solidFill>
            <a:srgbClr val="F5F7FA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8" name="testing_green_flash-text-7"/>
          <p:cNvSpPr/>
          <p:nvPr/>
        </p:nvSpPr>
        <p:spPr>
          <a:xfrm>
            <a:off x="1524000" y="3810000"/>
            <a:ext cx="6350000" cy="38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17500" indent="-317500">
              <a:lnSpc>
                <a:spcPts val="3000"/>
              </a:lnSpc>
              <a:spcBef>
                <a:spcPts val="10"/>
              </a:spcBef>
              <a:buSzPct val="100000"/>
              <a:buChar char="✓"/>
            </a:pP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正常按 3，綠閃三次後恢復原色。</a:t>
            </a:r>
            <a:endParaRPr lang="en-US" sz="2000" dirty="0"/>
          </a:p>
          <a:p>
            <a:pPr algn="l" marL="317500" indent="-317500">
              <a:lnSpc>
                <a:spcPts val="3000"/>
              </a:lnSpc>
              <a:spcBef>
                <a:spcPts val="10"/>
              </a:spcBef>
              <a:buSzPct val="100000"/>
              <a:buChar char="✓"/>
            </a:pP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原本是紅、綠或熄燈，都正確恢復。</a:t>
            </a:r>
            <a:endParaRPr lang="en-US" sz="2000" dirty="0"/>
          </a:p>
          <a:p>
            <a:pPr algn="l" marL="317500" indent="-317500">
              <a:lnSpc>
                <a:spcPts val="3000"/>
              </a:lnSpc>
              <a:spcBef>
                <a:spcPts val="10"/>
              </a:spcBef>
              <a:buSzPct val="100000"/>
              <a:buChar char="✓"/>
            </a:pPr>
            <a:r>
              <a:rPr lang="en-US" altLang="en-US" sz="2000" b="1" dirty="0">
                <a:solidFill>
                  <a:srgbClr val="FF8F00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綠閃期間按按鈕 1，換色被拒絕。</a:t>
            </a:r>
            <a:endParaRPr lang="en-US" sz="2000" dirty="0"/>
          </a:p>
          <a:p>
            <a:pPr algn="l" marL="317500" indent="-317500">
              <a:lnSpc>
                <a:spcPts val="3000"/>
              </a:lnSpc>
              <a:spcBef>
                <a:spcPts val="10"/>
              </a:spcBef>
              <a:buSzPct val="100000"/>
              <a:buChar char="✓"/>
            </a:pP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綠閃期間按鈕 3 再次按下被拒絕。</a:t>
            </a:r>
            <a:endParaRPr lang="en-US" sz="2000" dirty="0"/>
          </a:p>
          <a:p>
            <a:pPr algn="l" marL="317500" indent="-317500">
              <a:lnSpc>
                <a:spcPts val="3000"/>
              </a:lnSpc>
              <a:spcBef>
                <a:spcPts val="10"/>
              </a:spcBef>
              <a:buSzPct val="100000"/>
              <a:buChar char="✓"/>
            </a:pP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紅閃期間按下 3，綠閃被拒絕。</a:t>
            </a:r>
            <a:endParaRPr lang="en-US" sz="2000" dirty="0"/>
          </a:p>
        </p:txBody>
      </p:sp>
      <p:sp>
        <p:nvSpPr>
          <p:cNvPr id="9" name="testing_green_flash-text-8"/>
          <p:cNvSpPr/>
          <p:nvPr/>
        </p:nvSpPr>
        <p:spPr>
          <a:xfrm>
            <a:off x="8128000" y="3810000"/>
            <a:ext cx="6350000" cy="38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17500" indent="-317500">
              <a:lnSpc>
                <a:spcPts val="3000"/>
              </a:lnSpc>
              <a:spcBef>
                <a:spcPts val="10"/>
              </a:spcBef>
              <a:buSzPct val="100000"/>
              <a:buChar char="✓"/>
            </a:pP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綠閃期間變暗，紅閃被拒絕。</a:t>
            </a:r>
            <a:endParaRPr lang="en-US" sz="2000" dirty="0"/>
          </a:p>
          <a:p>
            <a:pPr algn="l" marL="317500" indent="-317500">
              <a:lnSpc>
                <a:spcPts val="3000"/>
              </a:lnSpc>
              <a:spcBef>
                <a:spcPts val="10"/>
              </a:spcBef>
              <a:buSzPct val="100000"/>
              <a:buChar char="✓"/>
            </a:pP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尚未開始但已受理時，普通換色不能插隊。</a:t>
            </a:r>
            <a:endParaRPr lang="en-US" sz="2000" dirty="0"/>
          </a:p>
          <a:p>
            <a:pPr algn="l" marL="317500" indent="-317500">
              <a:lnSpc>
                <a:spcPts val="3000"/>
              </a:lnSpc>
              <a:spcBef>
                <a:spcPts val="10"/>
              </a:spcBef>
              <a:buSzPct val="100000"/>
              <a:buChar char="✓"/>
            </a:pPr>
            <a:r>
              <a:rPr lang="en-US" altLang="en-US" sz="2000" b="1" dirty="0">
                <a:solidFill>
                  <a:srgbClr val="1A237E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綠閃中按住不放，結束後不補做。</a:t>
            </a:r>
            <a:endParaRPr lang="en-US" sz="2000" dirty="0"/>
          </a:p>
          <a:p>
            <a:pPr algn="l" marL="317500" indent="-317500">
              <a:lnSpc>
                <a:spcPts val="3000"/>
              </a:lnSpc>
              <a:spcBef>
                <a:spcPts val="10"/>
              </a:spcBef>
              <a:buSzPct val="100000"/>
              <a:buChar char="✓"/>
            </a:pP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連續狂按按鈕 3，不建立無限效果佇列。</a:t>
            </a:r>
            <a:endParaRPr lang="en-US" sz="2000" dirty="0"/>
          </a:p>
          <a:p>
            <a:pPr algn="l" marL="317500" indent="-317500">
              <a:lnSpc>
                <a:spcPts val="3000"/>
              </a:lnSpc>
              <a:spcBef>
                <a:spcPts val="10"/>
              </a:spcBef>
              <a:buSzPct val="100000"/>
              <a:buChar char="✓"/>
            </a:pP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GPIO 失敗時標記錯誤並安全清理。</a:t>
            </a:r>
            <a:endParaRPr lang="en-US" sz="2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pi_status_codes-shape-1"/>
          <p:cNvSpPr/>
          <p:nvPr/>
        </p:nvSpPr>
        <p:spPr>
          <a:xfrm>
            <a:off x="0" y="1016000"/>
            <a:ext cx="16256000" cy="5080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3" name="api_status_codes-text-2"/>
          <p:cNvSpPr/>
          <p:nvPr/>
        </p:nvSpPr>
        <p:spPr>
          <a:xfrm>
            <a:off x="1016000" y="508000"/>
            <a:ext cx="635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546E7A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附錄</a:t>
            </a:r>
            <a:endParaRPr lang="en-US" sz="1400" dirty="0"/>
          </a:p>
        </p:txBody>
      </p:sp>
      <p:sp>
        <p:nvSpPr>
          <p:cNvPr id="4" name="api_status_codes-text-3"/>
          <p:cNvSpPr/>
          <p:nvPr/>
        </p:nvSpPr>
        <p:spPr>
          <a:xfrm>
            <a:off x="13970000" y="508000"/>
            <a:ext cx="127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546E7A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42</a:t>
            </a:r>
            <a:endParaRPr lang="en-US" sz="1400" dirty="0"/>
          </a:p>
        </p:txBody>
      </p:sp>
      <p:sp>
        <p:nvSpPr>
          <p:cNvPr id="5" name="api_status_codes-text-4"/>
          <p:cNvSpPr/>
          <p:nvPr/>
        </p:nvSpPr>
        <p:spPr>
          <a:xfrm>
            <a:off x="1016000" y="1778000"/>
            <a:ext cx="1422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1A237E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API 狀態碼與命令結果查表</a:t>
            </a:r>
            <a:endParaRPr lang="en-US" sz="3200" dirty="0"/>
          </a:p>
        </p:txBody>
      </p:sp>
      <p:graphicFrame>
        <p:nvGraphicFramePr>
          <p:cNvPr id="43" name="api_status_codes-table-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16000" y="2794000"/>
          <a:ext cx="14224000" cy="5080000"/>
        </p:xfrm>
        <a:graphic>
          <a:graphicData uri="http://schemas.openxmlformats.org/drawingml/2006/table">
            <a:tbl>
              <a:tblPr/>
              <a:tblGrid>
                <a:gridCol w="5689600"/>
                <a:gridCol w="8534400"/>
              </a:tblGrid>
              <a:tr h="50800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HTTP / 狀態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FD8D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1A2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意義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1A2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6531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b="1" dirty="0">
                          <a:solidFill>
                            <a:srgbClr val="00897B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POST 202 accepted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FD8D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A2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已受理，尚未執行；可能後續因警示被拒絕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1A2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31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b="1" dirty="0">
                          <a:solidFill>
                            <a:srgbClr val="FF8F00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POST 409 rejected/busy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FD8D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警示期間，立即被拒絕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FD8D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31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b="1" dirty="0">
                          <a:solidFill>
                            <a:srgbClr val="FF8F00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POST 429 queue_full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FD8D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佇列已滿，要求來源明確提示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FD8D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31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800" dirty="0">
                          <a:solidFill>
                            <a:srgbClr val="333333"/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executing</a:t>
                      </a:r>
                      <a:endParaRPr lang="en-US" sz="1800" dirty="0">
                        <a:latin typeface="Roboto Mono" charset="0"/>
                        <a:ea typeface="Roboto Mono" charset="0"/>
                        <a:cs typeface="Roboto Mono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FD8D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正在等候或執行中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FD8D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31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800" dirty="0">
                          <a:solidFill>
                            <a:srgbClr val="333333"/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executed</a:t>
                      </a:r>
                      <a:endParaRPr lang="en-US" sz="1800" dirty="0">
                        <a:latin typeface="Roboto Mono" charset="0"/>
                        <a:ea typeface="Roboto Mono" charset="0"/>
                        <a:cs typeface="Roboto Mono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FD8D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軟體輸出已完成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FD8D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31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800" dirty="0">
                          <a:solidFill>
                            <a:srgbClr val="333333"/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rejected / failed</a:t>
                      </a:r>
                      <a:endParaRPr lang="en-US" sz="1800" dirty="0">
                        <a:latin typeface="Roboto Mono" charset="0"/>
                        <a:ea typeface="Roboto Mono" charset="0"/>
                        <a:cs typeface="Roboto Mono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FD8D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政策拒絕 / 硬體執行錯誤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FD8D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31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查詢 404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FD8D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超過 16 筆或未知 ID，不代表從未執行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FD8D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e_machine_complete-shape-1"/>
          <p:cNvSpPr/>
          <p:nvPr/>
        </p:nvSpPr>
        <p:spPr>
          <a:xfrm>
            <a:off x="0" y="1016000"/>
            <a:ext cx="16256000" cy="5080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3" name="state_machine_complete-text-2"/>
          <p:cNvSpPr/>
          <p:nvPr/>
        </p:nvSpPr>
        <p:spPr>
          <a:xfrm>
            <a:off x="1016000" y="508000"/>
            <a:ext cx="635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546E7A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附錄</a:t>
            </a:r>
            <a:endParaRPr lang="en-US" sz="1400" dirty="0"/>
          </a:p>
        </p:txBody>
      </p:sp>
      <p:sp>
        <p:nvSpPr>
          <p:cNvPr id="4" name="state_machine_complete-text-3"/>
          <p:cNvSpPr/>
          <p:nvPr/>
        </p:nvSpPr>
        <p:spPr>
          <a:xfrm>
            <a:off x="13970000" y="508000"/>
            <a:ext cx="127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546E7A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43</a:t>
            </a:r>
            <a:endParaRPr lang="en-US" sz="1400" dirty="0"/>
          </a:p>
        </p:txBody>
      </p:sp>
      <p:sp>
        <p:nvSpPr>
          <p:cNvPr id="5" name="state_machine_complete-text-4"/>
          <p:cNvSpPr/>
          <p:nvPr/>
        </p:nvSpPr>
        <p:spPr>
          <a:xfrm>
            <a:off x="1016000" y="1778000"/>
            <a:ext cx="1422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1A237E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完整狀態機：警示期間的變化</a:t>
            </a:r>
            <a:endParaRPr lang="en-US" sz="3200" dirty="0"/>
          </a:p>
        </p:txBody>
      </p:sp>
      <p:sp>
        <p:nvSpPr>
          <p:cNvPr id="6" name="state_machine_complete-shape-5"/>
          <p:cNvSpPr/>
          <p:nvPr/>
        </p:nvSpPr>
        <p:spPr>
          <a:xfrm>
            <a:off x="1524000" y="3048000"/>
            <a:ext cx="2032000" cy="762000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 w="25400">
            <a:solidFill>
              <a:srgbClr val="00897B"/>
            </a:solidFill>
            <a:prstDash val="solid"/>
          </a:ln>
        </p:spPr>
      </p:sp>
      <p:sp>
        <p:nvSpPr>
          <p:cNvPr id="7" name="state_machine_complete-text-6"/>
          <p:cNvSpPr/>
          <p:nvPr/>
        </p:nvSpPr>
        <p:spPr>
          <a:xfrm>
            <a:off x="1524000" y="3238500"/>
            <a:ext cx="203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800" dirty="0">
                <a:solidFill>
                  <a:srgbClr val="1E293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Normal</a:t>
            </a:r>
            <a:endParaRPr lang="en-US" sz="1800" dirty="0"/>
          </a:p>
        </p:txBody>
      </p:sp>
      <p:sp>
        <p:nvSpPr>
          <p:cNvPr id="8" name="state_machine_complete-shape-7"/>
          <p:cNvSpPr/>
          <p:nvPr/>
        </p:nvSpPr>
        <p:spPr>
          <a:xfrm>
            <a:off x="5080000" y="3048000"/>
            <a:ext cx="2032000" cy="76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FF8F00"/>
            </a:solidFill>
            <a:prstDash val="solid"/>
          </a:ln>
        </p:spPr>
      </p:sp>
      <p:sp>
        <p:nvSpPr>
          <p:cNvPr id="9" name="state_machine_complete-text-8"/>
          <p:cNvSpPr/>
          <p:nvPr/>
        </p:nvSpPr>
        <p:spPr>
          <a:xfrm>
            <a:off x="5080000" y="3238500"/>
            <a:ext cx="203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800" dirty="0">
                <a:solidFill>
                  <a:srgbClr val="1E293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Reserved</a:t>
            </a:r>
            <a:endParaRPr lang="en-US" sz="1800" dirty="0"/>
          </a:p>
        </p:txBody>
      </p:sp>
      <p:sp>
        <p:nvSpPr>
          <p:cNvPr id="10" name="state_machine_complete-shape-9"/>
          <p:cNvSpPr/>
          <p:nvPr/>
        </p:nvSpPr>
        <p:spPr>
          <a:xfrm>
            <a:off x="9144000" y="3048000"/>
            <a:ext cx="2032000" cy="762000"/>
          </a:xfrm>
          <a:prstGeom prst="roundRect">
            <a:avLst>
              <a:gd name="adj" fmla="val 50000"/>
            </a:avLst>
          </a:prstGeom>
          <a:solidFill>
            <a:srgbClr val="FF8F00"/>
          </a:solidFill>
          <a:ln/>
        </p:spPr>
      </p:sp>
      <p:sp>
        <p:nvSpPr>
          <p:cNvPr id="11" name="state_machine_complete-text-10"/>
          <p:cNvSpPr/>
          <p:nvPr/>
        </p:nvSpPr>
        <p:spPr>
          <a:xfrm>
            <a:off x="9144000" y="3238500"/>
            <a:ext cx="203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80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RedOn</a:t>
            </a:r>
            <a:endParaRPr lang="en-US" sz="1800" dirty="0"/>
          </a:p>
        </p:txBody>
      </p:sp>
      <p:sp>
        <p:nvSpPr>
          <p:cNvPr id="12" name="state_machine_complete-shape-11"/>
          <p:cNvSpPr/>
          <p:nvPr/>
        </p:nvSpPr>
        <p:spPr>
          <a:xfrm>
            <a:off x="9144000" y="5080000"/>
            <a:ext cx="2032000" cy="762000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 w="25400">
            <a:solidFill>
              <a:srgbClr val="CFD8DC"/>
            </a:solidFill>
            <a:prstDash val="solid"/>
          </a:ln>
        </p:spPr>
      </p:sp>
      <p:sp>
        <p:nvSpPr>
          <p:cNvPr id="13" name="state_machine_complete-text-12"/>
          <p:cNvSpPr/>
          <p:nvPr/>
        </p:nvSpPr>
        <p:spPr>
          <a:xfrm>
            <a:off x="9144000" y="5270500"/>
            <a:ext cx="203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800" dirty="0">
                <a:solidFill>
                  <a:srgbClr val="1E293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DarkOff</a:t>
            </a:r>
            <a:endParaRPr lang="en-US" sz="1800" dirty="0"/>
          </a:p>
        </p:txBody>
      </p:sp>
      <p:sp>
        <p:nvSpPr>
          <p:cNvPr id="14" name="state_machine_complete-shape-13"/>
          <p:cNvSpPr/>
          <p:nvPr/>
        </p:nvSpPr>
        <p:spPr>
          <a:xfrm>
            <a:off x="1524000" y="5080000"/>
            <a:ext cx="2032000" cy="76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546E7A"/>
            </a:solidFill>
            <a:prstDash val="solid"/>
          </a:ln>
        </p:spPr>
      </p:sp>
      <p:sp>
        <p:nvSpPr>
          <p:cNvPr id="15" name="state_machine_complete-text-14"/>
          <p:cNvSpPr/>
          <p:nvPr/>
        </p:nvSpPr>
        <p:spPr>
          <a:xfrm>
            <a:off x="1524000" y="5270500"/>
            <a:ext cx="203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800" dirty="0">
                <a:solidFill>
                  <a:srgbClr val="1E293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Stopped</a:t>
            </a:r>
            <a:endParaRPr lang="en-US" sz="1800" dirty="0"/>
          </a:p>
        </p:txBody>
      </p:sp>
      <p:sp>
        <p:nvSpPr>
          <p:cNvPr id="16" name="state_machine_complete-shape-15"/>
          <p:cNvSpPr/>
          <p:nvPr/>
        </p:nvSpPr>
        <p:spPr>
          <a:xfrm>
            <a:off x="3556000" y="3429000"/>
            <a:ext cx="1524000" cy="9144"/>
          </a:xfrm>
          <a:prstGeom prst="line">
            <a:avLst/>
          </a:prstGeom>
          <a:ln w="25400">
            <a:solidFill>
              <a:srgbClr val="00897B"/>
            </a:solidFill>
            <a:prstDash val="solid"/>
            <a:tailEnd type="triangle"/>
          </a:ln>
        </p:spPr>
      </p:sp>
      <p:sp>
        <p:nvSpPr>
          <p:cNvPr id="17" name="state_machine_complete-text-16"/>
          <p:cNvSpPr/>
          <p:nvPr/>
        </p:nvSpPr>
        <p:spPr>
          <a:xfrm>
            <a:off x="3683000" y="3048000"/>
            <a:ext cx="127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400" dirty="0">
                <a:solidFill>
                  <a:srgbClr val="1E293B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警示受理</a:t>
            </a:r>
            <a:endParaRPr lang="en-US" sz="1400" dirty="0"/>
          </a:p>
        </p:txBody>
      </p:sp>
      <p:sp>
        <p:nvSpPr>
          <p:cNvPr id="18" name="state_machine_complete-shape-17"/>
          <p:cNvSpPr/>
          <p:nvPr/>
        </p:nvSpPr>
        <p:spPr>
          <a:xfrm>
            <a:off x="7112000" y="3429000"/>
            <a:ext cx="2032000" cy="9144"/>
          </a:xfrm>
          <a:prstGeom prst="line">
            <a:avLst/>
          </a:prstGeom>
          <a:ln w="25400">
            <a:solidFill>
              <a:srgbClr val="FF8F00"/>
            </a:solidFill>
            <a:prstDash val="solid"/>
            <a:tailEnd type="triangle"/>
          </a:ln>
        </p:spPr>
      </p:sp>
      <p:sp>
        <p:nvSpPr>
          <p:cNvPr id="19" name="state_machine_complete-text-18"/>
          <p:cNvSpPr/>
          <p:nvPr/>
        </p:nvSpPr>
        <p:spPr>
          <a:xfrm>
            <a:off x="7366000" y="3048000"/>
            <a:ext cx="152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400" dirty="0">
                <a:solidFill>
                  <a:srgbClr val="1E293B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保存狀態執行</a:t>
            </a:r>
            <a:endParaRPr lang="en-US" sz="1400" dirty="0"/>
          </a:p>
        </p:txBody>
      </p:sp>
      <p:sp>
        <p:nvSpPr>
          <p:cNvPr id="20" name="state_machine_complete-shape-19"/>
          <p:cNvSpPr/>
          <p:nvPr/>
        </p:nvSpPr>
        <p:spPr>
          <a:xfrm>
            <a:off x="10414000" y="3810000"/>
            <a:ext cx="9144" cy="1270000"/>
          </a:xfrm>
          <a:prstGeom prst="line">
            <a:avLst/>
          </a:prstGeom>
          <a:ln w="25400">
            <a:solidFill>
              <a:srgbClr val="1A237E"/>
            </a:solidFill>
            <a:prstDash val="solid"/>
            <a:tailEnd type="triangle"/>
          </a:ln>
        </p:spPr>
      </p:sp>
      <p:sp>
        <p:nvSpPr>
          <p:cNvPr id="21" name="state_machine_complete-text-20"/>
          <p:cNvSpPr/>
          <p:nvPr/>
        </p:nvSpPr>
        <p:spPr>
          <a:xfrm>
            <a:off x="10541000" y="4318000"/>
            <a:ext cx="101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1E293B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亮時間到</a:t>
            </a:r>
            <a:endParaRPr lang="en-US" sz="1400" dirty="0"/>
          </a:p>
        </p:txBody>
      </p:sp>
      <p:sp>
        <p:nvSpPr>
          <p:cNvPr id="22" name="state_machine_complete-shape-21"/>
          <p:cNvSpPr/>
          <p:nvPr/>
        </p:nvSpPr>
        <p:spPr>
          <a:xfrm flipV="1">
            <a:off x="9906000" y="3810000"/>
            <a:ext cx="9144" cy="1270000"/>
          </a:xfrm>
          <a:prstGeom prst="line">
            <a:avLst/>
          </a:prstGeom>
          <a:ln w="25400">
            <a:solidFill>
              <a:srgbClr val="1A237E"/>
            </a:solidFill>
            <a:prstDash val="solid"/>
            <a:tailEnd type="triangle"/>
          </a:ln>
        </p:spPr>
      </p:sp>
      <p:sp>
        <p:nvSpPr>
          <p:cNvPr id="23" name="state_machine_complete-text-22"/>
          <p:cNvSpPr/>
          <p:nvPr/>
        </p:nvSpPr>
        <p:spPr>
          <a:xfrm>
            <a:off x="8636000" y="4318000"/>
            <a:ext cx="1143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1E293B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滅時間到</a:t>
            </a:r>
            <a:endParaRPr lang="en-US" sz="1400" dirty="0"/>
          </a:p>
        </p:txBody>
      </p:sp>
      <p:sp>
        <p:nvSpPr>
          <p:cNvPr id="24" name="state_machine_complete-shape-23"/>
          <p:cNvSpPr/>
          <p:nvPr/>
        </p:nvSpPr>
        <p:spPr>
          <a:xfrm flipH="1">
            <a:off x="2032000" y="5715000"/>
            <a:ext cx="7112000" cy="9144"/>
          </a:xfrm>
          <a:prstGeom prst="line">
            <a:avLst/>
          </a:prstGeom>
          <a:ln w="25400">
            <a:solidFill>
              <a:srgbClr val="00897B"/>
            </a:solidFill>
            <a:prstDash val="solid"/>
          </a:ln>
        </p:spPr>
      </p:sp>
      <p:sp>
        <p:nvSpPr>
          <p:cNvPr id="25" name="state_machine_complete-shape-24"/>
          <p:cNvSpPr/>
          <p:nvPr/>
        </p:nvSpPr>
        <p:spPr>
          <a:xfrm flipV="1">
            <a:off x="2032000" y="3810000"/>
            <a:ext cx="9144" cy="1905000"/>
          </a:xfrm>
          <a:prstGeom prst="line">
            <a:avLst/>
          </a:prstGeom>
          <a:ln w="25400">
            <a:solidFill>
              <a:srgbClr val="00897B"/>
            </a:solidFill>
            <a:prstDash val="solid"/>
            <a:tailEnd type="triangle"/>
          </a:ln>
        </p:spPr>
      </p:sp>
      <p:sp>
        <p:nvSpPr>
          <p:cNvPr id="26" name="state_machine_complete-text-25"/>
          <p:cNvSpPr/>
          <p:nvPr/>
        </p:nvSpPr>
        <p:spPr>
          <a:xfrm>
            <a:off x="4064000" y="5842000"/>
            <a:ext cx="254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400" dirty="0">
                <a:solidFill>
                  <a:srgbClr val="1E293B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滿五次，結束並恢復</a:t>
            </a:r>
            <a:endParaRPr lang="en-US" sz="1400" dirty="0"/>
          </a:p>
        </p:txBody>
      </p:sp>
      <p:sp>
        <p:nvSpPr>
          <p:cNvPr id="27" name="state_machine_complete-shape-26"/>
          <p:cNvSpPr/>
          <p:nvPr/>
        </p:nvSpPr>
        <p:spPr>
          <a:xfrm>
            <a:off x="2540000" y="3810000"/>
            <a:ext cx="9144" cy="1270000"/>
          </a:xfrm>
          <a:prstGeom prst="line">
            <a:avLst/>
          </a:prstGeom>
          <a:ln w="25400">
            <a:solidFill>
              <a:srgbClr val="546E7A"/>
            </a:solidFill>
            <a:prstDash val="dash"/>
            <a:tailEnd type="triangle"/>
          </a:ln>
        </p:spPr>
      </p:sp>
      <p:sp>
        <p:nvSpPr>
          <p:cNvPr id="28" name="state_machine_complete-shape-27"/>
          <p:cNvSpPr/>
          <p:nvPr/>
        </p:nvSpPr>
        <p:spPr>
          <a:xfrm flipH="1">
            <a:off x="2540000" y="3810000"/>
            <a:ext cx="3556000" cy="1270000"/>
          </a:xfrm>
          <a:prstGeom prst="line">
            <a:avLst/>
          </a:prstGeom>
          <a:ln w="25400">
            <a:solidFill>
              <a:srgbClr val="546E7A"/>
            </a:solidFill>
            <a:prstDash val="dash"/>
            <a:tailEnd type="triangle"/>
          </a:ln>
        </p:spPr>
      </p:sp>
      <p:sp>
        <p:nvSpPr>
          <p:cNvPr id="29" name="state_machine_complete-text-28"/>
          <p:cNvSpPr/>
          <p:nvPr/>
        </p:nvSpPr>
        <p:spPr>
          <a:xfrm>
            <a:off x="2794000" y="4445000"/>
            <a:ext cx="127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546E7A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關機或取消</a:t>
            </a:r>
            <a:endParaRPr lang="en-US" sz="14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utdown_error-shape-1"/>
          <p:cNvSpPr/>
          <p:nvPr/>
        </p:nvSpPr>
        <p:spPr>
          <a:xfrm>
            <a:off x="0" y="1016000"/>
            <a:ext cx="16256000" cy="5080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3" name="shutdown_error-text-2"/>
          <p:cNvSpPr/>
          <p:nvPr/>
        </p:nvSpPr>
        <p:spPr>
          <a:xfrm>
            <a:off x="1016000" y="508000"/>
            <a:ext cx="635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546E7A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附錄</a:t>
            </a:r>
            <a:endParaRPr lang="en-US" sz="1400" dirty="0"/>
          </a:p>
        </p:txBody>
      </p:sp>
      <p:sp>
        <p:nvSpPr>
          <p:cNvPr id="4" name="shutdown_error-text-3"/>
          <p:cNvSpPr/>
          <p:nvPr/>
        </p:nvSpPr>
        <p:spPr>
          <a:xfrm>
            <a:off x="13970000" y="508000"/>
            <a:ext cx="127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546E7A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44</a:t>
            </a:r>
            <a:endParaRPr lang="en-US" sz="1400" dirty="0"/>
          </a:p>
        </p:txBody>
      </p:sp>
      <p:sp>
        <p:nvSpPr>
          <p:cNvPr id="5" name="shutdown_error-text-4"/>
          <p:cNvSpPr/>
          <p:nvPr/>
        </p:nvSpPr>
        <p:spPr>
          <a:xfrm>
            <a:off x="1016000" y="1778000"/>
            <a:ext cx="1422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1A237E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停止與錯誤：如何安全清理</a:t>
            </a:r>
            <a:endParaRPr lang="en-US" sz="3200" dirty="0"/>
          </a:p>
        </p:txBody>
      </p:sp>
      <p:sp>
        <p:nvSpPr>
          <p:cNvPr id="6" name="shutdown_error-shape-5"/>
          <p:cNvSpPr/>
          <p:nvPr/>
        </p:nvSpPr>
        <p:spPr>
          <a:xfrm>
            <a:off x="1016000" y="3048000"/>
            <a:ext cx="6858000" cy="4572000"/>
          </a:xfrm>
          <a:prstGeom prst="roundRect">
            <a:avLst>
              <a:gd name="adj" fmla="val 2222"/>
            </a:avLst>
          </a:prstGeom>
          <a:solidFill>
            <a:srgbClr val="F5F7FA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7" name="shutdown_error-text-6"/>
          <p:cNvSpPr/>
          <p:nvPr/>
        </p:nvSpPr>
        <p:spPr>
          <a:xfrm>
            <a:off x="1524000" y="3556000"/>
            <a:ext cx="584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2400" dirty="0">
                <a:solidFill>
                  <a:srgbClr val="1A237E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關機與停止</a:t>
            </a:r>
            <a:endParaRPr lang="en-US" sz="2400" dirty="0"/>
          </a:p>
        </p:txBody>
      </p:sp>
      <p:sp>
        <p:nvSpPr>
          <p:cNvPr id="8" name="shutdown_error-text-7"/>
          <p:cNvSpPr/>
          <p:nvPr/>
        </p:nvSpPr>
        <p:spPr>
          <a:xfrm>
            <a:off x="1524000" y="4318000"/>
            <a:ext cx="5842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17500" indent="-317500">
              <a:lnSpc>
                <a:spcPts val="2880"/>
              </a:lnSpc>
              <a:spcBef>
                <a:spcPts val="10"/>
              </a:spcBef>
              <a:buSzPct val="100000"/>
              <a:buChar char="✓"/>
            </a:pPr>
            <a:r>
              <a:rPr lang="en-US" altLang="en-US" sz="1800" dirty="0">
                <a:solidFill>
                  <a:srgbClr val="1E293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request_stop</a:t>
            </a:r>
            <a:r>
              <a:rPr lang="en-US" altLang="en-US" sz="2000" dirty="0">
                <a:solidFill>
                  <a:srgbClr val="1E293B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 拒絕所有新待處理。</a:t>
            </a:r>
            <a:endParaRPr lang="en-US" sz="2000" dirty="0"/>
          </a:p>
          <a:p>
            <a:pPr algn="l" marL="317500" indent="-317500">
              <a:lnSpc>
                <a:spcPts val="3200"/>
              </a:lnSpc>
              <a:spcBef>
                <a:spcPts val="10"/>
              </a:spcBef>
              <a:buSzPct val="100000"/>
              <a:buChar char="✓"/>
            </a:pPr>
            <a:r>
              <a:rPr lang="en-US" altLang="en-US" sz="2000" dirty="0">
                <a:solidFill>
                  <a:srgbClr val="1E293B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owner 進入 </a:t>
            </a:r>
            <a:r>
              <a:rPr lang="en-US" altLang="en-US" sz="1800" dirty="0">
                <a:solidFill>
                  <a:srgbClr val="1E293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finally</a:t>
            </a:r>
            <a:r>
              <a:rPr lang="en-US" altLang="en-US" sz="2000" dirty="0">
                <a:solidFill>
                  <a:srgbClr val="1E293B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。</a:t>
            </a:r>
            <a:endParaRPr lang="en-US" sz="2000" dirty="0"/>
          </a:p>
          <a:p>
            <a:pPr algn="l" marL="317500" indent="-317500">
              <a:lnSpc>
                <a:spcPts val="3200"/>
              </a:lnSpc>
              <a:spcBef>
                <a:spcPts val="10"/>
              </a:spcBef>
              <a:buSzPct val="100000"/>
              <a:buChar char="✓"/>
            </a:pPr>
            <a:r>
              <a:rPr lang="en-US" altLang="en-US" sz="2000" dirty="0">
                <a:solidFill>
                  <a:srgbClr val="1E293B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未完成效果標記為 </a:t>
            </a:r>
            <a:r>
              <a:rPr lang="en-US" altLang="en-US" sz="1800" dirty="0">
                <a:solidFill>
                  <a:srgbClr val="1E293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cancelled</a:t>
            </a:r>
            <a:r>
              <a:rPr lang="en-US" altLang="en-US" sz="2000" dirty="0">
                <a:solidFill>
                  <a:srgbClr val="1E293B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。</a:t>
            </a:r>
            <a:endParaRPr lang="en-US" sz="2000" dirty="0"/>
          </a:p>
          <a:p>
            <a:pPr algn="l" marL="317500" indent="-317500">
              <a:lnSpc>
                <a:spcPts val="3200"/>
              </a:lnSpc>
              <a:spcBef>
                <a:spcPts val="10"/>
              </a:spcBef>
              <a:buSzPct val="100000"/>
              <a:buChar char="✓"/>
            </a:pPr>
            <a:r>
              <a:rPr lang="en-US" altLang="en-US" sz="2000" dirty="0">
                <a:solidFill>
                  <a:srgbClr val="1E293B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寫入 0 安全熄燈。</a:t>
            </a:r>
            <a:endParaRPr lang="en-US" sz="2000" dirty="0"/>
          </a:p>
          <a:p>
            <a:pPr algn="l" marL="317500" indent="-317500">
              <a:lnSpc>
                <a:spcPts val="3200"/>
              </a:lnSpc>
              <a:spcBef>
                <a:spcPts val="10"/>
              </a:spcBef>
              <a:buSzPct val="100000"/>
              <a:buChar char="✓"/>
            </a:pPr>
            <a:r>
              <a:rPr lang="en-US" altLang="en-US" sz="2000" dirty="0">
                <a:solidFill>
                  <a:srgbClr val="1E293B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發出 </a:t>
            </a:r>
            <a:r>
              <a:rPr lang="en-US" altLang="en-US" sz="1800" dirty="0">
                <a:solidFill>
                  <a:srgbClr val="1E293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stopped</a:t>
            </a:r>
            <a:r>
              <a:rPr lang="en-US" altLang="en-US" sz="2000" dirty="0">
                <a:solidFill>
                  <a:srgbClr val="1E293B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 Event 通知 main。</a:t>
            </a:r>
            <a:endParaRPr lang="en-US" sz="2000" dirty="0"/>
          </a:p>
        </p:txBody>
      </p:sp>
      <p:sp>
        <p:nvSpPr>
          <p:cNvPr id="9" name="shutdown_error-shape-8"/>
          <p:cNvSpPr/>
          <p:nvPr/>
        </p:nvSpPr>
        <p:spPr>
          <a:xfrm>
            <a:off x="8382000" y="3048000"/>
            <a:ext cx="6858000" cy="45720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25400">
            <a:solidFill>
              <a:srgbClr val="FF8F00"/>
            </a:solidFill>
            <a:prstDash val="solid"/>
          </a:ln>
        </p:spPr>
      </p:sp>
      <p:sp>
        <p:nvSpPr>
          <p:cNvPr id="10" name="shutdown_error-text-9"/>
          <p:cNvSpPr/>
          <p:nvPr/>
        </p:nvSpPr>
        <p:spPr>
          <a:xfrm>
            <a:off x="8890000" y="3556000"/>
            <a:ext cx="584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2400" dirty="0">
                <a:solidFill>
                  <a:srgbClr val="1A237E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硬體 GPIO 失敗</a:t>
            </a:r>
            <a:endParaRPr lang="en-US" sz="2400" dirty="0"/>
          </a:p>
        </p:txBody>
      </p:sp>
      <p:sp>
        <p:nvSpPr>
          <p:cNvPr id="11" name="shutdown_error-text-10"/>
          <p:cNvSpPr/>
          <p:nvPr/>
        </p:nvSpPr>
        <p:spPr>
          <a:xfrm>
            <a:off x="8890000" y="4318000"/>
            <a:ext cx="5842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17500" indent="-317500">
              <a:lnSpc>
                <a:spcPts val="3200"/>
              </a:lnSpc>
              <a:spcBef>
                <a:spcPts val="10"/>
              </a:spcBef>
              <a:buSzPct val="100000"/>
              <a:buChar char="✓"/>
            </a:pPr>
            <a:r>
              <a:rPr lang="en-US" altLang="en-US" sz="2000" dirty="0">
                <a:solidFill>
                  <a:srgbClr val="1E293B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寫入失敗時標記 receipt 為 </a:t>
            </a:r>
            <a:r>
              <a:rPr lang="en-US" altLang="en-US" sz="1800" dirty="0">
                <a:solidFill>
                  <a:srgbClr val="1E293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failed</a:t>
            </a:r>
            <a:r>
              <a:rPr lang="en-US" altLang="en-US" sz="2000" dirty="0">
                <a:solidFill>
                  <a:srgbClr val="1E293B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。</a:t>
            </a:r>
            <a:endParaRPr lang="en-US" sz="2000" dirty="0"/>
          </a:p>
          <a:p>
            <a:pPr algn="l" marL="317500" indent="-317500">
              <a:lnSpc>
                <a:spcPts val="3200"/>
              </a:lnSpc>
              <a:spcBef>
                <a:spcPts val="10"/>
              </a:spcBef>
              <a:buSzPct val="100000"/>
              <a:buChar char="✓"/>
            </a:pPr>
            <a:r>
              <a:rPr lang="en-US" altLang="en-US" sz="2000" dirty="0">
                <a:solidFill>
                  <a:srgbClr val="1E293B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owner 捕捉例外並退出。</a:t>
            </a:r>
            <a:endParaRPr lang="en-US" sz="2000" dirty="0"/>
          </a:p>
          <a:p>
            <a:pPr algn="l" marL="317500" indent="-317500">
              <a:lnSpc>
                <a:spcPts val="3200"/>
              </a:lnSpc>
              <a:spcBef>
                <a:spcPts val="10"/>
              </a:spcBef>
              <a:buSzPct val="100000"/>
              <a:buChar char="✓"/>
            </a:pPr>
            <a:r>
              <a:rPr lang="en-US" altLang="en-US" sz="2000" dirty="0">
                <a:solidFill>
                  <a:srgbClr val="1E293B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若連 </a:t>
            </a:r>
            <a:r>
              <a:rPr lang="en-US" altLang="en-US" sz="1800" dirty="0">
                <a:solidFill>
                  <a:srgbClr val="1E293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finally</a:t>
            </a:r>
            <a:r>
              <a:rPr lang="en-US" altLang="en-US" sz="2000" dirty="0">
                <a:solidFill>
                  <a:srgbClr val="1E293B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 熄燈都失敗，軟體不能保證硬體安全，直接放行例外。</a:t>
            </a:r>
            <a:endParaRPr lang="en-US" sz="2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vidence_limits-shape-1"/>
          <p:cNvSpPr/>
          <p:nvPr/>
        </p:nvSpPr>
        <p:spPr>
          <a:xfrm>
            <a:off x="0" y="1016000"/>
            <a:ext cx="16256000" cy="5080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3" name="evidence_limits-text-2"/>
          <p:cNvSpPr/>
          <p:nvPr/>
        </p:nvSpPr>
        <p:spPr>
          <a:xfrm>
            <a:off x="1016000" y="508000"/>
            <a:ext cx="635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546E7A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附錄</a:t>
            </a:r>
            <a:endParaRPr lang="en-US" sz="1400" dirty="0"/>
          </a:p>
        </p:txBody>
      </p:sp>
      <p:sp>
        <p:nvSpPr>
          <p:cNvPr id="4" name="evidence_limits-text-3"/>
          <p:cNvSpPr/>
          <p:nvPr/>
        </p:nvSpPr>
        <p:spPr>
          <a:xfrm>
            <a:off x="13970000" y="508000"/>
            <a:ext cx="127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546E7A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45</a:t>
            </a:r>
            <a:endParaRPr lang="en-US" sz="1400" dirty="0"/>
          </a:p>
        </p:txBody>
      </p:sp>
      <p:sp>
        <p:nvSpPr>
          <p:cNvPr id="5" name="evidence_limits-text-4"/>
          <p:cNvSpPr/>
          <p:nvPr/>
        </p:nvSpPr>
        <p:spPr>
          <a:xfrm>
            <a:off x="1016000" y="1778000"/>
            <a:ext cx="1422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1A237E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目前證據能說什麼，不能說什麼</a:t>
            </a:r>
            <a:endParaRPr lang="en-US" sz="3200" dirty="0"/>
          </a:p>
        </p:txBody>
      </p:sp>
      <p:graphicFrame>
        <p:nvGraphicFramePr>
          <p:cNvPr id="46" name="evidence_limits-table-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16000" y="3048000"/>
          <a:ext cx="14224000" cy="4064000"/>
        </p:xfrm>
        <a:graphic>
          <a:graphicData uri="http://schemas.openxmlformats.org/drawingml/2006/table">
            <a:tbl>
              <a:tblPr/>
              <a:tblGrid>
                <a:gridCol w="7112000"/>
                <a:gridCol w="7112000"/>
              </a:tblGrid>
              <a:tr h="635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b="1" dirty="0">
                          <a:solidFill>
                            <a:srgbClr val="00897B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可以說的（已驗證）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1A2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b="1" dirty="0">
                          <a:solidFill>
                            <a:srgbClr val="FF8F00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不能說的（尚未涵蓋）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1A2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使用者回報實機操作狀況良好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A2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這就是唯一或最好的仲裁機制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1A2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桌面 fake hardware 測試涵蓋 owner、佇列、競爭與恢復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實機每次都能在 200ms 內更新、所有板型皆適用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每個狀態都有可解釋的原因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2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Microsoft YaHei" pitchFamily="34" charset="-122"/>
                          <a:cs typeface="Noto Sans TC" pitchFamily="34" charset="-120"/>
                        </a:rPr>
                        <a:t>已完成完整的長時間壓力測試與 HTTP 封包除錯</a:t>
                      </a:r>
                      <a:endParaRPr lang="en-US" sz="2000" dirty="0">
                        <a:latin typeface="Noto Sans TC" charset="0"/>
                        <a:ea typeface="Microsoft YaHei" charset="0"/>
                        <a:cs typeface="Noto Sans TC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7" name="evidence_limits-text-6"/>
          <p:cNvSpPr/>
          <p:nvPr/>
        </p:nvSpPr>
        <p:spPr>
          <a:xfrm>
            <a:off x="1016000" y="7620000"/>
            <a:ext cx="1422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2000" dirty="0">
                <a:solidFill>
                  <a:srgbClr val="1A237E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本階段目標是先建立一個「講得清楚理由」的穩固基線。</a:t>
            </a:r>
            <a:endParaRPr lang="en-US" sz="2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ass_exercise-shape-1"/>
          <p:cNvSpPr/>
          <p:nvPr/>
        </p:nvSpPr>
        <p:spPr>
          <a:xfrm>
            <a:off x="0" y="1016000"/>
            <a:ext cx="16256000" cy="5080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3" name="class_exercise-text-2"/>
          <p:cNvSpPr/>
          <p:nvPr/>
        </p:nvSpPr>
        <p:spPr>
          <a:xfrm>
            <a:off x="1016000" y="508000"/>
            <a:ext cx="635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546E7A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附錄</a:t>
            </a:r>
            <a:endParaRPr lang="en-US" sz="1400" dirty="0"/>
          </a:p>
        </p:txBody>
      </p:sp>
      <p:sp>
        <p:nvSpPr>
          <p:cNvPr id="4" name="class_exercise-text-3"/>
          <p:cNvSpPr/>
          <p:nvPr/>
        </p:nvSpPr>
        <p:spPr>
          <a:xfrm>
            <a:off x="13970000" y="508000"/>
            <a:ext cx="127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546E7A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46</a:t>
            </a:r>
            <a:endParaRPr lang="en-US" sz="1400" dirty="0"/>
          </a:p>
        </p:txBody>
      </p:sp>
      <p:sp>
        <p:nvSpPr>
          <p:cNvPr id="5" name="class_exercise-text-4"/>
          <p:cNvSpPr/>
          <p:nvPr/>
        </p:nvSpPr>
        <p:spPr>
          <a:xfrm>
            <a:off x="1016000" y="1778000"/>
            <a:ext cx="1422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1A237E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課堂演練：用紙卡推演競爭</a:t>
            </a:r>
            <a:endParaRPr lang="en-US" sz="3200" dirty="0"/>
          </a:p>
        </p:txBody>
      </p:sp>
      <p:sp>
        <p:nvSpPr>
          <p:cNvPr id="6" name="class_exercise-text-5"/>
          <p:cNvSpPr/>
          <p:nvPr/>
        </p:nvSpPr>
        <p:spPr>
          <a:xfrm>
            <a:off x="1016000" y="2667000"/>
            <a:ext cx="1422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請大家分組，用不同的紙卡代表資料，實際演練「案例 6B」。</a:t>
            </a:r>
            <a:endParaRPr lang="en-US" sz="2000" dirty="0"/>
          </a:p>
        </p:txBody>
      </p:sp>
      <p:sp>
        <p:nvSpPr>
          <p:cNvPr id="7" name="class_exercise-shape-6"/>
          <p:cNvSpPr/>
          <p:nvPr/>
        </p:nvSpPr>
        <p:spPr>
          <a:xfrm>
            <a:off x="1016000" y="3556000"/>
            <a:ext cx="2540000" cy="1524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rgbClr val="00897B"/>
            </a:solidFill>
            <a:prstDash val="solid"/>
          </a:ln>
        </p:spPr>
      </p:sp>
      <p:sp>
        <p:nvSpPr>
          <p:cNvPr id="8" name="class_exercise-text-7"/>
          <p:cNvSpPr/>
          <p:nvPr/>
        </p:nvSpPr>
        <p:spPr>
          <a:xfrm>
            <a:off x="1270000" y="4064000"/>
            <a:ext cx="203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2000" dirty="0">
                <a:solidFill>
                  <a:srgbClr val="1E293B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藍 1</a:t>
            </a:r>
            <a:endParaRPr lang="en-US" sz="2000" dirty="0"/>
          </a:p>
        </p:txBody>
      </p:sp>
      <p:sp>
        <p:nvSpPr>
          <p:cNvPr id="9" name="class_exercise-text-8"/>
          <p:cNvSpPr/>
          <p:nvPr/>
        </p:nvSpPr>
        <p:spPr>
          <a:xfrm>
            <a:off x="1270000" y="4572000"/>
            <a:ext cx="203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400" dirty="0">
                <a:solidFill>
                  <a:srgbClr val="546E7A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正常色碼卡</a:t>
            </a:r>
            <a:endParaRPr lang="en-US" sz="1400" dirty="0"/>
          </a:p>
        </p:txBody>
      </p:sp>
      <p:sp>
        <p:nvSpPr>
          <p:cNvPr id="10" name="class_exercise-shape-9"/>
          <p:cNvSpPr/>
          <p:nvPr/>
        </p:nvSpPr>
        <p:spPr>
          <a:xfrm>
            <a:off x="3810000" y="3556000"/>
            <a:ext cx="2540000" cy="1524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rgbClr val="FF8F00"/>
            </a:solidFill>
            <a:prstDash val="solid"/>
          </a:ln>
        </p:spPr>
      </p:sp>
      <p:sp>
        <p:nvSpPr>
          <p:cNvPr id="11" name="class_exercise-text-10"/>
          <p:cNvSpPr/>
          <p:nvPr/>
        </p:nvSpPr>
        <p:spPr>
          <a:xfrm>
            <a:off x="4064000" y="4064000"/>
            <a:ext cx="203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2000" dirty="0">
                <a:solidFill>
                  <a:srgbClr val="1E293B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busy: False</a:t>
            </a:r>
            <a:endParaRPr lang="en-US" sz="2000" dirty="0"/>
          </a:p>
        </p:txBody>
      </p:sp>
      <p:sp>
        <p:nvSpPr>
          <p:cNvPr id="12" name="class_exercise-text-11"/>
          <p:cNvSpPr/>
          <p:nvPr/>
        </p:nvSpPr>
        <p:spPr>
          <a:xfrm>
            <a:off x="4064000" y="4572000"/>
            <a:ext cx="203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400" dirty="0">
                <a:solidFill>
                  <a:srgbClr val="546E7A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預約狀態卡</a:t>
            </a:r>
            <a:endParaRPr lang="en-US" sz="1400" dirty="0"/>
          </a:p>
        </p:txBody>
      </p:sp>
      <p:sp>
        <p:nvSpPr>
          <p:cNvPr id="13" name="class_exercise-shape-12"/>
          <p:cNvSpPr/>
          <p:nvPr/>
        </p:nvSpPr>
        <p:spPr>
          <a:xfrm>
            <a:off x="6604000" y="3556000"/>
            <a:ext cx="2540000" cy="1524000"/>
          </a:xfrm>
          <a:prstGeom prst="roundRect">
            <a:avLst>
              <a:gd name="adj" fmla="val 6667"/>
            </a:avLst>
          </a:prstGeom>
          <a:solidFill>
            <a:srgbClr val="F5F7FA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14" name="class_exercise-text-13"/>
          <p:cNvSpPr/>
          <p:nvPr/>
        </p:nvSpPr>
        <p:spPr>
          <a:xfrm>
            <a:off x="6858000" y="4064000"/>
            <a:ext cx="203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2000" dirty="0">
                <a:solidFill>
                  <a:srgbClr val="1E293B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空</a:t>
            </a:r>
            <a:endParaRPr lang="en-US" sz="2000" dirty="0"/>
          </a:p>
        </p:txBody>
      </p:sp>
      <p:sp>
        <p:nvSpPr>
          <p:cNvPr id="15" name="class_exercise-text-14"/>
          <p:cNvSpPr/>
          <p:nvPr/>
        </p:nvSpPr>
        <p:spPr>
          <a:xfrm>
            <a:off x="6858000" y="4572000"/>
            <a:ext cx="203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400" dirty="0">
                <a:solidFill>
                  <a:srgbClr val="546E7A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Queue 區塊</a:t>
            </a:r>
            <a:endParaRPr lang="en-US" sz="1400" dirty="0"/>
          </a:p>
        </p:txBody>
      </p:sp>
      <p:sp>
        <p:nvSpPr>
          <p:cNvPr id="16" name="class_exercise-shape-15"/>
          <p:cNvSpPr/>
          <p:nvPr/>
        </p:nvSpPr>
        <p:spPr>
          <a:xfrm>
            <a:off x="9398000" y="3556000"/>
            <a:ext cx="2540000" cy="1524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rgbClr val="1A237E"/>
            </a:solidFill>
            <a:prstDash val="solid"/>
          </a:ln>
        </p:spPr>
      </p:sp>
      <p:sp>
        <p:nvSpPr>
          <p:cNvPr id="17" name="class_exercise-text-16"/>
          <p:cNvSpPr/>
          <p:nvPr/>
        </p:nvSpPr>
        <p:spPr>
          <a:xfrm>
            <a:off x="9652000" y="4064000"/>
            <a:ext cx="203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2000" dirty="0">
                <a:solidFill>
                  <a:srgbClr val="1E293B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cycle 10</a:t>
            </a:r>
            <a:endParaRPr lang="en-US" sz="2000" dirty="0"/>
          </a:p>
        </p:txBody>
      </p:sp>
      <p:sp>
        <p:nvSpPr>
          <p:cNvPr id="18" name="class_exercise-text-17"/>
          <p:cNvSpPr/>
          <p:nvPr/>
        </p:nvSpPr>
        <p:spPr>
          <a:xfrm>
            <a:off x="9652000" y="4572000"/>
            <a:ext cx="203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400" dirty="0">
                <a:solidFill>
                  <a:srgbClr val="546E7A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命令卡</a:t>
            </a:r>
            <a:endParaRPr lang="en-US" sz="1400" dirty="0"/>
          </a:p>
        </p:txBody>
      </p:sp>
      <p:sp>
        <p:nvSpPr>
          <p:cNvPr id="19" name="class_exercise-shape-18"/>
          <p:cNvSpPr/>
          <p:nvPr/>
        </p:nvSpPr>
        <p:spPr>
          <a:xfrm>
            <a:off x="12192000" y="3556000"/>
            <a:ext cx="2540000" cy="1524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rgbClr val="FF8F00"/>
            </a:solidFill>
            <a:prstDash val="solid"/>
          </a:ln>
        </p:spPr>
      </p:sp>
      <p:sp>
        <p:nvSpPr>
          <p:cNvPr id="20" name="class_exercise-text-19"/>
          <p:cNvSpPr/>
          <p:nvPr/>
        </p:nvSpPr>
        <p:spPr>
          <a:xfrm>
            <a:off x="12446000" y="4064000"/>
            <a:ext cx="203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2000" dirty="0">
                <a:solidFill>
                  <a:srgbClr val="1E293B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alert 11</a:t>
            </a:r>
            <a:endParaRPr lang="en-US" sz="2000" dirty="0"/>
          </a:p>
        </p:txBody>
      </p:sp>
      <p:sp>
        <p:nvSpPr>
          <p:cNvPr id="21" name="class_exercise-text-20"/>
          <p:cNvSpPr/>
          <p:nvPr/>
        </p:nvSpPr>
        <p:spPr>
          <a:xfrm>
            <a:off x="12446000" y="4572000"/>
            <a:ext cx="203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400" dirty="0">
                <a:solidFill>
                  <a:srgbClr val="546E7A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警示卡</a:t>
            </a:r>
            <a:endParaRPr lang="en-US" sz="1400" dirty="0"/>
          </a:p>
        </p:txBody>
      </p:sp>
      <p:sp>
        <p:nvSpPr>
          <p:cNvPr id="22" name="class_exercise-text-21"/>
          <p:cNvSpPr/>
          <p:nvPr/>
        </p:nvSpPr>
        <p:spPr>
          <a:xfrm>
            <a:off x="1016000" y="5588000"/>
            <a:ext cx="14224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17500" indent="-317500">
              <a:lnSpc>
                <a:spcPts val="3000"/>
              </a:lnSpc>
              <a:spcBef>
                <a:spcPts val="10"/>
              </a:spcBef>
              <a:buSzPct val="100000"/>
              <a:buFont typeface="+mj-lt"/>
              <a:buAutoNum type="arabicPeriod" startAt="1"/>
            </a:pP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把 </a:t>
            </a:r>
            <a:r>
              <a:rPr lang="en-US" altLang="en-US" sz="1800" dirty="0">
                <a:solidFill>
                  <a:srgbClr val="26323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cycle 10</a:t>
            </a: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 放進 Queue。</a:t>
            </a:r>
            <a:endParaRPr lang="en-US" sz="2000" dirty="0"/>
          </a:p>
          <a:p>
            <a:pPr algn="l" marL="317500" indent="-317500">
              <a:lnSpc>
                <a:spcPts val="3000"/>
              </a:lnSpc>
              <a:spcBef>
                <a:spcPts val="10"/>
              </a:spcBef>
              <a:buSzPct val="100000"/>
              <a:buFont typeface="+mj-lt"/>
              <a:buAutoNum type="arabicPeriod" startAt="2"/>
            </a:pP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把 </a:t>
            </a:r>
            <a:r>
              <a:rPr lang="en-US" altLang="en-US" sz="1800" dirty="0">
                <a:solidFill>
                  <a:srgbClr val="26323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alert 11</a:t>
            </a: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 拿進來受理，翻轉 busy 卡為 </a:t>
            </a:r>
            <a:r>
              <a:rPr lang="en-US" altLang="en-US" sz="1800" dirty="0">
                <a:solidFill>
                  <a:srgbClr val="26323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True</a:t>
            </a: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。</a:t>
            </a:r>
            <a:endParaRPr lang="en-US" sz="2000" dirty="0"/>
          </a:p>
          <a:p>
            <a:pPr algn="l" marL="317500" indent="-317500">
              <a:lnSpc>
                <a:spcPts val="3000"/>
              </a:lnSpc>
              <a:spcBef>
                <a:spcPts val="10"/>
              </a:spcBef>
              <a:buSzPct val="100000"/>
              <a:buFont typeface="+mj-lt"/>
              <a:buAutoNum type="arabicPeriod" startAt="3"/>
            </a:pPr>
            <a:r>
              <a:rPr lang="en-US" altLang="en-US" sz="2000" b="1" dirty="0">
                <a:solidFill>
                  <a:srgbClr val="FF8F00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必須立刻把 Queue 裡的 cycle 10 拿出來，翻面寫上 rejected。</a:t>
            </a:r>
            <a:endParaRPr lang="en-US" sz="2000" dirty="0"/>
          </a:p>
          <a:p>
            <a:pPr algn="l" marL="317500" indent="-317500">
              <a:lnSpc>
                <a:spcPts val="3000"/>
              </a:lnSpc>
              <a:spcBef>
                <a:spcPts val="10"/>
              </a:spcBef>
              <a:buSzPct val="100000"/>
              <a:buFont typeface="+mj-lt"/>
              <a:buAutoNum type="arabicPeriod" startAt="4"/>
            </a:pP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owner 開始執行紅閃。這時候正常色碼卡仍是「藍 1」。</a:t>
            </a:r>
            <a:endParaRPr lang="en-US" sz="2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ployment_acceptance-shape-1"/>
          <p:cNvSpPr/>
          <p:nvPr/>
        </p:nvSpPr>
        <p:spPr>
          <a:xfrm>
            <a:off x="0" y="1016000"/>
            <a:ext cx="16256000" cy="5080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3" name="deployment_acceptance-text-2"/>
          <p:cNvSpPr/>
          <p:nvPr/>
        </p:nvSpPr>
        <p:spPr>
          <a:xfrm>
            <a:off x="1016000" y="508000"/>
            <a:ext cx="635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546E7A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附錄</a:t>
            </a:r>
            <a:endParaRPr lang="en-US" sz="1400" dirty="0"/>
          </a:p>
        </p:txBody>
      </p:sp>
      <p:sp>
        <p:nvSpPr>
          <p:cNvPr id="4" name="deployment_acceptance-text-3"/>
          <p:cNvSpPr/>
          <p:nvPr/>
        </p:nvSpPr>
        <p:spPr>
          <a:xfrm>
            <a:off x="13970000" y="508000"/>
            <a:ext cx="127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546E7A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47</a:t>
            </a:r>
            <a:endParaRPr lang="en-US" sz="1400" dirty="0"/>
          </a:p>
        </p:txBody>
      </p:sp>
      <p:sp>
        <p:nvSpPr>
          <p:cNvPr id="5" name="deployment_acceptance-text-4"/>
          <p:cNvSpPr/>
          <p:nvPr/>
        </p:nvSpPr>
        <p:spPr>
          <a:xfrm>
            <a:off x="1016000" y="1778000"/>
            <a:ext cx="1422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1A237E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部署與驗收：從檔案上傳到實機檢查</a:t>
            </a:r>
            <a:endParaRPr lang="en-US" sz="3200" dirty="0"/>
          </a:p>
        </p:txBody>
      </p:sp>
      <p:sp>
        <p:nvSpPr>
          <p:cNvPr id="6" name="deployment_acceptance-shape-5"/>
          <p:cNvSpPr/>
          <p:nvPr/>
        </p:nvSpPr>
        <p:spPr>
          <a:xfrm>
            <a:off x="1016000" y="3048000"/>
            <a:ext cx="6858000" cy="4572000"/>
          </a:xfrm>
          <a:prstGeom prst="roundRect">
            <a:avLst>
              <a:gd name="adj" fmla="val 2222"/>
            </a:avLst>
          </a:prstGeom>
          <a:solidFill>
            <a:srgbClr val="F5F7FA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7" name="deployment_acceptance-text-6"/>
          <p:cNvSpPr/>
          <p:nvPr/>
        </p:nvSpPr>
        <p:spPr>
          <a:xfrm>
            <a:off x="1524000" y="3556000"/>
            <a:ext cx="584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2400" dirty="0">
                <a:solidFill>
                  <a:srgbClr val="1A237E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部署檔案與重啟</a:t>
            </a:r>
            <a:endParaRPr lang="en-US" sz="2400" dirty="0"/>
          </a:p>
        </p:txBody>
      </p:sp>
      <p:sp>
        <p:nvSpPr>
          <p:cNvPr id="8" name="deployment_acceptance-text-7"/>
          <p:cNvSpPr/>
          <p:nvPr/>
        </p:nvSpPr>
        <p:spPr>
          <a:xfrm>
            <a:off x="1524000" y="4318000"/>
            <a:ext cx="5842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17500" indent="-317500">
              <a:lnSpc>
                <a:spcPts val="3200"/>
              </a:lnSpc>
              <a:spcBef>
                <a:spcPts val="10"/>
              </a:spcBef>
              <a:buSzPct val="100000"/>
              <a:buChar char="✓"/>
            </a:pPr>
            <a:r>
              <a:rPr lang="en-US" altLang="en-US" sz="2000" dirty="0">
                <a:solidFill>
                  <a:srgbClr val="1E293B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上傳 </a:t>
            </a:r>
            <a:r>
              <a:rPr lang="en-US" altLang="en-US" sz="1800" dirty="0">
                <a:solidFill>
                  <a:srgbClr val="1E293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main.py</a:t>
            </a:r>
            <a:r>
              <a:rPr lang="en-US" altLang="en-US" sz="2000" dirty="0">
                <a:solidFill>
                  <a:srgbClr val="1E293B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、</a:t>
            </a:r>
            <a:r>
              <a:rPr lang="en-US" altLang="en-US" sz="1800" dirty="0">
                <a:solidFill>
                  <a:srgbClr val="1E293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tasks.py</a:t>
            </a:r>
            <a:r>
              <a:rPr lang="en-US" altLang="en-US" sz="2000" dirty="0">
                <a:solidFill>
                  <a:srgbClr val="1E293B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、</a:t>
            </a:r>
            <a:r>
              <a:rPr lang="en-US" altLang="en-US" sz="1800" dirty="0">
                <a:solidFill>
                  <a:srgbClr val="1E293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web_server.py</a:t>
            </a:r>
            <a:r>
              <a:rPr lang="en-US" altLang="en-US" sz="2000" dirty="0">
                <a:solidFill>
                  <a:srgbClr val="1E293B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、</a:t>
            </a:r>
            <a:r>
              <a:rPr lang="en-US" altLang="en-US" sz="1800" dirty="0">
                <a:solidFill>
                  <a:srgbClr val="1E293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index.html</a:t>
            </a:r>
            <a:r>
              <a:rPr lang="en-US" altLang="en-US" sz="2000" dirty="0">
                <a:solidFill>
                  <a:srgbClr val="1E293B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 與新增的 </a:t>
            </a:r>
            <a:r>
              <a:rPr lang="en-US" altLang="en-US" sz="1800" dirty="0">
                <a:solidFill>
                  <a:srgbClr val="1E293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services/</a:t>
            </a:r>
            <a:r>
              <a:rPr lang="en-US" altLang="en-US" sz="2000" dirty="0">
                <a:solidFill>
                  <a:srgbClr val="1E293B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 目錄。</a:t>
            </a:r>
            <a:endParaRPr lang="en-US" sz="2000" dirty="0"/>
          </a:p>
          <a:p>
            <a:pPr algn="l" marL="317500" indent="-317500">
              <a:lnSpc>
                <a:spcPts val="3200"/>
              </a:lnSpc>
              <a:spcBef>
                <a:spcPts val="10"/>
              </a:spcBef>
              <a:buSzPct val="100000"/>
              <a:buChar char="✓"/>
            </a:pPr>
            <a:r>
              <a:rPr lang="en-US" altLang="en-US" sz="2000" dirty="0">
                <a:solidFill>
                  <a:srgbClr val="1E293B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HTML 是在啟動時載入 RAM 的，所以</a:t>
            </a:r>
            <a:r>
              <a:rPr lang="en-US" altLang="en-US" sz="2000" b="1" dirty="0">
                <a:solidFill>
                  <a:srgbClr val="FF8F00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必須重啟 ESP32</a:t>
            </a:r>
            <a:r>
              <a:rPr lang="en-US" altLang="en-US" sz="2000" dirty="0">
                <a:solidFill>
                  <a:srgbClr val="1E293B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。</a:t>
            </a:r>
            <a:endParaRPr lang="en-US" sz="2000" dirty="0"/>
          </a:p>
          <a:p>
            <a:pPr algn="l" marL="317500" indent="-317500">
              <a:lnSpc>
                <a:spcPts val="3200"/>
              </a:lnSpc>
              <a:spcBef>
                <a:spcPts val="10"/>
              </a:spcBef>
              <a:buSzPct val="100000"/>
              <a:buChar char="✓"/>
            </a:pPr>
            <a:r>
              <a:rPr lang="en-US" altLang="en-US" sz="2000" dirty="0">
                <a:solidFill>
                  <a:srgbClr val="1E293B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瀏覽器必須按 </a:t>
            </a:r>
            <a:r>
              <a:rPr lang="en-US" altLang="en-US" sz="1800" dirty="0">
                <a:solidFill>
                  <a:srgbClr val="1E293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Ctrl+F5</a:t>
            </a:r>
            <a:r>
              <a:rPr lang="en-US" altLang="en-US" sz="2000" dirty="0">
                <a:solidFill>
                  <a:srgbClr val="1E293B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 強制刷新快取。</a:t>
            </a:r>
            <a:endParaRPr lang="en-US" sz="2000" dirty="0"/>
          </a:p>
        </p:txBody>
      </p:sp>
      <p:sp>
        <p:nvSpPr>
          <p:cNvPr id="9" name="deployment_acceptance-shape-8"/>
          <p:cNvSpPr/>
          <p:nvPr/>
        </p:nvSpPr>
        <p:spPr>
          <a:xfrm>
            <a:off x="8382000" y="3048000"/>
            <a:ext cx="6858000" cy="45720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25400">
            <a:solidFill>
              <a:srgbClr val="00897B"/>
            </a:solidFill>
            <a:prstDash val="solid"/>
          </a:ln>
        </p:spPr>
      </p:sp>
      <p:sp>
        <p:nvSpPr>
          <p:cNvPr id="10" name="deployment_acceptance-text-9"/>
          <p:cNvSpPr/>
          <p:nvPr/>
        </p:nvSpPr>
        <p:spPr>
          <a:xfrm>
            <a:off x="8890000" y="3556000"/>
            <a:ext cx="584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2400" dirty="0">
                <a:solidFill>
                  <a:srgbClr val="1A237E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驗收項目</a:t>
            </a:r>
            <a:endParaRPr lang="en-US" sz="2400" dirty="0"/>
          </a:p>
        </p:txBody>
      </p:sp>
      <p:sp>
        <p:nvSpPr>
          <p:cNvPr id="11" name="deployment_acceptance-text-10"/>
          <p:cNvSpPr/>
          <p:nvPr/>
        </p:nvSpPr>
        <p:spPr>
          <a:xfrm>
            <a:off x="8890000" y="4318000"/>
            <a:ext cx="5842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17500" indent="-317500">
              <a:lnSpc>
                <a:spcPts val="3200"/>
              </a:lnSpc>
              <a:spcBef>
                <a:spcPts val="10"/>
              </a:spcBef>
              <a:buSzPct val="100000"/>
              <a:buFont typeface="+mj-lt"/>
              <a:buAutoNum type="arabicPeriod" startAt="1"/>
            </a:pPr>
            <a:r>
              <a:rPr lang="en-US" altLang="en-US" sz="2000" dirty="0">
                <a:solidFill>
                  <a:srgbClr val="1E293B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實體 / Web 正常換色。</a:t>
            </a:r>
            <a:endParaRPr lang="en-US" sz="2000" dirty="0"/>
          </a:p>
          <a:p>
            <a:pPr algn="l" marL="317500" indent="-317500">
              <a:lnSpc>
                <a:spcPts val="3200"/>
              </a:lnSpc>
              <a:spcBef>
                <a:spcPts val="10"/>
              </a:spcBef>
              <a:buSzPct val="100000"/>
              <a:buFont typeface="+mj-lt"/>
              <a:buAutoNum type="arabicPeriod" startAt="2"/>
            </a:pPr>
            <a:r>
              <a:rPr lang="en-US" altLang="en-US" sz="2000" dirty="0">
                <a:solidFill>
                  <a:srgbClr val="1E293B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暗觸發完整五次並正確恢復原色。</a:t>
            </a:r>
            <a:endParaRPr lang="en-US" sz="2000" dirty="0"/>
          </a:p>
          <a:p>
            <a:pPr algn="l" marL="317500" indent="-317500">
              <a:lnSpc>
                <a:spcPts val="3200"/>
              </a:lnSpc>
              <a:spcBef>
                <a:spcPts val="10"/>
              </a:spcBef>
              <a:buSzPct val="100000"/>
              <a:buFont typeface="+mj-lt"/>
              <a:buAutoNum type="arabicPeriod" startAt="3"/>
            </a:pPr>
            <a:r>
              <a:rPr lang="en-US" altLang="en-US" sz="2000" dirty="0">
                <a:solidFill>
                  <a:srgbClr val="1E293B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紅閃中按住實體按鈕，結束後不補做。</a:t>
            </a:r>
            <a:endParaRPr lang="en-US" sz="2000" dirty="0"/>
          </a:p>
          <a:p>
            <a:pPr algn="l" marL="317500" indent="-317500">
              <a:lnSpc>
                <a:spcPts val="3200"/>
              </a:lnSpc>
              <a:spcBef>
                <a:spcPts val="10"/>
              </a:spcBef>
              <a:buSzPct val="100000"/>
              <a:buFont typeface="+mj-lt"/>
              <a:buAutoNum type="arabicPeriod" startAt="4"/>
            </a:pPr>
            <a:r>
              <a:rPr lang="en-US" altLang="en-US" sz="2000" dirty="0">
                <a:solidFill>
                  <a:srgbClr val="1E293B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光照回亮到 1100 再暗才會重播。</a:t>
            </a:r>
            <a:endParaRPr lang="en-US" sz="2000" dirty="0"/>
          </a:p>
          <a:p>
            <a:pPr algn="l" marL="317500" indent="-317500">
              <a:lnSpc>
                <a:spcPts val="3200"/>
              </a:lnSpc>
              <a:spcBef>
                <a:spcPts val="10"/>
              </a:spcBef>
              <a:buSzPct val="100000"/>
              <a:buFont typeface="+mj-lt"/>
              <a:buAutoNum type="arabicPeriod" startAt="5"/>
            </a:pPr>
            <a:r>
              <a:rPr lang="en-US" altLang="en-US" sz="2000" dirty="0">
                <a:solidFill>
                  <a:srgbClr val="1E293B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未執行的改色遇到警示，網頁顯示拒絕。</a:t>
            </a:r>
            <a:endParaRPr lang="en-US" sz="2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1A23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inal_takeaways-shape-1"/>
          <p:cNvSpPr/>
          <p:nvPr/>
        </p:nvSpPr>
        <p:spPr>
          <a:xfrm>
            <a:off x="0" y="1016000"/>
            <a:ext cx="16256000" cy="5080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3" name="final_takeaways-text-2"/>
          <p:cNvSpPr/>
          <p:nvPr/>
        </p:nvSpPr>
        <p:spPr>
          <a:xfrm>
            <a:off x="1016000" y="508000"/>
            <a:ext cx="635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546E7A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結語</a:t>
            </a:r>
            <a:endParaRPr lang="en-US" sz="1400" dirty="0"/>
          </a:p>
        </p:txBody>
      </p:sp>
      <p:sp>
        <p:nvSpPr>
          <p:cNvPr id="4" name="final_takeaways-text-3"/>
          <p:cNvSpPr/>
          <p:nvPr/>
        </p:nvSpPr>
        <p:spPr>
          <a:xfrm>
            <a:off x="13970000" y="508000"/>
            <a:ext cx="127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546E7A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48</a:t>
            </a:r>
            <a:endParaRPr lang="en-US" sz="1400" dirty="0"/>
          </a:p>
        </p:txBody>
      </p:sp>
      <p:sp>
        <p:nvSpPr>
          <p:cNvPr id="5" name="final_takeaways-text-4"/>
          <p:cNvSpPr/>
          <p:nvPr/>
        </p:nvSpPr>
        <p:spPr>
          <a:xfrm>
            <a:off x="1016000" y="1778000"/>
            <a:ext cx="1422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4000" dirty="0">
                <a:solidFill>
                  <a:srgbClr val="FFFFFF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帶走的五個核心觀念</a:t>
            </a:r>
            <a:endParaRPr lang="en-US" sz="4000" dirty="0"/>
          </a:p>
        </p:txBody>
      </p:sp>
      <p:sp>
        <p:nvSpPr>
          <p:cNvPr id="6" name="final_takeaways-shape-5"/>
          <p:cNvSpPr/>
          <p:nvPr/>
        </p:nvSpPr>
        <p:spPr>
          <a:xfrm>
            <a:off x="3048000" y="3048000"/>
            <a:ext cx="10160000" cy="45720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7" name="final_takeaways-text-6"/>
          <p:cNvSpPr/>
          <p:nvPr/>
        </p:nvSpPr>
        <p:spPr>
          <a:xfrm>
            <a:off x="3556000" y="3556000"/>
            <a:ext cx="9144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17500" indent="-317500">
              <a:lnSpc>
                <a:spcPts val="3200"/>
              </a:lnSpc>
              <a:spcBef>
                <a:spcPts val="10"/>
              </a:spcBef>
              <a:buSzPct val="100000"/>
              <a:buFont typeface="+mj-lt"/>
              <a:buAutoNum type="arabicPeriod" startAt="1"/>
            </a:pPr>
            <a:r>
              <a:rPr lang="en-US" altLang="en-US" sz="2000" b="1" dirty="0">
                <a:solidFill>
                  <a:srgbClr val="1A237E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單一擁有者</a:t>
            </a: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：多人可以報案，但只有一個人能去開燈。</a:t>
            </a:r>
            <a:endParaRPr lang="en-US" sz="2000" dirty="0"/>
          </a:p>
          <a:p>
            <a:pPr algn="l" marL="317500" indent="-317500">
              <a:lnSpc>
                <a:spcPts val="3200"/>
              </a:lnSpc>
              <a:spcBef>
                <a:spcPts val="10"/>
              </a:spcBef>
              <a:buSzPct val="100000"/>
              <a:buFont typeface="+mj-lt"/>
              <a:buAutoNum type="arabicPeriod" startAt="2"/>
            </a:pPr>
            <a:r>
              <a:rPr lang="en-US" altLang="en-US" sz="2000" b="1" dirty="0">
                <a:solidFill>
                  <a:srgbClr val="1A237E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受理 ≠ 完成</a:t>
            </a: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：拿到 202 號碼牌，還要等老闆排隊執行。</a:t>
            </a:r>
            <a:endParaRPr lang="en-US" sz="2000" dirty="0"/>
          </a:p>
          <a:p>
            <a:pPr algn="l" marL="317500" indent="-317500">
              <a:lnSpc>
                <a:spcPts val="3200"/>
              </a:lnSpc>
              <a:spcBef>
                <a:spcPts val="10"/>
              </a:spcBef>
              <a:buSzPct val="100000"/>
              <a:buFont typeface="+mj-lt"/>
              <a:buAutoNum type="arabicPeriod" startAt="3"/>
            </a:pPr>
            <a:r>
              <a:rPr lang="en-US" altLang="en-US" sz="2000" b="1" dirty="0">
                <a:solidFill>
                  <a:srgbClr val="1A237E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警示是預約的</a:t>
            </a: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：警示一受理，就立刻封鎖新的正常換色。</a:t>
            </a:r>
            <a:endParaRPr lang="en-US" sz="2000" dirty="0"/>
          </a:p>
          <a:p>
            <a:pPr algn="l" marL="317500" indent="-317500">
              <a:lnSpc>
                <a:spcPts val="3200"/>
              </a:lnSpc>
              <a:spcBef>
                <a:spcPts val="10"/>
              </a:spcBef>
              <a:buSzPct val="100000"/>
              <a:buFont typeface="+mj-lt"/>
              <a:buAutoNum type="arabicPeriod" startAt="4"/>
            </a:pPr>
            <a:r>
              <a:rPr lang="en-US" altLang="en-US" sz="2000" b="1" dirty="0">
                <a:solidFill>
                  <a:srgbClr val="1A237E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輸入有生命週期</a:t>
            </a: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：紅閃時被拒絕的按壓，不能在紅閃後偷偷復活。</a:t>
            </a:r>
            <a:endParaRPr lang="en-US" sz="2000" dirty="0"/>
          </a:p>
          <a:p>
            <a:pPr algn="l" marL="317500" indent="-317500">
              <a:lnSpc>
                <a:spcPts val="3200"/>
              </a:lnSpc>
              <a:spcBef>
                <a:spcPts val="10"/>
              </a:spcBef>
              <a:buSzPct val="100000"/>
              <a:buFont typeface="+mj-lt"/>
              <a:buAutoNum type="arabicPeriod" startAt="5"/>
            </a:pPr>
            <a:r>
              <a:rPr lang="en-US" altLang="en-US" sz="2000" b="1" dirty="0">
                <a:solidFill>
                  <a:srgbClr val="1A237E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後端才是權威</a:t>
            </a:r>
            <a:r>
              <a:rPr lang="en-US" altLang="en-US" sz="2000" dirty="0">
                <a:solidFill>
                  <a:srgbClr val="263238"/>
                </a:solidFill>
                <a:latin typeface="Noto Sans TC" pitchFamily="34" charset="0"/>
                <a:ea typeface="Microsoft YaHei" pitchFamily="34" charset="-122"/>
                <a:cs typeface="Noto Sans TC" pitchFamily="34" charset="-120"/>
              </a:rPr>
              <a:t>：網頁按鈕沒灰掉，不代表後端會答應你的改色。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48</Slides>
  <Notes>48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</vt:vector>
  </TitlesOfParts>
  <Company>Manus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多個來源控制一個三色 LED：先懂問題，再懂單一擁有者</dc:title>
  <dc:subject>多個來源控制一個三色 LED：先懂問題，再懂單一擁有者</dc:subject>
  <dc:creator>Manus</dc:creator>
  <cp:lastModifiedBy>Manus</cp:lastModifiedBy>
  <cp:revision>1</cp:revision>
  <dcterms:created xsi:type="dcterms:W3CDTF">2026-10-11T16:23:08Z</dcterms:created>
  <dcterms:modified xsi:type="dcterms:W3CDTF">2026-10-11T16:23:08Z</dcterms:modified>
</cp:coreProperties>
</file>